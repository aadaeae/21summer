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66" r:id="rId3"/>
    <p:sldId id="264" r:id="rId4"/>
    <p:sldId id="261" r:id="rId5"/>
    <p:sldId id="259" r:id="rId6"/>
    <p:sldId id="257" r:id="rId7"/>
    <p:sldId id="263" r:id="rId8"/>
    <p:sldId id="260" r:id="rId9"/>
    <p:sldId id="262" r:id="rId10"/>
    <p:sldId id="265" r:id="rId11"/>
    <p:sldId id="381" r:id="rId12"/>
    <p:sldId id="382" r:id="rId13"/>
    <p:sldId id="392" r:id="rId14"/>
    <p:sldId id="426" r:id="rId15"/>
    <p:sldId id="407" r:id="rId16"/>
    <p:sldId id="427" r:id="rId17"/>
    <p:sldId id="395" r:id="rId18"/>
    <p:sldId id="428" r:id="rId19"/>
    <p:sldId id="397" r:id="rId20"/>
    <p:sldId id="398" r:id="rId21"/>
    <p:sldId id="467" r:id="rId22"/>
    <p:sldId id="469" r:id="rId23"/>
    <p:sldId id="470" r:id="rId24"/>
    <p:sldId id="399" r:id="rId25"/>
    <p:sldId id="471" r:id="rId2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 宇辉" initials="王" lastIdx="1" clrIdx="0">
    <p:extLst>
      <p:ext uri="{19B8F6BF-5375-455C-9EA6-DF929625EA0E}">
        <p15:presenceInfo xmlns:p15="http://schemas.microsoft.com/office/powerpoint/2012/main" userId="8a9c03e59dafbdb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116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BB2422-AAF3-40CF-9777-8DE441FC8A88}"/>
              </a:ext>
            </a:extLst>
          </p:cNvPr>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2E79A1D6-A0F3-41CF-B724-A722AF1CD35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B68F1B4-9099-4661-B4AD-1F11236EDEA6}"/>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5" name="页脚占位符 4">
            <a:extLst>
              <a:ext uri="{FF2B5EF4-FFF2-40B4-BE49-F238E27FC236}">
                <a16:creationId xmlns:a16="http://schemas.microsoft.com/office/drawing/2014/main" id="{8B3CA337-86A4-4D39-BC91-5E289462DC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0C087B2-084F-42F3-AB05-1544D698D9DC}"/>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3209824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7B10B7-F14D-4EE7-B136-BC9C5DF1E94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329A8F9-7C5D-4D31-AACE-3EA6E1509BB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F86B314-737D-4A48-8ABE-EA3D1533B8C3}"/>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5" name="页脚占位符 4">
            <a:extLst>
              <a:ext uri="{FF2B5EF4-FFF2-40B4-BE49-F238E27FC236}">
                <a16:creationId xmlns:a16="http://schemas.microsoft.com/office/drawing/2014/main" id="{F936EA56-4089-4A12-B542-8BD8B4ED17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2E38CA-2AC4-4503-9835-B16130D7405E}"/>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2073858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F74EC3-1F29-441C-AB3C-AEACFAE51195}"/>
              </a:ext>
            </a:extLst>
          </p:cNvPr>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B8C1C765-3BF2-461A-861C-CF9D2643F23D}"/>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26D0D91-D1AF-41F4-B493-8C748B91DA85}"/>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5" name="页脚占位符 4">
            <a:extLst>
              <a:ext uri="{FF2B5EF4-FFF2-40B4-BE49-F238E27FC236}">
                <a16:creationId xmlns:a16="http://schemas.microsoft.com/office/drawing/2014/main" id="{54A2A17D-6426-4D97-8024-E288587058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71F0861-12F9-41C0-BEF8-69261F6215AA}"/>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48090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B77874-58EA-4E5E-997A-5F24B816D0C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56B5EEA-CE43-4A31-A9DB-6B77572FE5BD}"/>
              </a:ext>
            </a:extLst>
          </p:cNvPr>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70E1CC3-F27E-4E26-B79E-531B3737393B}"/>
              </a:ext>
            </a:extLst>
          </p:cNvPr>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D1409FB-92B5-4E0A-A8BB-70E0A5B3C612}"/>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6" name="页脚占位符 5">
            <a:extLst>
              <a:ext uri="{FF2B5EF4-FFF2-40B4-BE49-F238E27FC236}">
                <a16:creationId xmlns:a16="http://schemas.microsoft.com/office/drawing/2014/main" id="{0D2909FC-80C9-48B3-AABB-2B16BE57939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8899BA-90E0-414D-8027-C46EAC078FC0}"/>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2825822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7EBC9E-99A1-4FFA-8828-BC41B652A797}"/>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BDE0BF0-BD23-48F2-8AAB-5563F9D4099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9641CF8-59D4-4A0C-9F64-713CC5AF8C88}"/>
              </a:ext>
            </a:extLst>
          </p:cNvPr>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13385DC-C106-40E4-A327-E1665C8E49C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A971E6A-EF2C-4EAC-8109-439A4BDE7F09}"/>
              </a:ext>
            </a:extLst>
          </p:cNvPr>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FD96CB4-DB20-43F1-98B3-BD0D298B6756}"/>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8" name="页脚占位符 7">
            <a:extLst>
              <a:ext uri="{FF2B5EF4-FFF2-40B4-BE49-F238E27FC236}">
                <a16:creationId xmlns:a16="http://schemas.microsoft.com/office/drawing/2014/main" id="{73887D8C-D339-4042-8959-BD3FEB008DD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C22BD04-7E60-4DEC-8DBC-39A6BF8E0229}"/>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563181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C64B93-AD81-4F37-8780-522D9854CEB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4407C0E-5A88-4CB3-A932-DE122980BAEB}"/>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4" name="页脚占位符 3">
            <a:extLst>
              <a:ext uri="{FF2B5EF4-FFF2-40B4-BE49-F238E27FC236}">
                <a16:creationId xmlns:a16="http://schemas.microsoft.com/office/drawing/2014/main" id="{4ECBE018-823C-4203-BF0C-9D7E6E4B1E1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D54F5B6-099A-4625-9D87-63BED5690D69}"/>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153720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69ED70F-12AD-4AC6-82D8-93DEFF74EA6D}"/>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3" name="页脚占位符 2">
            <a:extLst>
              <a:ext uri="{FF2B5EF4-FFF2-40B4-BE49-F238E27FC236}">
                <a16:creationId xmlns:a16="http://schemas.microsoft.com/office/drawing/2014/main" id="{67AADF70-AF49-42A6-8D66-13652C4C51C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3D91BB8-290A-4E78-9284-FCF722007B39}"/>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2612368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10FC86-008F-44CA-A939-C835D2A9EF7D}"/>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C49FC965-C3F4-4C84-8B91-6AF49A7407A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481697C-D521-4612-A057-A22944CEE3E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E6DFE37-FF18-48CB-9C30-9A9BD3D5913F}"/>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6" name="页脚占位符 5">
            <a:extLst>
              <a:ext uri="{FF2B5EF4-FFF2-40B4-BE49-F238E27FC236}">
                <a16:creationId xmlns:a16="http://schemas.microsoft.com/office/drawing/2014/main" id="{77222A32-E180-42A0-8668-A5F6B456F40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7AA5ED5-3471-495D-B82C-B286169E26D8}"/>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3913383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6A9F5-8A63-467C-9537-E1C5D15621F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D5FE0BDC-4E36-439B-9B9C-DA1E85440E1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FE57465D-05EA-4035-82BC-F883BB46509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D86688-13F0-44D5-AEB5-99601021116D}"/>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6" name="页脚占位符 5">
            <a:extLst>
              <a:ext uri="{FF2B5EF4-FFF2-40B4-BE49-F238E27FC236}">
                <a16:creationId xmlns:a16="http://schemas.microsoft.com/office/drawing/2014/main" id="{AAC9CCFD-BEA2-4C6D-9A02-FDE8E1C7803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681EB98-729B-4DB8-B332-0A0ECE468F45}"/>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3518732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31D613-2418-4F73-85E7-A2EE230991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1A21F0F-0CE3-4654-9529-8615C249FE7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D4DED8A-BD6C-4A0C-8FD9-C8F21591F057}"/>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5" name="页脚占位符 4">
            <a:extLst>
              <a:ext uri="{FF2B5EF4-FFF2-40B4-BE49-F238E27FC236}">
                <a16:creationId xmlns:a16="http://schemas.microsoft.com/office/drawing/2014/main" id="{221DF7A5-0ADC-42CC-B948-A93818AB92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4A876A6-AEB1-49A7-BC6F-84399A59C43D}"/>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4236772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CD1D48D-C0F3-43E9-A2CB-DD26F8CFE4E8}"/>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5C3AFE-1FCC-447A-9653-581262F8DCB8}"/>
              </a:ext>
            </a:extLst>
          </p:cNvPr>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2401CF0-05F5-41C4-A2C4-8FE28E409B67}"/>
              </a:ext>
            </a:extLst>
          </p:cNvPr>
          <p:cNvSpPr>
            <a:spLocks noGrp="1"/>
          </p:cNvSpPr>
          <p:nvPr>
            <p:ph type="dt" sz="half" idx="10"/>
          </p:nvPr>
        </p:nvSpPr>
        <p:spPr/>
        <p:txBody>
          <a:bodyPr/>
          <a:lstStyle/>
          <a:p>
            <a:fld id="{86187D0D-4EC1-406E-B670-CC5B420494F8}" type="datetimeFigureOut">
              <a:rPr lang="zh-CN" altLang="en-US" smtClean="0"/>
              <a:t>2021/7/20</a:t>
            </a:fld>
            <a:endParaRPr lang="zh-CN" altLang="en-US"/>
          </a:p>
        </p:txBody>
      </p:sp>
      <p:sp>
        <p:nvSpPr>
          <p:cNvPr id="5" name="页脚占位符 4">
            <a:extLst>
              <a:ext uri="{FF2B5EF4-FFF2-40B4-BE49-F238E27FC236}">
                <a16:creationId xmlns:a16="http://schemas.microsoft.com/office/drawing/2014/main" id="{04FD4B5F-62FF-478D-BC25-BFA7B0BFAF4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7EC44F-BF87-4952-8F04-B1430AEE2958}"/>
              </a:ext>
            </a:extLst>
          </p:cNvPr>
          <p:cNvSpPr>
            <a:spLocks noGrp="1"/>
          </p:cNvSpPr>
          <p:nvPr>
            <p:ph type="sldNum" sz="quarter" idx="12"/>
          </p:nvPr>
        </p:nvSpPr>
        <p:spPr/>
        <p:txBody>
          <a:body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3624566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102" name="Rectangle 30"/>
          <p:cNvSpPr>
            <a:spLocks noChangeArrowheads="1"/>
          </p:cNvSpPr>
          <p:nvPr/>
        </p:nvSpPr>
        <p:spPr bwMode="auto">
          <a:xfrm>
            <a:off x="228600" y="228600"/>
            <a:ext cx="8686800" cy="6324600"/>
          </a:xfrm>
          <a:prstGeom prst="rect">
            <a:avLst/>
          </a:prstGeom>
          <a:noFill/>
          <a:ln w="28575">
            <a:solidFill>
              <a:schemeClr val="folHlink"/>
            </a:solidFill>
            <a:miter lim="800000"/>
            <a:headEnd/>
            <a:tailEnd/>
          </a:ln>
          <a:effectLst/>
        </p:spPr>
        <p:txBody>
          <a:bodyPr wrap="none" anchor="ctr"/>
          <a:lstStyle/>
          <a:p>
            <a:endParaRPr lang="zh-CN" altLang="en-US"/>
          </a:p>
        </p:txBody>
      </p:sp>
      <p:sp>
        <p:nvSpPr>
          <p:cNvPr id="3074" name="Rectangle 2"/>
          <p:cNvSpPr>
            <a:spLocks noGrp="1" noChangeArrowheads="1"/>
          </p:cNvSpPr>
          <p:nvPr>
            <p:ph type="ctrTitle"/>
          </p:nvPr>
        </p:nvSpPr>
        <p:spPr>
          <a:xfrm>
            <a:off x="3867150" y="2205038"/>
            <a:ext cx="4876800" cy="609600"/>
          </a:xfrm>
        </p:spPr>
        <p:txBody>
          <a:bodyPr/>
          <a:lstStyle>
            <a:lvl1pPr algn="l">
              <a:defRPr/>
            </a:lvl1pPr>
          </a:lstStyle>
          <a:p>
            <a:r>
              <a:rPr lang="zh-CN" altLang="en-US"/>
              <a:t>单击此处编辑母版标题样式</a:t>
            </a:r>
          </a:p>
        </p:txBody>
      </p:sp>
      <p:sp>
        <p:nvSpPr>
          <p:cNvPr id="3075" name="Rectangle 3"/>
          <p:cNvSpPr>
            <a:spLocks noGrp="1" noChangeArrowheads="1"/>
          </p:cNvSpPr>
          <p:nvPr>
            <p:ph type="subTitle" idx="1"/>
          </p:nvPr>
        </p:nvSpPr>
        <p:spPr>
          <a:xfrm>
            <a:off x="5349875" y="2995613"/>
            <a:ext cx="3359150" cy="381000"/>
          </a:xfrm>
        </p:spPr>
        <p:txBody>
          <a:bodyPr/>
          <a:lstStyle>
            <a:lvl1pPr marL="0" indent="0">
              <a:buFont typeface="Wingdings" pitchFamily="2" charset="2"/>
              <a:buNone/>
              <a:defRPr sz="1600" b="0">
                <a:solidFill>
                  <a:srgbClr val="000000"/>
                </a:solidFill>
              </a:defRPr>
            </a:lvl1pPr>
          </a:lstStyle>
          <a:p>
            <a:r>
              <a:rPr lang="zh-CN" altLang="en-US"/>
              <a:t>单击此处编辑母版副标题样式</a:t>
            </a:r>
          </a:p>
        </p:txBody>
      </p:sp>
      <p:sp>
        <p:nvSpPr>
          <p:cNvPr id="3076" name="Rectangle 4"/>
          <p:cNvSpPr>
            <a:spLocks noGrp="1" noChangeArrowheads="1"/>
          </p:cNvSpPr>
          <p:nvPr>
            <p:ph type="dt" sz="half" idx="2"/>
          </p:nvPr>
        </p:nvSpPr>
        <p:spPr>
          <a:xfrm>
            <a:off x="152400" y="6553200"/>
            <a:ext cx="2438400" cy="228600"/>
          </a:xfrm>
        </p:spPr>
        <p:txBody>
          <a:bodyPr/>
          <a:lstStyle>
            <a:lvl1pPr algn="l">
              <a:defRPr b="0">
                <a:solidFill>
                  <a:srgbClr val="000000"/>
                </a:solidFill>
                <a:latin typeface="Arial" charset="0"/>
              </a:defRPr>
            </a:lvl1pPr>
          </a:lstStyle>
          <a:p>
            <a:r>
              <a:rPr lang="zh-CN" altLang="en-US"/>
              <a:t>2009年春季</a:t>
            </a:r>
            <a:endParaRPr lang="en-US" altLang="zh-CN"/>
          </a:p>
        </p:txBody>
      </p:sp>
      <p:sp>
        <p:nvSpPr>
          <p:cNvPr id="3077" name="Rectangle 5"/>
          <p:cNvSpPr>
            <a:spLocks noGrp="1" noChangeArrowheads="1"/>
          </p:cNvSpPr>
          <p:nvPr>
            <p:ph type="ftr" sz="quarter" idx="3"/>
          </p:nvPr>
        </p:nvSpPr>
        <p:spPr bwMode="gray">
          <a:xfrm>
            <a:off x="3203575" y="6524625"/>
            <a:ext cx="3048000" cy="228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a:defRPr sz="1000" b="0">
                <a:solidFill>
                  <a:srgbClr val="000000"/>
                </a:solidFill>
              </a:defRPr>
            </a:lvl1pPr>
          </a:lstStyle>
          <a:p>
            <a:r>
              <a:rPr lang="zh-CN" altLang="en-US"/>
              <a:t>图算法及其在通信网络中的应用</a:t>
            </a:r>
          </a:p>
        </p:txBody>
      </p:sp>
      <p:sp>
        <p:nvSpPr>
          <p:cNvPr id="3078" name="Rectangle 6"/>
          <p:cNvSpPr>
            <a:spLocks noGrp="1" noChangeArrowheads="1"/>
          </p:cNvSpPr>
          <p:nvPr>
            <p:ph type="sldNum" sz="quarter" idx="4"/>
          </p:nvPr>
        </p:nvSpPr>
        <p:spPr>
          <a:xfrm>
            <a:off x="6477000" y="6553200"/>
            <a:ext cx="2438400" cy="228600"/>
          </a:xfrm>
        </p:spPr>
        <p:txBody>
          <a:bodyPr/>
          <a:lstStyle>
            <a:lvl1pPr algn="r">
              <a:defRPr sz="1000">
                <a:latin typeface="Arial" charset="0"/>
              </a:defRPr>
            </a:lvl1pPr>
          </a:lstStyle>
          <a:p>
            <a:fld id="{E217FFD7-D7A0-44F4-AD5A-F4C4B927C720}" type="slidenum">
              <a:rPr lang="zh-CN" altLang="en-US"/>
              <a:pPr/>
              <a:t>‹#›</a:t>
            </a:fld>
            <a:endParaRPr lang="en-US" altLang="zh-CN"/>
          </a:p>
        </p:txBody>
      </p:sp>
      <p:sp>
        <p:nvSpPr>
          <p:cNvPr id="3101" name="Line 29"/>
          <p:cNvSpPr>
            <a:spLocks noChangeShapeType="1"/>
          </p:cNvSpPr>
          <p:nvPr/>
        </p:nvSpPr>
        <p:spPr bwMode="auto">
          <a:xfrm>
            <a:off x="3708400" y="2924175"/>
            <a:ext cx="5105400" cy="0"/>
          </a:xfrm>
          <a:prstGeom prst="line">
            <a:avLst/>
          </a:prstGeom>
          <a:noFill/>
          <a:ln w="9525">
            <a:solidFill>
              <a:schemeClr val="tx1"/>
            </a:solidFill>
            <a:round/>
            <a:headEnd/>
            <a:tailEnd/>
          </a:ln>
          <a:effectLst/>
        </p:spPr>
        <p:txBody>
          <a:bodyPr/>
          <a:lstStyle/>
          <a:p>
            <a:endParaRPr lang="zh-CN" altLang="en-US"/>
          </a:p>
        </p:txBody>
      </p:sp>
      <p:pic>
        <p:nvPicPr>
          <p:cNvPr id="3107" name="Picture 35" descr="Konigsberg_bridges"/>
          <p:cNvPicPr>
            <a:picLocks noChangeAspect="1" noChangeArrowheads="1"/>
          </p:cNvPicPr>
          <p:nvPr userDrawn="1"/>
        </p:nvPicPr>
        <p:blipFill>
          <a:blip r:embed="rId2" cstate="print"/>
          <a:srcRect/>
          <a:stretch>
            <a:fillRect/>
          </a:stretch>
        </p:blipFill>
        <p:spPr bwMode="auto">
          <a:xfrm>
            <a:off x="250825" y="260350"/>
            <a:ext cx="3313113" cy="2611438"/>
          </a:xfrm>
          <a:prstGeom prst="rect">
            <a:avLst/>
          </a:prstGeom>
          <a:noFill/>
          <a:ln w="9525">
            <a:solidFill>
              <a:schemeClr val="tx1"/>
            </a:solidFill>
            <a:miter lim="800000"/>
            <a:headEnd/>
            <a:tailEnd/>
          </a:ln>
          <a:effectLst>
            <a:outerShdw dist="107763" dir="2700000" algn="ctr" rotWithShape="0">
              <a:srgbClr val="808080">
                <a:alpha val="50000"/>
              </a:srgbClr>
            </a:outerShdw>
          </a:effectLst>
        </p:spPr>
      </p:pic>
      <p:pic>
        <p:nvPicPr>
          <p:cNvPr id="3108" name="Picture 36" descr="Koenigsberg_Bridges_Variations_Graph7"/>
          <p:cNvPicPr>
            <a:picLocks noChangeAspect="1" noChangeArrowheads="1"/>
          </p:cNvPicPr>
          <p:nvPr userDrawn="1"/>
        </p:nvPicPr>
        <p:blipFill>
          <a:blip r:embed="rId3" cstate="print"/>
          <a:srcRect/>
          <a:stretch>
            <a:fillRect/>
          </a:stretch>
        </p:blipFill>
        <p:spPr bwMode="auto">
          <a:xfrm>
            <a:off x="6516688" y="3716338"/>
            <a:ext cx="2249487" cy="2663825"/>
          </a:xfrm>
          <a:prstGeom prst="rect">
            <a:avLst/>
          </a:prstGeom>
          <a:noFill/>
          <a:ln w="9525">
            <a:noFill/>
            <a:miter lim="800000"/>
            <a:headEnd/>
            <a:tailEnd/>
          </a:ln>
          <a:effectLst>
            <a:outerShdw dist="107763" dir="2700000" algn="ctr" rotWithShape="0">
              <a:srgbClr val="808080">
                <a:alpha val="50000"/>
              </a:srgbClr>
            </a:outerShdw>
          </a:effectLst>
        </p:spPr>
      </p:pic>
    </p:spTree>
    <p:extLst>
      <p:ext uri="{BB962C8B-B14F-4D97-AF65-F5344CB8AC3E}">
        <p14:creationId xmlns:p14="http://schemas.microsoft.com/office/powerpoint/2010/main" val="3940342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r>
              <a:rPr lang="en-US" altLang="zh-CN" dirty="0"/>
              <a:t>2021</a:t>
            </a:r>
            <a:r>
              <a:rPr lang="zh-CN" altLang="en-US" dirty="0"/>
              <a:t>年春季</a:t>
            </a:r>
            <a:endParaRPr lang="en-US" altLang="zh-CN" dirty="0"/>
          </a:p>
          <a:p>
            <a:r>
              <a:rPr lang="zh-CN" altLang="en-US" dirty="0"/>
              <a:t>通信网络算法思维</a:t>
            </a:r>
            <a:endParaRPr lang="en-US" altLang="zh-CN" dirty="0"/>
          </a:p>
        </p:txBody>
      </p:sp>
      <p:sp>
        <p:nvSpPr>
          <p:cNvPr id="5" name="灯片编号占位符 4"/>
          <p:cNvSpPr>
            <a:spLocks noGrp="1"/>
          </p:cNvSpPr>
          <p:nvPr>
            <p:ph type="sldNum" sz="quarter" idx="11"/>
          </p:nvPr>
        </p:nvSpPr>
        <p:spPr/>
        <p:txBody>
          <a:bodyPr/>
          <a:lstStyle>
            <a:lvl1pPr>
              <a:defRPr/>
            </a:lvl1pPr>
          </a:lstStyle>
          <a:p>
            <a:fld id="{D8E46828-1F8B-4AAC-9E7C-D32C8646EF98}" type="slidenum">
              <a:rPr lang="zh-CN" altLang="en-US"/>
              <a:pPr/>
              <a:t>‹#›</a:t>
            </a:fld>
            <a:r>
              <a:rPr lang="en-US" altLang="zh-CN" dirty="0"/>
              <a:t> /30</a:t>
            </a:r>
          </a:p>
        </p:txBody>
      </p:sp>
    </p:spTree>
    <p:extLst>
      <p:ext uri="{BB962C8B-B14F-4D97-AF65-F5344CB8AC3E}">
        <p14:creationId xmlns:p14="http://schemas.microsoft.com/office/powerpoint/2010/main" val="77135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4876800" cy="563563"/>
          </a:xfrm>
        </p:spPr>
        <p:txBody>
          <a:bodyPr/>
          <a:lstStyle/>
          <a:p>
            <a:r>
              <a:rPr lang="zh-CN" altLang="en-US"/>
              <a:t>单击此处编辑母版标题样式</a:t>
            </a:r>
          </a:p>
        </p:txBody>
      </p:sp>
      <p:sp>
        <p:nvSpPr>
          <p:cNvPr id="3" name="表格占位符 2"/>
          <p:cNvSpPr>
            <a:spLocks noGrp="1"/>
          </p:cNvSpPr>
          <p:nvPr>
            <p:ph type="tbl" idx="1"/>
          </p:nvPr>
        </p:nvSpPr>
        <p:spPr>
          <a:xfrm>
            <a:off x="468313" y="1196975"/>
            <a:ext cx="8229600" cy="5010150"/>
          </a:xfrm>
        </p:spPr>
        <p:txBody>
          <a:bodyPr/>
          <a:lstStyle/>
          <a:p>
            <a:endParaRPr lang="zh-CN" altLang="en-US"/>
          </a:p>
        </p:txBody>
      </p:sp>
      <p:sp>
        <p:nvSpPr>
          <p:cNvPr id="4" name="日期占位符 3"/>
          <p:cNvSpPr>
            <a:spLocks noGrp="1"/>
          </p:cNvSpPr>
          <p:nvPr>
            <p:ph type="dt" sz="half" idx="10"/>
          </p:nvPr>
        </p:nvSpPr>
        <p:spPr>
          <a:xfrm>
            <a:off x="6588125" y="6453188"/>
            <a:ext cx="2133600" cy="244475"/>
          </a:xfrm>
        </p:spPr>
        <p:txBody>
          <a:bodyPr/>
          <a:lstStyle>
            <a:lvl1pPr>
              <a:defRPr/>
            </a:lvl1pPr>
          </a:lstStyle>
          <a:p>
            <a:r>
              <a:rPr lang="zh-CN" altLang="en-US"/>
              <a:t>2009年春季</a:t>
            </a:r>
            <a:endParaRPr lang="en-US" altLang="zh-CN"/>
          </a:p>
          <a:p>
            <a:r>
              <a:rPr lang="zh-CN" altLang="en-US"/>
              <a:t>图算法及其在通信网络中的应用</a:t>
            </a:r>
          </a:p>
        </p:txBody>
      </p:sp>
      <p:sp>
        <p:nvSpPr>
          <p:cNvPr id="5" name="灯片编号占位符 4"/>
          <p:cNvSpPr>
            <a:spLocks noGrp="1"/>
          </p:cNvSpPr>
          <p:nvPr>
            <p:ph type="sldNum" sz="quarter" idx="11"/>
          </p:nvPr>
        </p:nvSpPr>
        <p:spPr>
          <a:xfrm>
            <a:off x="228600" y="6613525"/>
            <a:ext cx="2133600" cy="244475"/>
          </a:xfrm>
        </p:spPr>
        <p:txBody>
          <a:bodyPr/>
          <a:lstStyle>
            <a:lvl1pPr>
              <a:defRPr/>
            </a:lvl1pPr>
          </a:lstStyle>
          <a:p>
            <a:fld id="{2E948776-F30F-4951-A6A4-B0FA3AC297DC}" type="slidenum">
              <a:rPr lang="zh-CN" altLang="en-US"/>
              <a:pPr/>
              <a:t>‹#›</a:t>
            </a:fld>
            <a:r>
              <a:rPr lang="en-US" altLang="zh-CN" dirty="0"/>
              <a:t> /30</a:t>
            </a:r>
          </a:p>
        </p:txBody>
      </p:sp>
    </p:spTree>
    <p:extLst>
      <p:ext uri="{BB962C8B-B14F-4D97-AF65-F5344CB8AC3E}">
        <p14:creationId xmlns:p14="http://schemas.microsoft.com/office/powerpoint/2010/main" val="72521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14B7607-EC22-458F-A79B-85F8208F25E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FEC0BB6-B884-40CB-9D85-AD7D1318963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4967BF-D139-4973-AC0E-FF670665AE7D}"/>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6187D0D-4EC1-406E-B670-CC5B420494F8}" type="datetimeFigureOut">
              <a:rPr lang="zh-CN" altLang="en-US" smtClean="0"/>
              <a:t>2021/7/20</a:t>
            </a:fld>
            <a:endParaRPr lang="zh-CN" altLang="en-US"/>
          </a:p>
        </p:txBody>
      </p:sp>
      <p:sp>
        <p:nvSpPr>
          <p:cNvPr id="5" name="页脚占位符 4">
            <a:extLst>
              <a:ext uri="{FF2B5EF4-FFF2-40B4-BE49-F238E27FC236}">
                <a16:creationId xmlns:a16="http://schemas.microsoft.com/office/drawing/2014/main" id="{873A2246-7B26-42FA-BB2E-1391119904A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3FD2CAE-1353-4E73-A465-93696672E24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03182F5-79A4-49EF-8A86-7891478BA98A}" type="slidenum">
              <a:rPr lang="zh-CN" altLang="en-US" smtClean="0"/>
              <a:t>‹#›</a:t>
            </a:fld>
            <a:endParaRPr lang="zh-CN" altLang="en-US"/>
          </a:p>
        </p:txBody>
      </p:sp>
    </p:spTree>
    <p:extLst>
      <p:ext uri="{BB962C8B-B14F-4D97-AF65-F5344CB8AC3E}">
        <p14:creationId xmlns:p14="http://schemas.microsoft.com/office/powerpoint/2010/main" val="2244855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77" name="Rectangle 53"/>
          <p:cNvSpPr>
            <a:spLocks noChangeArrowheads="1"/>
          </p:cNvSpPr>
          <p:nvPr/>
        </p:nvSpPr>
        <p:spPr bwMode="auto">
          <a:xfrm>
            <a:off x="228600" y="457200"/>
            <a:ext cx="8686800" cy="6153150"/>
          </a:xfrm>
          <a:prstGeom prst="rect">
            <a:avLst/>
          </a:prstGeom>
          <a:noFill/>
          <a:ln w="38100">
            <a:solidFill>
              <a:schemeClr val="folHlink"/>
            </a:solidFill>
            <a:miter lim="800000"/>
            <a:headEnd/>
            <a:tailEnd/>
          </a:ln>
          <a:effectLst/>
        </p:spPr>
        <p:txBody>
          <a:bodyPr wrap="none" anchor="ctr"/>
          <a:lstStyle/>
          <a:p>
            <a:endParaRPr lang="zh-CN" altLang="en-US"/>
          </a:p>
        </p:txBody>
      </p:sp>
      <p:sp>
        <p:nvSpPr>
          <p:cNvPr id="1079" name="Rectangle 55"/>
          <p:cNvSpPr>
            <a:spLocks noChangeArrowheads="1"/>
          </p:cNvSpPr>
          <p:nvPr/>
        </p:nvSpPr>
        <p:spPr bwMode="white">
          <a:xfrm>
            <a:off x="7812088" y="6308725"/>
            <a:ext cx="922337" cy="400050"/>
          </a:xfrm>
          <a:prstGeom prst="rect">
            <a:avLst/>
          </a:prstGeom>
          <a:solidFill>
            <a:schemeClr val="bg1"/>
          </a:solidFill>
          <a:ln w="9525">
            <a:noFill/>
            <a:miter lim="800000"/>
            <a:headEnd/>
            <a:tailEnd/>
          </a:ln>
          <a:effectLst/>
        </p:spPr>
        <p:txBody>
          <a:bodyPr wrap="none" anchor="ctr"/>
          <a:lstStyle/>
          <a:p>
            <a:endParaRPr lang="zh-CN" altLang="en-US"/>
          </a:p>
        </p:txBody>
      </p:sp>
      <p:sp>
        <p:nvSpPr>
          <p:cNvPr id="1078" name="Rectangle 54"/>
          <p:cNvSpPr>
            <a:spLocks noChangeArrowheads="1"/>
          </p:cNvSpPr>
          <p:nvPr/>
        </p:nvSpPr>
        <p:spPr bwMode="white">
          <a:xfrm>
            <a:off x="609600" y="133350"/>
            <a:ext cx="5562600" cy="1085850"/>
          </a:xfrm>
          <a:prstGeom prst="rect">
            <a:avLst/>
          </a:prstGeom>
          <a:solidFill>
            <a:schemeClr val="bg1"/>
          </a:solidFill>
          <a:ln w="9525">
            <a:noFill/>
            <a:miter lim="800000"/>
            <a:headEnd/>
            <a:tailEnd/>
          </a:ln>
          <a:effectLst/>
        </p:spPr>
        <p:txBody>
          <a:bodyPr wrap="none" anchor="ctr"/>
          <a:lstStyle/>
          <a:p>
            <a:endParaRPr lang="zh-CN" altLang="en-US"/>
          </a:p>
        </p:txBody>
      </p:sp>
      <p:sp>
        <p:nvSpPr>
          <p:cNvPr id="1027" name="Rectangle 3"/>
          <p:cNvSpPr>
            <a:spLocks noGrp="1" noChangeArrowheads="1"/>
          </p:cNvSpPr>
          <p:nvPr>
            <p:ph type="body" idx="1"/>
          </p:nvPr>
        </p:nvSpPr>
        <p:spPr bwMode="gray">
          <a:xfrm>
            <a:off x="468313" y="1196975"/>
            <a:ext cx="8229600" cy="5010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gray">
          <a:xfrm>
            <a:off x="6588125" y="6453188"/>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solidFill>
                  <a:srgbClr val="5F5F5F"/>
                </a:solidFill>
                <a:latin typeface="+mn-lt"/>
              </a:defRPr>
            </a:lvl1pPr>
          </a:lstStyle>
          <a:p>
            <a:r>
              <a:rPr lang="en-US" altLang="zh-CN" dirty="0"/>
              <a:t>2021</a:t>
            </a:r>
            <a:r>
              <a:rPr lang="zh-CN" altLang="en-US" dirty="0"/>
              <a:t>年春季</a:t>
            </a:r>
            <a:endParaRPr lang="en-US" altLang="zh-CN" dirty="0"/>
          </a:p>
          <a:p>
            <a:r>
              <a:rPr lang="zh-CN" altLang="en-US" dirty="0"/>
              <a:t>通信网络算法思维</a:t>
            </a:r>
          </a:p>
        </p:txBody>
      </p:sp>
      <p:sp>
        <p:nvSpPr>
          <p:cNvPr id="1030" name="Rectangle 6"/>
          <p:cNvSpPr>
            <a:spLocks noGrp="1" noChangeArrowheads="1"/>
          </p:cNvSpPr>
          <p:nvPr>
            <p:ph type="sldNum" sz="quarter" idx="4"/>
          </p:nvPr>
        </p:nvSpPr>
        <p:spPr bwMode="gray">
          <a:xfrm>
            <a:off x="228600" y="661352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900" b="0">
                <a:solidFill>
                  <a:srgbClr val="000000"/>
                </a:solidFill>
                <a:latin typeface="+mn-lt"/>
              </a:defRPr>
            </a:lvl1pPr>
          </a:lstStyle>
          <a:p>
            <a:fld id="{D75D0630-F0F7-4C5E-A0A4-0C126016D29D}" type="slidenum">
              <a:rPr lang="zh-CN" altLang="en-US"/>
              <a:pPr/>
              <a:t>‹#›</a:t>
            </a:fld>
            <a:r>
              <a:rPr lang="en-US" altLang="zh-CN" dirty="0"/>
              <a:t> /30</a:t>
            </a:r>
          </a:p>
        </p:txBody>
      </p:sp>
      <p:sp>
        <p:nvSpPr>
          <p:cNvPr id="1026" name="Rectangle 2"/>
          <p:cNvSpPr>
            <a:spLocks noGrp="1" noChangeArrowheads="1"/>
          </p:cNvSpPr>
          <p:nvPr>
            <p:ph type="title"/>
          </p:nvPr>
        </p:nvSpPr>
        <p:spPr bwMode="gray">
          <a:xfrm>
            <a:off x="685800" y="228600"/>
            <a:ext cx="4876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1086" name="Picture 62" descr="Koenigsberg_Bridges_Variations_Graph7"/>
          <p:cNvPicPr>
            <a:picLocks noChangeAspect="1" noChangeArrowheads="1"/>
          </p:cNvPicPr>
          <p:nvPr userDrawn="1"/>
        </p:nvPicPr>
        <p:blipFill>
          <a:blip r:embed="rId5" cstate="print"/>
          <a:srcRect/>
          <a:stretch>
            <a:fillRect/>
          </a:stretch>
        </p:blipFill>
        <p:spPr bwMode="auto">
          <a:xfrm>
            <a:off x="5795963" y="115888"/>
            <a:ext cx="581025" cy="687387"/>
          </a:xfrm>
          <a:prstGeom prst="rect">
            <a:avLst/>
          </a:prstGeom>
          <a:noFill/>
          <a:ln w="9525">
            <a:noFill/>
            <a:miter lim="800000"/>
            <a:headEnd/>
            <a:tailEnd/>
          </a:ln>
          <a:effectLst>
            <a:outerShdw dist="107763" dir="2700000" algn="ctr" rotWithShape="0">
              <a:srgbClr val="808080">
                <a:alpha val="50000"/>
              </a:srgbClr>
            </a:outerShdw>
          </a:effectLst>
        </p:spPr>
      </p:pic>
    </p:spTree>
    <p:extLst>
      <p:ext uri="{BB962C8B-B14F-4D97-AF65-F5344CB8AC3E}">
        <p14:creationId xmlns:p14="http://schemas.microsoft.com/office/powerpoint/2010/main" val="2758219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p:txStyles>
    <p:titleStyle>
      <a:lvl1pPr algn="ctr" rtl="0" fontAlgn="base">
        <a:spcBef>
          <a:spcPct val="0"/>
        </a:spcBef>
        <a:spcAft>
          <a:spcPct val="0"/>
        </a:spcAft>
        <a:defRPr sz="3200" b="1">
          <a:solidFill>
            <a:srgbClr val="000000"/>
          </a:solidFill>
          <a:latin typeface="+mj-lt"/>
          <a:ea typeface="+mj-ea"/>
          <a:cs typeface="+mj-cs"/>
        </a:defRPr>
      </a:lvl1pPr>
      <a:lvl2pPr algn="ctr" rtl="0" fontAlgn="base">
        <a:spcBef>
          <a:spcPct val="0"/>
        </a:spcBef>
        <a:spcAft>
          <a:spcPct val="0"/>
        </a:spcAft>
        <a:defRPr sz="3200" b="1">
          <a:solidFill>
            <a:srgbClr val="000000"/>
          </a:solidFill>
          <a:latin typeface="Verdana" pitchFamily="34" charset="0"/>
        </a:defRPr>
      </a:lvl2pPr>
      <a:lvl3pPr algn="ctr" rtl="0" fontAlgn="base">
        <a:spcBef>
          <a:spcPct val="0"/>
        </a:spcBef>
        <a:spcAft>
          <a:spcPct val="0"/>
        </a:spcAft>
        <a:defRPr sz="3200" b="1">
          <a:solidFill>
            <a:srgbClr val="000000"/>
          </a:solidFill>
          <a:latin typeface="Verdana" pitchFamily="34" charset="0"/>
        </a:defRPr>
      </a:lvl3pPr>
      <a:lvl4pPr algn="ctr" rtl="0" fontAlgn="base">
        <a:spcBef>
          <a:spcPct val="0"/>
        </a:spcBef>
        <a:spcAft>
          <a:spcPct val="0"/>
        </a:spcAft>
        <a:defRPr sz="3200" b="1">
          <a:solidFill>
            <a:srgbClr val="000000"/>
          </a:solidFill>
          <a:latin typeface="Verdana" pitchFamily="34" charset="0"/>
        </a:defRPr>
      </a:lvl4pPr>
      <a:lvl5pPr algn="ctr" rtl="0" fontAlgn="base">
        <a:spcBef>
          <a:spcPct val="0"/>
        </a:spcBef>
        <a:spcAft>
          <a:spcPct val="0"/>
        </a:spcAft>
        <a:defRPr sz="3200" b="1">
          <a:solidFill>
            <a:srgbClr val="000000"/>
          </a:solidFill>
          <a:latin typeface="Verdana" pitchFamily="34" charset="0"/>
        </a:defRPr>
      </a:lvl5pPr>
      <a:lvl6pPr marL="457200" algn="ctr" rtl="0" fontAlgn="base">
        <a:spcBef>
          <a:spcPct val="0"/>
        </a:spcBef>
        <a:spcAft>
          <a:spcPct val="0"/>
        </a:spcAft>
        <a:defRPr sz="3200" b="1">
          <a:solidFill>
            <a:srgbClr val="000000"/>
          </a:solidFill>
          <a:latin typeface="Verdana" pitchFamily="34" charset="0"/>
        </a:defRPr>
      </a:lvl6pPr>
      <a:lvl7pPr marL="914400" algn="ctr" rtl="0" fontAlgn="base">
        <a:spcBef>
          <a:spcPct val="0"/>
        </a:spcBef>
        <a:spcAft>
          <a:spcPct val="0"/>
        </a:spcAft>
        <a:defRPr sz="3200" b="1">
          <a:solidFill>
            <a:srgbClr val="000000"/>
          </a:solidFill>
          <a:latin typeface="Verdana" pitchFamily="34" charset="0"/>
        </a:defRPr>
      </a:lvl7pPr>
      <a:lvl8pPr marL="1371600" algn="ctr" rtl="0" fontAlgn="base">
        <a:spcBef>
          <a:spcPct val="0"/>
        </a:spcBef>
        <a:spcAft>
          <a:spcPct val="0"/>
        </a:spcAft>
        <a:defRPr sz="3200" b="1">
          <a:solidFill>
            <a:srgbClr val="000000"/>
          </a:solidFill>
          <a:latin typeface="Verdana" pitchFamily="34" charset="0"/>
        </a:defRPr>
      </a:lvl8pPr>
      <a:lvl9pPr marL="1828800" algn="ctr" rtl="0" fontAlgn="base">
        <a:spcBef>
          <a:spcPct val="0"/>
        </a:spcBef>
        <a:spcAft>
          <a:spcPct val="0"/>
        </a:spcAft>
        <a:defRPr sz="3200" b="1">
          <a:solidFill>
            <a:srgbClr val="000000"/>
          </a:solidFill>
          <a:latin typeface="Verdana" pitchFamily="34" charset="0"/>
        </a:defRPr>
      </a:lvl9pPr>
    </p:titleStyle>
    <p:bodyStyle>
      <a:lvl1pPr marL="342900" indent="-342900" algn="l" rtl="0" fontAlgn="base">
        <a:spcBef>
          <a:spcPct val="20000"/>
        </a:spcBef>
        <a:spcAft>
          <a:spcPct val="0"/>
        </a:spcAft>
        <a:buClr>
          <a:schemeClr val="hlink"/>
        </a:buClr>
        <a:buFont typeface="Wingdings" pitchFamily="2" charset="2"/>
        <a:buChar char="v"/>
        <a:defRPr sz="2400" b="1">
          <a:solidFill>
            <a:schemeClr val="hlink"/>
          </a:solidFill>
          <a:latin typeface="+mn-lt"/>
          <a:ea typeface="+mn-ea"/>
          <a:cs typeface="+mn-cs"/>
        </a:defRPr>
      </a:lvl1pPr>
      <a:lvl2pPr marL="742950" indent="-285750" algn="l" rtl="0" fontAlgn="base">
        <a:spcBef>
          <a:spcPct val="20000"/>
        </a:spcBef>
        <a:spcAft>
          <a:spcPct val="0"/>
        </a:spcAft>
        <a:buClr>
          <a:schemeClr val="accent1"/>
        </a:buClr>
        <a:buFont typeface="Wingdings" pitchFamily="2" charset="2"/>
        <a:buChar char="§"/>
        <a:defRPr sz="2200">
          <a:solidFill>
            <a:schemeClr val="tx1"/>
          </a:solidFill>
          <a:latin typeface="Arial" charset="0"/>
        </a:defRPr>
      </a:lvl2pPr>
      <a:lvl3pPr marL="1143000" indent="-228600" algn="l" rtl="0" fontAlgn="base">
        <a:spcBef>
          <a:spcPct val="20000"/>
        </a:spcBef>
        <a:spcAft>
          <a:spcPct val="0"/>
        </a:spcAft>
        <a:buClr>
          <a:schemeClr val="tx1"/>
        </a:buClr>
        <a:buChar char="•"/>
        <a:defRPr sz="2000">
          <a:solidFill>
            <a:schemeClr val="tx1"/>
          </a:solidFill>
          <a:latin typeface="Arial" charset="0"/>
        </a:defRPr>
      </a:lvl3pPr>
      <a:lvl4pPr marL="1600200" indent="-228600" algn="l" rtl="0" fontAlgn="base">
        <a:spcBef>
          <a:spcPct val="20000"/>
        </a:spcBef>
        <a:spcAft>
          <a:spcPct val="0"/>
        </a:spcAft>
        <a:buChar char="–"/>
        <a:defRPr sz="1600">
          <a:solidFill>
            <a:schemeClr val="tx1"/>
          </a:solidFill>
          <a:latin typeface="Arial" charset="0"/>
        </a:defRPr>
      </a:lvl4pPr>
      <a:lvl5pPr marL="2057400" indent="-228600" algn="l" rtl="0" fontAlgn="base">
        <a:spcBef>
          <a:spcPct val="20000"/>
        </a:spcBef>
        <a:spcAft>
          <a:spcPct val="0"/>
        </a:spcAft>
        <a:buChar char="»"/>
        <a:defRPr sz="1600">
          <a:solidFill>
            <a:schemeClr val="tx1"/>
          </a:solidFill>
          <a:latin typeface="Arial" charset="0"/>
        </a:defRPr>
      </a:lvl5pPr>
      <a:lvl6pPr marL="2514600" indent="-228600" algn="l" rtl="0" fontAlgn="base">
        <a:spcBef>
          <a:spcPct val="20000"/>
        </a:spcBef>
        <a:spcAft>
          <a:spcPct val="0"/>
        </a:spcAft>
        <a:buChar char="»"/>
        <a:defRPr sz="1600">
          <a:solidFill>
            <a:schemeClr val="tx1"/>
          </a:solidFill>
          <a:latin typeface="Arial" charset="0"/>
        </a:defRPr>
      </a:lvl6pPr>
      <a:lvl7pPr marL="2971800" indent="-228600" algn="l" rtl="0" fontAlgn="base">
        <a:spcBef>
          <a:spcPct val="20000"/>
        </a:spcBef>
        <a:spcAft>
          <a:spcPct val="0"/>
        </a:spcAft>
        <a:buChar char="»"/>
        <a:defRPr sz="1600">
          <a:solidFill>
            <a:schemeClr val="tx1"/>
          </a:solidFill>
          <a:latin typeface="Arial" charset="0"/>
        </a:defRPr>
      </a:lvl7pPr>
      <a:lvl8pPr marL="3429000" indent="-228600" algn="l" rtl="0" fontAlgn="base">
        <a:spcBef>
          <a:spcPct val="20000"/>
        </a:spcBef>
        <a:spcAft>
          <a:spcPct val="0"/>
        </a:spcAft>
        <a:buChar char="»"/>
        <a:defRPr sz="1600">
          <a:solidFill>
            <a:schemeClr val="tx1"/>
          </a:solidFill>
          <a:latin typeface="Arial" charset="0"/>
        </a:defRPr>
      </a:lvl8pPr>
      <a:lvl9pPr marL="3886200" indent="-228600" algn="l" rtl="0" fontAlgn="base">
        <a:spcBef>
          <a:spcPct val="20000"/>
        </a:spcBef>
        <a:spcAft>
          <a:spcPct val="0"/>
        </a:spcAft>
        <a:buChar char="»"/>
        <a:defRPr sz="1600">
          <a:solidFill>
            <a:schemeClr val="tx1"/>
          </a:solidFill>
          <a:latin typeface="Arial"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tmp"/><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2.webp"/><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91.png"/><Relationship Id="rId2"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70.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Layout" Target="../slideLayouts/slideLayout13.xml"/><Relationship Id="rId5" Type="http://schemas.openxmlformats.org/officeDocument/2006/relationships/image" Target="../media/image190.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0.png"/><Relationship Id="rId7" Type="http://schemas.openxmlformats.org/officeDocument/2006/relationships/image" Target="../media/image120.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90.png"/></Relationships>
</file>

<file path=ppt/slides/_rels/slide2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image" Target="../media/image240.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80.png"/><Relationship Id="rId7" Type="http://schemas.openxmlformats.org/officeDocument/2006/relationships/image" Target="../media/image32.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CF5EEC-807C-4565-A502-1DB1915D5EE7}"/>
              </a:ext>
            </a:extLst>
          </p:cNvPr>
          <p:cNvSpPr>
            <a:spLocks noGrp="1"/>
          </p:cNvSpPr>
          <p:nvPr>
            <p:ph type="ctrTitle"/>
          </p:nvPr>
        </p:nvSpPr>
        <p:spPr/>
        <p:txBody>
          <a:bodyPr/>
          <a:lstStyle/>
          <a:p>
            <a:r>
              <a:rPr lang="en-US" altLang="zh-CN" dirty="0"/>
              <a:t>        NP</a:t>
            </a:r>
            <a:r>
              <a:rPr lang="zh-CN" altLang="en-US" dirty="0"/>
              <a:t>问题</a:t>
            </a:r>
          </a:p>
        </p:txBody>
      </p:sp>
    </p:spTree>
    <p:extLst>
      <p:ext uri="{BB962C8B-B14F-4D97-AF65-F5344CB8AC3E}">
        <p14:creationId xmlns:p14="http://schemas.microsoft.com/office/powerpoint/2010/main" val="4043546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DC45190-9A9E-4E52-877F-FAC4711DC5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9548" y="1026932"/>
            <a:ext cx="3665612" cy="2212943"/>
          </a:xfrm>
          <a:prstGeom prst="rect">
            <a:avLst/>
          </a:prstGeom>
        </p:spPr>
      </p:pic>
      <p:pic>
        <p:nvPicPr>
          <p:cNvPr id="5" name="图片 4">
            <a:extLst>
              <a:ext uri="{FF2B5EF4-FFF2-40B4-BE49-F238E27FC236}">
                <a16:creationId xmlns:a16="http://schemas.microsoft.com/office/drawing/2014/main" id="{17B40814-D94B-4748-9CF0-C761B9803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9548" y="3338968"/>
            <a:ext cx="2381728" cy="2492101"/>
          </a:xfrm>
          <a:prstGeom prst="rect">
            <a:avLst/>
          </a:prstGeom>
        </p:spPr>
      </p:pic>
      <p:sp>
        <p:nvSpPr>
          <p:cNvPr id="6" name="文本框 5">
            <a:extLst>
              <a:ext uri="{FF2B5EF4-FFF2-40B4-BE49-F238E27FC236}">
                <a16:creationId xmlns:a16="http://schemas.microsoft.com/office/drawing/2014/main" id="{AA40224E-60E0-4744-B273-501D1E9E6499}"/>
              </a:ext>
            </a:extLst>
          </p:cNvPr>
          <p:cNvSpPr txBox="1"/>
          <p:nvPr/>
        </p:nvSpPr>
        <p:spPr>
          <a:xfrm>
            <a:off x="657520" y="1408414"/>
            <a:ext cx="3839066" cy="1323439"/>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292929"/>
                </a:solidFill>
                <a:effectLst/>
                <a:uLnTx/>
                <a:uFillTx/>
                <a:latin typeface="Arial" charset="0"/>
                <a:ea typeface="宋体" charset="-122"/>
                <a:cs typeface="+mn-cs"/>
              </a:rPr>
              <a:t>邱奇</a:t>
            </a:r>
            <a:r>
              <a:rPr kumimoji="0" lang="en-US" altLang="zh-CN" sz="1600" b="1" i="0" u="none" strike="noStrike" kern="1200" cap="none" spc="0" normalizeH="0" baseline="0" noProof="0" dirty="0">
                <a:ln>
                  <a:noFill/>
                </a:ln>
                <a:solidFill>
                  <a:srgbClr val="292929"/>
                </a:solidFill>
                <a:effectLst/>
                <a:uLnTx/>
                <a:uFillTx/>
                <a:latin typeface="Arial" charset="0"/>
                <a:ea typeface="宋体" charset="-122"/>
                <a:cs typeface="+mn-cs"/>
              </a:rPr>
              <a:t>-</a:t>
            </a:r>
            <a:r>
              <a:rPr kumimoji="0" lang="zh-CN" altLang="en-US" sz="1600" b="1" i="0" u="none" strike="noStrike" kern="1200" cap="none" spc="0" normalizeH="0" baseline="0" noProof="0" dirty="0">
                <a:ln>
                  <a:noFill/>
                </a:ln>
                <a:solidFill>
                  <a:srgbClr val="292929"/>
                </a:solidFill>
                <a:effectLst/>
                <a:uLnTx/>
                <a:uFillTx/>
                <a:latin typeface="Arial" charset="0"/>
                <a:ea typeface="宋体" charset="-122"/>
                <a:cs typeface="+mn-cs"/>
              </a:rPr>
              <a:t>图灵论题</a:t>
            </a:r>
            <a:r>
              <a:rPr kumimoji="0" lang="en-US" altLang="zh-CN" sz="1600" b="1" i="1" u="none" strike="noStrike" kern="1200" cap="none" spc="0" normalizeH="0" baseline="0" noProof="0" dirty="0">
                <a:ln>
                  <a:noFill/>
                </a:ln>
                <a:solidFill>
                  <a:srgbClr val="121212"/>
                </a:solidFill>
                <a:effectLst/>
                <a:uLnTx/>
                <a:uFillTx/>
                <a:latin typeface="-apple-system"/>
                <a:ea typeface="宋体" charset="-122"/>
                <a:cs typeface="+mn-cs"/>
              </a:rPr>
              <a:t>church-</a:t>
            </a:r>
            <a:r>
              <a:rPr kumimoji="0" lang="en-US" altLang="zh-CN" sz="1600" b="1" i="1" u="none" strike="noStrike" kern="1200" cap="none" spc="0" normalizeH="0" baseline="0" noProof="0" dirty="0" err="1">
                <a:ln>
                  <a:noFill/>
                </a:ln>
                <a:solidFill>
                  <a:srgbClr val="121212"/>
                </a:solidFill>
                <a:effectLst/>
                <a:uLnTx/>
                <a:uFillTx/>
                <a:latin typeface="-apple-system"/>
                <a:ea typeface="宋体" charset="-122"/>
                <a:cs typeface="+mn-cs"/>
              </a:rPr>
              <a:t>turing</a:t>
            </a:r>
            <a:r>
              <a:rPr kumimoji="0" lang="en-US" altLang="zh-CN" sz="1600" b="1" i="1" u="none" strike="noStrike" kern="1200" cap="none" spc="0" normalizeH="0" baseline="0" noProof="0" dirty="0">
                <a:ln>
                  <a:noFill/>
                </a:ln>
                <a:solidFill>
                  <a:srgbClr val="121212"/>
                </a:solidFill>
                <a:effectLst/>
                <a:uLnTx/>
                <a:uFillTx/>
                <a:latin typeface="-apple-system"/>
                <a:ea typeface="宋体" charset="-122"/>
                <a:cs typeface="+mn-cs"/>
              </a:rPr>
              <a:t> Thesis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  所有计算或算法都可以由一台图灵机来执行。由于现代计算机基于图灵机的计算模型，因此以任何常规编程语言编写的计算机程序都可以翻译成一台图灵机。</a:t>
            </a:r>
            <a:endParaRPr kumimoji="0" lang="zh-CN" altLang="en-US" sz="1600" b="1" i="0" u="none" strike="noStrike" kern="1200" cap="none" spc="0" normalizeH="0" baseline="0" noProof="0" dirty="0">
              <a:ln>
                <a:noFill/>
              </a:ln>
              <a:solidFill>
                <a:srgbClr val="292929"/>
              </a:solidFill>
              <a:effectLst/>
              <a:uLnTx/>
              <a:uFillTx/>
              <a:latin typeface="Arial" charset="0"/>
              <a:ea typeface="宋体" charset="-122"/>
              <a:cs typeface="+mn-cs"/>
            </a:endParaRPr>
          </a:p>
        </p:txBody>
      </p:sp>
      <p:sp>
        <p:nvSpPr>
          <p:cNvPr id="7" name="文本框 6">
            <a:extLst>
              <a:ext uri="{FF2B5EF4-FFF2-40B4-BE49-F238E27FC236}">
                <a16:creationId xmlns:a16="http://schemas.microsoft.com/office/drawing/2014/main" id="{EE8C30EA-2A36-4BC8-81AC-55042EF34673}"/>
              </a:ext>
            </a:extLst>
          </p:cNvPr>
          <p:cNvSpPr txBox="1"/>
          <p:nvPr/>
        </p:nvSpPr>
        <p:spPr>
          <a:xfrm>
            <a:off x="487174" y="4955801"/>
            <a:ext cx="4642028" cy="338554"/>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292929"/>
                </a:solidFill>
                <a:effectLst/>
                <a:uLnTx/>
                <a:uFillTx/>
                <a:latin typeface="Arial" charset="0"/>
                <a:ea typeface="宋体" charset="-122"/>
                <a:cs typeface="+mn-cs"/>
              </a:rPr>
              <a:t>图灵通过图灵机模型定义了算法的可计算性问题</a:t>
            </a:r>
            <a:r>
              <a:rPr kumimoji="0" lang="zh-CN" altLang="en-US" sz="1050" b="1" i="0" u="none" strike="noStrike" kern="1200" cap="none" spc="0" normalizeH="0" baseline="0" noProof="0" dirty="0">
                <a:ln>
                  <a:noFill/>
                </a:ln>
                <a:solidFill>
                  <a:srgbClr val="292929"/>
                </a:solidFill>
                <a:effectLst/>
                <a:uLnTx/>
                <a:uFillTx/>
                <a:latin typeface="Arial" charset="0"/>
                <a:ea typeface="宋体" charset="-122"/>
                <a:cs typeface="+mn-cs"/>
              </a:rPr>
              <a:t>。</a:t>
            </a:r>
          </a:p>
        </p:txBody>
      </p:sp>
      <p:sp>
        <p:nvSpPr>
          <p:cNvPr id="9" name="文本框 8">
            <a:extLst>
              <a:ext uri="{FF2B5EF4-FFF2-40B4-BE49-F238E27FC236}">
                <a16:creationId xmlns:a16="http://schemas.microsoft.com/office/drawing/2014/main" id="{E51FFCCA-0E06-46EC-910B-2BA9C1F19120}"/>
              </a:ext>
            </a:extLst>
          </p:cNvPr>
          <p:cNvSpPr txBox="1"/>
          <p:nvPr/>
        </p:nvSpPr>
        <p:spPr>
          <a:xfrm>
            <a:off x="718309" y="3386713"/>
            <a:ext cx="4240547" cy="132343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292929"/>
                </a:solidFill>
                <a:effectLst/>
                <a:uLnTx/>
                <a:uFillTx/>
                <a:latin typeface="Arial" charset="0"/>
                <a:ea typeface="宋体" charset="-122"/>
                <a:cs typeface="+mn-cs"/>
              </a:rPr>
              <a:t>图灵机：图灵机有一条无限长度的纸带，纸带被分成一个个小方格，机器具有一个读写头和控制程序。在每次计算中，纸带可以被左移或右移，读写头对纸带上</a:t>
            </a:r>
            <a:r>
              <a:rPr kumimoji="0" lang="en-US" altLang="zh-CN" sz="1600" b="1" i="0" u="none" strike="noStrike" kern="1200" cap="none" spc="0" normalizeH="0" baseline="0" noProof="0" dirty="0">
                <a:ln>
                  <a:noFill/>
                </a:ln>
                <a:solidFill>
                  <a:srgbClr val="292929"/>
                </a:solidFill>
                <a:effectLst/>
                <a:uLnTx/>
                <a:uFillTx/>
                <a:latin typeface="Arial" charset="0"/>
                <a:ea typeface="宋体" charset="-122"/>
                <a:cs typeface="+mn-cs"/>
              </a:rPr>
              <a:t>0</a:t>
            </a:r>
            <a:r>
              <a:rPr kumimoji="0" lang="zh-CN" altLang="en-US" sz="1600" b="1" i="0" u="none" strike="noStrike" kern="1200" cap="none" spc="0" normalizeH="0" baseline="0" noProof="0" dirty="0">
                <a:ln>
                  <a:noFill/>
                </a:ln>
                <a:solidFill>
                  <a:srgbClr val="292929"/>
                </a:solidFill>
                <a:effectLst/>
                <a:uLnTx/>
                <a:uFillTx/>
                <a:latin typeface="Arial" charset="0"/>
                <a:ea typeface="宋体" charset="-122"/>
                <a:cs typeface="+mn-cs"/>
              </a:rPr>
              <a:t>或</a:t>
            </a:r>
            <a:r>
              <a:rPr kumimoji="0" lang="en-US" altLang="zh-CN" sz="1600" b="1" i="0" u="none" strike="noStrike" kern="1200" cap="none" spc="0" normalizeH="0" baseline="0" noProof="0" dirty="0">
                <a:ln>
                  <a:noFill/>
                </a:ln>
                <a:solidFill>
                  <a:srgbClr val="292929"/>
                </a:solidFill>
                <a:effectLst/>
                <a:uLnTx/>
                <a:uFillTx/>
                <a:latin typeface="Arial" charset="0"/>
                <a:ea typeface="宋体" charset="-122"/>
                <a:cs typeface="+mn-cs"/>
              </a:rPr>
              <a:t>1</a:t>
            </a:r>
            <a:r>
              <a:rPr kumimoji="0" lang="zh-CN" altLang="en-US" sz="1600" b="1" i="0" u="none" strike="noStrike" kern="1200" cap="none" spc="0" normalizeH="0" baseline="0" noProof="0" dirty="0">
                <a:ln>
                  <a:noFill/>
                </a:ln>
                <a:solidFill>
                  <a:srgbClr val="292929"/>
                </a:solidFill>
                <a:effectLst/>
                <a:uLnTx/>
                <a:uFillTx/>
                <a:latin typeface="Arial" charset="0"/>
                <a:ea typeface="宋体" charset="-122"/>
                <a:cs typeface="+mn-cs"/>
              </a:rPr>
              <a:t>进行读写，直到停机完成程序。</a:t>
            </a:r>
          </a:p>
        </p:txBody>
      </p:sp>
      <p:sp>
        <p:nvSpPr>
          <p:cNvPr id="10" name="标题 1">
            <a:extLst>
              <a:ext uri="{FF2B5EF4-FFF2-40B4-BE49-F238E27FC236}">
                <a16:creationId xmlns:a16="http://schemas.microsoft.com/office/drawing/2014/main" id="{D91D03C4-3D4C-4895-A221-00BBDAD3631A}"/>
              </a:ext>
            </a:extLst>
          </p:cNvPr>
          <p:cNvSpPr>
            <a:spLocks noGrp="1"/>
          </p:cNvSpPr>
          <p:nvPr>
            <p:ph type="title"/>
          </p:nvPr>
        </p:nvSpPr>
        <p:spPr>
          <a:xfrm>
            <a:off x="685800" y="228600"/>
            <a:ext cx="4876800" cy="563563"/>
          </a:xfrm>
        </p:spPr>
        <p:txBody>
          <a:bodyPr/>
          <a:lstStyle/>
          <a:p>
            <a:r>
              <a:rPr kumimoji="1" lang="zh-CN" altLang="en-US" dirty="0"/>
              <a:t>可计算性问题</a:t>
            </a:r>
          </a:p>
        </p:txBody>
      </p:sp>
    </p:spTree>
    <p:extLst>
      <p:ext uri="{BB962C8B-B14F-4D97-AF65-F5344CB8AC3E}">
        <p14:creationId xmlns:p14="http://schemas.microsoft.com/office/powerpoint/2010/main" val="3417408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21AFB28-3D46-4A27-B1A5-89FBF885C3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67944" y="1391556"/>
            <a:ext cx="4412399" cy="2997179"/>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3FA0332-6BB7-4BB3-85BF-97E8FFAFD6EA}"/>
                  </a:ext>
                </a:extLst>
              </p:cNvPr>
              <p:cNvSpPr txBox="1"/>
              <p:nvPr/>
            </p:nvSpPr>
            <p:spPr>
              <a:xfrm>
                <a:off x="523188" y="1960186"/>
                <a:ext cx="3103776" cy="108645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P</a:t>
                </a:r>
                <a:r>
                  <a:rPr kumimoji="0" lang="zh-CN" altLang="en-US"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类问题</a:t>
                </a:r>
                <a:r>
                  <a:rPr kumimoji="0" lang="en-US" altLang="zh-CN"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(Polynomial problem)</a:t>
                </a:r>
                <a:r>
                  <a:rPr kumimoji="0" lang="zh-CN" altLang="en-US"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endParaRPr kumimoji="0" lang="en-US" altLang="zh-CN"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指可以被在</a:t>
                </a:r>
                <a14:m>
                  <m:oMath xmlns:m="http://schemas.openxmlformats.org/officeDocument/2006/math">
                    <m:r>
                      <m:rPr>
                        <m:sty m:val="p"/>
                      </m:rP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O</m:t>
                    </m:r>
                    <m: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m:t>
                    </m:r>
                    <m:sSup>
                      <m:sSupPr>
                        <m:ctrlPr>
                          <a:rPr kumimoji="0" lang="en-US" altLang="zh-CN" sz="1600" b="0" i="1" u="none" strike="noStrike" kern="1200" cap="none" spc="0" normalizeH="0" baseline="0" noProof="0">
                            <a:ln>
                              <a:noFill/>
                            </a:ln>
                            <a:solidFill>
                              <a:srgbClr val="333333"/>
                            </a:solidFill>
                            <a:effectLst/>
                            <a:uLnTx/>
                            <a:uFillTx/>
                            <a:latin typeface="Cambria Math" panose="02040503050406030204" pitchFamily="18" charset="0"/>
                            <a:cs typeface="+mn-cs"/>
                          </a:rPr>
                        </m:ctrlPr>
                      </m:sSupPr>
                      <m:e>
                        <m:r>
                          <m:rPr>
                            <m:sty m:val="p"/>
                          </m:rP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n</m:t>
                        </m:r>
                      </m:e>
                      <m:sup>
                        <m:r>
                          <m:rPr>
                            <m:sty m:val="p"/>
                          </m:rP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k</m:t>
                        </m:r>
                      </m:sup>
                    </m:sSup>
                    <m: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m:t>
                    </m:r>
                    <m:r>
                      <a:rPr kumimoji="0" lang="zh-CN" altLang="en-US" sz="1600" b="0" i="0" u="none" strike="noStrike" kern="1200" cap="none" spc="0" normalizeH="0" baseline="0" noProof="0">
                        <a:ln>
                          <a:noFill/>
                        </a:ln>
                        <a:solidFill>
                          <a:srgbClr val="333333"/>
                        </a:solidFill>
                        <a:effectLst/>
                        <a:uLnTx/>
                        <a:uFillTx/>
                        <a:latin typeface="Cambria Math" panose="02040503050406030204" pitchFamily="18" charset="0"/>
                        <a:cs typeface="+mn-cs"/>
                      </a:rPr>
                      <m:t>时间代价</m:t>
                    </m:r>
                  </m:oMath>
                </a14:m>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内的算法求解的问题，譬如排序问题，查找问题。</a:t>
                </a:r>
              </a:p>
            </p:txBody>
          </p:sp>
        </mc:Choice>
        <mc:Fallback xmlns="">
          <p:sp>
            <p:nvSpPr>
              <p:cNvPr id="4" name="文本框 3">
                <a:extLst>
                  <a:ext uri="{FF2B5EF4-FFF2-40B4-BE49-F238E27FC236}">
                    <a16:creationId xmlns:a16="http://schemas.microsoft.com/office/drawing/2014/main" id="{93FA0332-6BB7-4BB3-85BF-97E8FFAFD6EA}"/>
                  </a:ext>
                </a:extLst>
              </p:cNvPr>
              <p:cNvSpPr txBox="1">
                <a:spLocks noRot="1" noChangeAspect="1" noMove="1" noResize="1" noEditPoints="1" noAdjustHandles="1" noChangeArrowheads="1" noChangeShapeType="1" noTextEdit="1"/>
              </p:cNvSpPr>
              <p:nvPr/>
            </p:nvSpPr>
            <p:spPr>
              <a:xfrm>
                <a:off x="523188" y="1960186"/>
                <a:ext cx="3103776" cy="1086451"/>
              </a:xfrm>
              <a:prstGeom prst="rect">
                <a:avLst/>
              </a:prstGeom>
              <a:blipFill>
                <a:blip r:embed="rId3"/>
                <a:stretch>
                  <a:fillRect l="-1179" t="-2247" r="-5108" b="-56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298B3D4-EEC8-4258-B0FF-5D5B5FB89EEF}"/>
                  </a:ext>
                </a:extLst>
              </p:cNvPr>
              <p:cNvSpPr txBox="1"/>
              <p:nvPr/>
            </p:nvSpPr>
            <p:spPr>
              <a:xfrm>
                <a:off x="523188" y="3384812"/>
                <a:ext cx="3610466" cy="108645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a:t>
                </a:r>
                <a:r>
                  <a:rPr kumimoji="0" lang="zh-CN" altLang="en-US"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类问题</a:t>
                </a:r>
                <a:r>
                  <a:rPr kumimoji="0" lang="en-US" altLang="zh-CN"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(Non-deterministic polynomial)</a:t>
                </a:r>
                <a:r>
                  <a:rPr kumimoji="0" lang="zh-CN" altLang="en-US"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endParaRPr kumimoji="0" lang="en-US" altLang="zh-CN"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指问题的正确解可以被在</a:t>
                </a:r>
                <a14:m>
                  <m:oMath xmlns:m="http://schemas.openxmlformats.org/officeDocument/2006/math">
                    <m:r>
                      <m:rPr>
                        <m:sty m:val="p"/>
                      </m:rP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O</m:t>
                    </m:r>
                    <m: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m:t>
                    </m:r>
                    <m:sSup>
                      <m:sSupPr>
                        <m:ctrlPr>
                          <a:rPr kumimoji="0" lang="en-US" altLang="zh-CN" sz="1600" b="0" i="1" u="none" strike="noStrike" kern="1200" cap="none" spc="0" normalizeH="0" baseline="0" noProof="0">
                            <a:ln>
                              <a:noFill/>
                            </a:ln>
                            <a:solidFill>
                              <a:srgbClr val="333333"/>
                            </a:solidFill>
                            <a:effectLst/>
                            <a:uLnTx/>
                            <a:uFillTx/>
                            <a:latin typeface="Cambria Math" panose="02040503050406030204" pitchFamily="18" charset="0"/>
                            <a:cs typeface="+mn-cs"/>
                          </a:rPr>
                        </m:ctrlPr>
                      </m:sSupPr>
                      <m:e>
                        <m:r>
                          <m:rPr>
                            <m:sty m:val="p"/>
                          </m:rP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n</m:t>
                        </m:r>
                      </m:e>
                      <m:sup>
                        <m:r>
                          <m:rPr>
                            <m:sty m:val="p"/>
                          </m:rP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k</m:t>
                        </m:r>
                      </m:sup>
                    </m:sSup>
                    <m:r>
                      <a:rPr kumimoji="0" lang="en-US" altLang="zh-CN" sz="1600" b="0" i="0" u="none" strike="noStrike" kern="1200" cap="none" spc="0" normalizeH="0" baseline="0" noProof="0">
                        <a:ln>
                          <a:noFill/>
                        </a:ln>
                        <a:solidFill>
                          <a:srgbClr val="333333"/>
                        </a:solidFill>
                        <a:effectLst/>
                        <a:uLnTx/>
                        <a:uFillTx/>
                        <a:latin typeface="Cambria Math" panose="02040503050406030204" pitchFamily="18" charset="0"/>
                        <a:cs typeface="+mn-cs"/>
                      </a:rPr>
                      <m:t>)</m:t>
                    </m:r>
                  </m:oMath>
                </a14:m>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时间内的算法验证的问题。</a:t>
                </a:r>
              </a:p>
            </p:txBody>
          </p:sp>
        </mc:Choice>
        <mc:Fallback xmlns="">
          <p:sp>
            <p:nvSpPr>
              <p:cNvPr id="5" name="文本框 4">
                <a:extLst>
                  <a:ext uri="{FF2B5EF4-FFF2-40B4-BE49-F238E27FC236}">
                    <a16:creationId xmlns:a16="http://schemas.microsoft.com/office/drawing/2014/main" id="{D298B3D4-EEC8-4258-B0FF-5D5B5FB89EEF}"/>
                  </a:ext>
                </a:extLst>
              </p:cNvPr>
              <p:cNvSpPr txBox="1">
                <a:spLocks noRot="1" noChangeAspect="1" noMove="1" noResize="1" noEditPoints="1" noAdjustHandles="1" noChangeArrowheads="1" noChangeShapeType="1" noTextEdit="1"/>
              </p:cNvSpPr>
              <p:nvPr/>
            </p:nvSpPr>
            <p:spPr>
              <a:xfrm>
                <a:off x="523188" y="3384812"/>
                <a:ext cx="3610466" cy="1086451"/>
              </a:xfrm>
              <a:prstGeom prst="rect">
                <a:avLst/>
              </a:prstGeom>
              <a:blipFill>
                <a:blip r:embed="rId4"/>
                <a:stretch>
                  <a:fillRect l="-1014" t="-2247" b="-5618"/>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7364E60C-D6EE-43ED-BF1F-03DB11820FEB}"/>
              </a:ext>
            </a:extLst>
          </p:cNvPr>
          <p:cNvGrpSpPr/>
          <p:nvPr/>
        </p:nvGrpSpPr>
        <p:grpSpPr>
          <a:xfrm>
            <a:off x="5534320" y="4632930"/>
            <a:ext cx="1859437" cy="1276346"/>
            <a:chOff x="4242062" y="4543720"/>
            <a:chExt cx="2479249" cy="1701794"/>
          </a:xfrm>
        </p:grpSpPr>
        <p:sp>
          <p:nvSpPr>
            <p:cNvPr id="6" name="椭圆 5">
              <a:extLst>
                <a:ext uri="{FF2B5EF4-FFF2-40B4-BE49-F238E27FC236}">
                  <a16:creationId xmlns:a16="http://schemas.microsoft.com/office/drawing/2014/main" id="{F3A95427-938D-4C2F-842F-3B2FFE744273}"/>
                </a:ext>
              </a:extLst>
            </p:cNvPr>
            <p:cNvSpPr/>
            <p:nvPr/>
          </p:nvSpPr>
          <p:spPr>
            <a:xfrm>
              <a:off x="4242062" y="4543720"/>
              <a:ext cx="2479249" cy="1701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Verdana"/>
                  <a:ea typeface="+mn-ea"/>
                  <a:cs typeface="+mn-cs"/>
                </a:rPr>
                <a:t>NP</a:t>
              </a:r>
              <a:endParaRPr kumimoji="0" lang="zh-CN" altLang="en-US" sz="1050" b="1" i="0" u="none" strike="noStrike" kern="1200" cap="none" spc="0" normalizeH="0" baseline="0" noProof="0" dirty="0">
                <a:ln>
                  <a:noFill/>
                </a:ln>
                <a:solidFill>
                  <a:srgbClr val="FFFFFF"/>
                </a:solidFill>
                <a:effectLst/>
                <a:uLnTx/>
                <a:uFillTx/>
                <a:latin typeface="Verdana"/>
                <a:ea typeface="+mn-ea"/>
                <a:cs typeface="+mn-cs"/>
              </a:endParaRPr>
            </a:p>
          </p:txBody>
        </p:sp>
        <p:sp>
          <p:nvSpPr>
            <p:cNvPr id="7" name="椭圆 6">
              <a:extLst>
                <a:ext uri="{FF2B5EF4-FFF2-40B4-BE49-F238E27FC236}">
                  <a16:creationId xmlns:a16="http://schemas.microsoft.com/office/drawing/2014/main" id="{F9C181A6-7933-4743-9ED7-D23E53EB2E14}"/>
                </a:ext>
              </a:extLst>
            </p:cNvPr>
            <p:cNvSpPr/>
            <p:nvPr/>
          </p:nvSpPr>
          <p:spPr>
            <a:xfrm>
              <a:off x="4534293" y="5216005"/>
              <a:ext cx="688156" cy="685173"/>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Verdana"/>
                  <a:ea typeface="+mn-ea"/>
                  <a:cs typeface="+mn-cs"/>
                </a:rPr>
                <a:t>P</a:t>
              </a:r>
              <a:endParaRPr kumimoji="0" lang="zh-CN" altLang="en-US" sz="1050" b="1" i="0" u="none" strike="noStrike" kern="1200" cap="none" spc="0" normalizeH="0" baseline="0" noProof="0" dirty="0">
                <a:ln>
                  <a:noFill/>
                </a:ln>
                <a:solidFill>
                  <a:srgbClr val="FFFFFF"/>
                </a:solidFill>
                <a:effectLst/>
                <a:uLnTx/>
                <a:uFillTx/>
                <a:latin typeface="Verdana"/>
                <a:ea typeface="+mn-ea"/>
                <a:cs typeface="+mn-cs"/>
              </a:endParaRPr>
            </a:p>
          </p:txBody>
        </p:sp>
      </p:grpSp>
      <p:sp>
        <p:nvSpPr>
          <p:cNvPr id="10" name="文本框 9">
            <a:extLst>
              <a:ext uri="{FF2B5EF4-FFF2-40B4-BE49-F238E27FC236}">
                <a16:creationId xmlns:a16="http://schemas.microsoft.com/office/drawing/2014/main" id="{44DFDD5B-AD06-4C3E-882F-D0A933712168}"/>
              </a:ext>
            </a:extLst>
          </p:cNvPr>
          <p:cNvSpPr txBox="1"/>
          <p:nvPr/>
        </p:nvSpPr>
        <p:spPr>
          <a:xfrm>
            <a:off x="593889" y="4809438"/>
            <a:ext cx="1781666" cy="92333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700" b="1" i="0" u="none" strike="noStrike" kern="1200" cap="none" spc="0" normalizeH="0" baseline="0" noProof="0" dirty="0">
                <a:ln>
                  <a:noFill/>
                </a:ln>
                <a:solidFill>
                  <a:srgbClr val="292929"/>
                </a:solidFill>
                <a:effectLst/>
                <a:uLnTx/>
                <a:uFillTx/>
                <a:latin typeface="Arial" charset="0"/>
                <a:ea typeface="宋体" charset="-122"/>
                <a:cs typeface="+mn-cs"/>
              </a:rPr>
              <a:t>P</a:t>
            </a:r>
            <a:r>
              <a:rPr kumimoji="0" lang="zh-CN" altLang="en-US" sz="2700" b="1" i="0" u="none" strike="noStrike" kern="1200" cap="none" spc="0" normalizeH="0" baseline="0" noProof="0" dirty="0">
                <a:ln>
                  <a:noFill/>
                </a:ln>
                <a:solidFill>
                  <a:srgbClr val="292929"/>
                </a:solidFill>
                <a:effectLst/>
                <a:uLnTx/>
                <a:uFillTx/>
                <a:latin typeface="Arial" charset="0"/>
                <a:ea typeface="宋体" charset="-122"/>
                <a:cs typeface="+mn-cs"/>
              </a:rPr>
              <a:t>∈</a:t>
            </a:r>
            <a:r>
              <a:rPr kumimoji="0" lang="en-US" altLang="zh-CN" sz="2700" b="1" i="0" u="none" strike="noStrike" kern="1200" cap="none" spc="0" normalizeH="0" baseline="0" noProof="0" dirty="0">
                <a:ln>
                  <a:noFill/>
                </a:ln>
                <a:solidFill>
                  <a:srgbClr val="292929"/>
                </a:solidFill>
                <a:effectLst/>
                <a:uLnTx/>
                <a:uFillTx/>
                <a:latin typeface="Arial" charset="0"/>
                <a:ea typeface="宋体" charset="-122"/>
                <a:cs typeface="+mn-cs"/>
              </a:rPr>
              <a:t>NP or P=NP</a:t>
            </a:r>
            <a:r>
              <a:rPr kumimoji="0" lang="zh-CN" altLang="en-US" sz="2700" b="1" i="0" u="none" strike="noStrike" kern="1200" cap="none" spc="0" normalizeH="0" baseline="0" noProof="0" dirty="0">
                <a:ln>
                  <a:noFill/>
                </a:ln>
                <a:solidFill>
                  <a:srgbClr val="292929"/>
                </a:solidFill>
                <a:effectLst/>
                <a:uLnTx/>
                <a:uFillTx/>
                <a:latin typeface="Arial" charset="0"/>
                <a:ea typeface="宋体" charset="-122"/>
                <a:cs typeface="+mn-cs"/>
              </a:rPr>
              <a:t>？</a:t>
            </a:r>
          </a:p>
        </p:txBody>
      </p:sp>
      <p:sp>
        <p:nvSpPr>
          <p:cNvPr id="11" name="标题 1">
            <a:extLst>
              <a:ext uri="{FF2B5EF4-FFF2-40B4-BE49-F238E27FC236}">
                <a16:creationId xmlns:a16="http://schemas.microsoft.com/office/drawing/2014/main" id="{171BE493-A257-4B64-A87B-79FEB294D4FA}"/>
              </a:ext>
            </a:extLst>
          </p:cNvPr>
          <p:cNvSpPr txBox="1">
            <a:spLocks/>
          </p:cNvSpPr>
          <p:nvPr/>
        </p:nvSpPr>
        <p:spPr bwMode="gray">
          <a:xfrm>
            <a:off x="657520" y="260648"/>
            <a:ext cx="4876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200" b="1">
                <a:solidFill>
                  <a:srgbClr val="000000"/>
                </a:solidFill>
                <a:latin typeface="+mj-lt"/>
                <a:ea typeface="+mj-ea"/>
                <a:cs typeface="+mj-cs"/>
              </a:defRPr>
            </a:lvl1pPr>
            <a:lvl2pPr algn="ctr" rtl="0" fontAlgn="base">
              <a:spcBef>
                <a:spcPct val="0"/>
              </a:spcBef>
              <a:spcAft>
                <a:spcPct val="0"/>
              </a:spcAft>
              <a:defRPr sz="3200" b="1">
                <a:solidFill>
                  <a:srgbClr val="000000"/>
                </a:solidFill>
                <a:latin typeface="Verdana" pitchFamily="34" charset="0"/>
              </a:defRPr>
            </a:lvl2pPr>
            <a:lvl3pPr algn="ctr" rtl="0" fontAlgn="base">
              <a:spcBef>
                <a:spcPct val="0"/>
              </a:spcBef>
              <a:spcAft>
                <a:spcPct val="0"/>
              </a:spcAft>
              <a:defRPr sz="3200" b="1">
                <a:solidFill>
                  <a:srgbClr val="000000"/>
                </a:solidFill>
                <a:latin typeface="Verdana" pitchFamily="34" charset="0"/>
              </a:defRPr>
            </a:lvl3pPr>
            <a:lvl4pPr algn="ctr" rtl="0" fontAlgn="base">
              <a:spcBef>
                <a:spcPct val="0"/>
              </a:spcBef>
              <a:spcAft>
                <a:spcPct val="0"/>
              </a:spcAft>
              <a:defRPr sz="3200" b="1">
                <a:solidFill>
                  <a:srgbClr val="000000"/>
                </a:solidFill>
                <a:latin typeface="Verdana" pitchFamily="34" charset="0"/>
              </a:defRPr>
            </a:lvl4pPr>
            <a:lvl5pPr algn="ctr" rtl="0" fontAlgn="base">
              <a:spcBef>
                <a:spcPct val="0"/>
              </a:spcBef>
              <a:spcAft>
                <a:spcPct val="0"/>
              </a:spcAft>
              <a:defRPr sz="3200" b="1">
                <a:solidFill>
                  <a:srgbClr val="000000"/>
                </a:solidFill>
                <a:latin typeface="Verdana" pitchFamily="34" charset="0"/>
              </a:defRPr>
            </a:lvl5pPr>
            <a:lvl6pPr marL="457200" algn="ctr" rtl="0" fontAlgn="base">
              <a:spcBef>
                <a:spcPct val="0"/>
              </a:spcBef>
              <a:spcAft>
                <a:spcPct val="0"/>
              </a:spcAft>
              <a:defRPr sz="3200" b="1">
                <a:solidFill>
                  <a:srgbClr val="000000"/>
                </a:solidFill>
                <a:latin typeface="Verdana" pitchFamily="34" charset="0"/>
              </a:defRPr>
            </a:lvl6pPr>
            <a:lvl7pPr marL="914400" algn="ctr" rtl="0" fontAlgn="base">
              <a:spcBef>
                <a:spcPct val="0"/>
              </a:spcBef>
              <a:spcAft>
                <a:spcPct val="0"/>
              </a:spcAft>
              <a:defRPr sz="3200" b="1">
                <a:solidFill>
                  <a:srgbClr val="000000"/>
                </a:solidFill>
                <a:latin typeface="Verdana" pitchFamily="34" charset="0"/>
              </a:defRPr>
            </a:lvl7pPr>
            <a:lvl8pPr marL="1371600" algn="ctr" rtl="0" fontAlgn="base">
              <a:spcBef>
                <a:spcPct val="0"/>
              </a:spcBef>
              <a:spcAft>
                <a:spcPct val="0"/>
              </a:spcAft>
              <a:defRPr sz="3200" b="1">
                <a:solidFill>
                  <a:srgbClr val="000000"/>
                </a:solidFill>
                <a:latin typeface="Verdana" pitchFamily="34" charset="0"/>
              </a:defRPr>
            </a:lvl8pPr>
            <a:lvl9pPr marL="1828800" algn="ctr" rtl="0" fontAlgn="base">
              <a:spcBef>
                <a:spcPct val="0"/>
              </a:spcBef>
              <a:spcAft>
                <a:spcPct val="0"/>
              </a:spcAft>
              <a:defRPr sz="3200" b="1">
                <a:solidFill>
                  <a:srgbClr val="000000"/>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3200" b="1" i="0" u="none" strike="noStrike" kern="0" cap="none" spc="0" normalizeH="0" baseline="0" noProof="0" dirty="0">
                <a:ln>
                  <a:noFill/>
                </a:ln>
                <a:solidFill>
                  <a:srgbClr val="000000"/>
                </a:solidFill>
                <a:effectLst/>
                <a:uLnTx/>
                <a:uFillTx/>
                <a:latin typeface="Verdana"/>
                <a:ea typeface="+mj-ea"/>
                <a:cs typeface="+mj-cs"/>
              </a:rPr>
              <a:t>计算复杂度问题</a:t>
            </a:r>
          </a:p>
        </p:txBody>
      </p:sp>
    </p:spTree>
    <p:extLst>
      <p:ext uri="{BB962C8B-B14F-4D97-AF65-F5344CB8AC3E}">
        <p14:creationId xmlns:p14="http://schemas.microsoft.com/office/powerpoint/2010/main" val="17539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8F52758-0C83-4337-88F9-B15A421291AE}"/>
              </a:ext>
            </a:extLst>
          </p:cNvPr>
          <p:cNvSpPr txBox="1"/>
          <p:nvPr/>
        </p:nvSpPr>
        <p:spPr>
          <a:xfrm>
            <a:off x="2231795" y="1473455"/>
            <a:ext cx="4680409" cy="58477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Boolean </a:t>
            </a:r>
            <a:r>
              <a:rPr kumimoji="0" lang="en-US" altLang="zh-CN" sz="1600" b="0" i="0" u="none" strike="noStrike" kern="1200" cap="none" spc="0" normalizeH="0" baseline="0" noProof="0" dirty="0">
                <a:ln>
                  <a:noFill/>
                </a:ln>
                <a:solidFill>
                  <a:srgbClr val="FF0000"/>
                </a:solidFill>
                <a:effectLst/>
                <a:uLnTx/>
                <a:uFillTx/>
                <a:latin typeface="arial" panose="020B0604020202020204" pitchFamily="34" charset="0"/>
                <a:ea typeface="宋体" charset="-122"/>
                <a:cs typeface="+mn-cs"/>
              </a:rPr>
              <a:t>sat</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isfiability problem</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3-SAT </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D425903-4CD7-4CE0-A6D4-3EF5752F2C12}"/>
                  </a:ext>
                </a:extLst>
              </p:cNvPr>
              <p:cNvSpPr txBox="1"/>
              <p:nvPr/>
            </p:nvSpPr>
            <p:spPr>
              <a:xfrm>
                <a:off x="657520" y="2132856"/>
                <a:ext cx="7462240" cy="1400383"/>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对于具有如下特征的布尔表达式：</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err="1">
                    <a:ln>
                      <a:noFill/>
                    </a:ln>
                    <a:solidFill>
                      <a:srgbClr val="333333"/>
                    </a:solidFill>
                    <a:effectLst/>
                    <a:uLnTx/>
                    <a:uFillTx/>
                    <a:latin typeface="arial" panose="020B0604020202020204" pitchFamily="34" charset="0"/>
                    <a:ea typeface="宋体" charset="-122"/>
                    <a:cs typeface="+mn-cs"/>
                  </a:rPr>
                  <a:t>x1,x2,x3</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err="1">
                    <a:ln>
                      <a:noFill/>
                    </a:ln>
                    <a:solidFill>
                      <a:srgbClr val="333333"/>
                    </a:solidFill>
                    <a:effectLst/>
                    <a:uLnTx/>
                    <a:uFillTx/>
                    <a:latin typeface="arial" panose="020B0604020202020204" pitchFamily="34" charset="0"/>
                    <a:ea typeface="宋体" charset="-122"/>
                    <a:cs typeface="+mn-cs"/>
                  </a:rPr>
                  <a:t>xn</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为布尔变量，</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F</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为合取范式，例如</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F</m:t>
                    </m:r>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d>
                      <m:d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dPr>
                      <m:e>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1</m:t>
                            </m:r>
                          </m:sub>
                        </m:sSub>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2</m:t>
                            </m:r>
                          </m:sub>
                        </m:sSub>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3</m:t>
                            </m:r>
                          </m:sub>
                        </m:sSub>
                      </m:e>
                    </m:d>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1</m:t>
                        </m:r>
                      </m:sub>
                    </m:sSub>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2</m:t>
                        </m:r>
                      </m:sub>
                    </m:sSub>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4</m:t>
                        </m:r>
                      </m:sub>
                    </m:s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d>
                      <m:d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dPr>
                      <m:e>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2</m:t>
                            </m:r>
                          </m:sub>
                        </m:sSub>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4</m:t>
                            </m:r>
                          </m:sub>
                        </m:sSub>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5</m:t>
                            </m:r>
                          </m:sub>
                        </m:sSub>
                      </m:e>
                    </m:d>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2</m:t>
                        </m:r>
                      </m:sub>
                    </m:sSub>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4</m:t>
                        </m:r>
                      </m:sub>
                    </m:sSub>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sSub>
                      <m:sSubPr>
                        <m:ctrlPr>
                          <a:rPr kumimoji="0" lang="en-US" altLang="zh-CN" sz="1600" b="0" i="1" u="none" strike="noStrike" kern="1200" cap="none" spc="0" normalizeH="0" baseline="0" noProof="0" dirty="0">
                            <a:ln>
                              <a:noFill/>
                            </a:ln>
                            <a:solidFill>
                              <a:srgbClr val="333333"/>
                            </a:solidFill>
                            <a:effectLst/>
                            <a:uLnTx/>
                            <a:uFillTx/>
                            <a:latin typeface="Cambria Math" panose="02040503050406030204" pitchFamily="18" charset="0"/>
                            <a:cs typeface="+mn-cs"/>
                          </a:rPr>
                        </m:ctrlPr>
                      </m:sSubPr>
                      <m:e>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r>
                          <m:rPr>
                            <m:sty m:val="p"/>
                          </m:rP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x</m:t>
                        </m:r>
                      </m:e>
                      <m: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6</m:t>
                        </m:r>
                      </m:sub>
                    </m:sSub>
                    <m:r>
                      <a:rPr kumimoji="0" lang="en-US" altLang="zh-CN"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r>
                      <a:rPr kumimoji="0" lang="zh-CN" altLang="en-US" sz="1600" b="0" i="0" u="none" strike="noStrike" kern="1200" cap="none" spc="0" normalizeH="0" baseline="0" noProof="0" dirty="0">
                        <a:ln>
                          <a:noFill/>
                        </a:ln>
                        <a:solidFill>
                          <a:srgbClr val="333333"/>
                        </a:solidFill>
                        <a:effectLst/>
                        <a:uLnTx/>
                        <a:uFillTx/>
                        <a:latin typeface="Cambria Math" panose="02040503050406030204" pitchFamily="18" charset="0"/>
                        <a:cs typeface="+mn-cs"/>
                      </a:rPr>
                      <m:t>∩</m:t>
                    </m:r>
                  </m:oMath>
                </a14:m>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是否存在一组逻辑变量使得表达式</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F</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的值为真？</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050" b="1" i="0" u="none" strike="noStrike" kern="1200" cap="none" spc="0" normalizeH="0" baseline="0" noProof="0" dirty="0">
                  <a:ln>
                    <a:noFill/>
                  </a:ln>
                  <a:solidFill>
                    <a:srgbClr val="292929"/>
                  </a:solidFill>
                  <a:effectLst/>
                  <a:uLnTx/>
                  <a:uFillTx/>
                  <a:latin typeface="Arial" charset="0"/>
                  <a:ea typeface="宋体"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050" b="1" i="0" u="none" strike="noStrike" kern="1200" cap="none" spc="0" normalizeH="0" baseline="0" noProof="0" dirty="0">
                  <a:ln>
                    <a:noFill/>
                  </a:ln>
                  <a:solidFill>
                    <a:srgbClr val="292929"/>
                  </a:solidFill>
                  <a:effectLst/>
                  <a:uLnTx/>
                  <a:uFillTx/>
                  <a:latin typeface="Arial" charset="0"/>
                  <a:ea typeface="宋体" charset="-122"/>
                  <a:cs typeface="+mn-cs"/>
                </a:endParaRPr>
              </a:p>
            </p:txBody>
          </p:sp>
        </mc:Choice>
        <mc:Fallback xmlns="">
          <p:sp>
            <p:nvSpPr>
              <p:cNvPr id="6" name="文本框 5">
                <a:extLst>
                  <a:ext uri="{FF2B5EF4-FFF2-40B4-BE49-F238E27FC236}">
                    <a16:creationId xmlns:a16="http://schemas.microsoft.com/office/drawing/2014/main" id="{AD425903-4CD7-4CE0-A6D4-3EF5752F2C12}"/>
                  </a:ext>
                </a:extLst>
              </p:cNvPr>
              <p:cNvSpPr txBox="1">
                <a:spLocks noRot="1" noChangeAspect="1" noMove="1" noResize="1" noEditPoints="1" noAdjustHandles="1" noChangeArrowheads="1" noChangeShapeType="1" noTextEdit="1"/>
              </p:cNvSpPr>
              <p:nvPr/>
            </p:nvSpPr>
            <p:spPr>
              <a:xfrm>
                <a:off x="657520" y="2132856"/>
                <a:ext cx="7462240" cy="1400383"/>
              </a:xfrm>
              <a:prstGeom prst="rect">
                <a:avLst/>
              </a:prstGeom>
              <a:blipFill>
                <a:blip r:embed="rId2"/>
                <a:stretch>
                  <a:fillRect l="-490" t="-1739"/>
                </a:stretch>
              </a:blipFill>
            </p:spPr>
            <p:txBody>
              <a:bodyPr/>
              <a:lstStyle/>
              <a:p>
                <a:r>
                  <a:rPr lang="zh-CN" altLang="en-US">
                    <a:noFill/>
                  </a:rPr>
                  <a:t> </a:t>
                </a:r>
              </a:p>
            </p:txBody>
          </p:sp>
        </mc:Fallback>
      </mc:AlternateContent>
      <p:sp>
        <p:nvSpPr>
          <p:cNvPr id="7" name="标题 1">
            <a:extLst>
              <a:ext uri="{FF2B5EF4-FFF2-40B4-BE49-F238E27FC236}">
                <a16:creationId xmlns:a16="http://schemas.microsoft.com/office/drawing/2014/main" id="{624AE68D-3770-43D6-88E0-43B043746454}"/>
              </a:ext>
            </a:extLst>
          </p:cNvPr>
          <p:cNvSpPr txBox="1">
            <a:spLocks/>
          </p:cNvSpPr>
          <p:nvPr/>
        </p:nvSpPr>
        <p:spPr bwMode="gray">
          <a:xfrm>
            <a:off x="657520" y="230831"/>
            <a:ext cx="4876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200" b="1">
                <a:solidFill>
                  <a:srgbClr val="000000"/>
                </a:solidFill>
                <a:latin typeface="+mj-lt"/>
                <a:ea typeface="+mj-ea"/>
                <a:cs typeface="+mj-cs"/>
              </a:defRPr>
            </a:lvl1pPr>
            <a:lvl2pPr algn="ctr" rtl="0" fontAlgn="base">
              <a:spcBef>
                <a:spcPct val="0"/>
              </a:spcBef>
              <a:spcAft>
                <a:spcPct val="0"/>
              </a:spcAft>
              <a:defRPr sz="3200" b="1">
                <a:solidFill>
                  <a:srgbClr val="000000"/>
                </a:solidFill>
                <a:latin typeface="Verdana" pitchFamily="34" charset="0"/>
              </a:defRPr>
            </a:lvl2pPr>
            <a:lvl3pPr algn="ctr" rtl="0" fontAlgn="base">
              <a:spcBef>
                <a:spcPct val="0"/>
              </a:spcBef>
              <a:spcAft>
                <a:spcPct val="0"/>
              </a:spcAft>
              <a:defRPr sz="3200" b="1">
                <a:solidFill>
                  <a:srgbClr val="000000"/>
                </a:solidFill>
                <a:latin typeface="Verdana" pitchFamily="34" charset="0"/>
              </a:defRPr>
            </a:lvl3pPr>
            <a:lvl4pPr algn="ctr" rtl="0" fontAlgn="base">
              <a:spcBef>
                <a:spcPct val="0"/>
              </a:spcBef>
              <a:spcAft>
                <a:spcPct val="0"/>
              </a:spcAft>
              <a:defRPr sz="3200" b="1">
                <a:solidFill>
                  <a:srgbClr val="000000"/>
                </a:solidFill>
                <a:latin typeface="Verdana" pitchFamily="34" charset="0"/>
              </a:defRPr>
            </a:lvl4pPr>
            <a:lvl5pPr algn="ctr" rtl="0" fontAlgn="base">
              <a:spcBef>
                <a:spcPct val="0"/>
              </a:spcBef>
              <a:spcAft>
                <a:spcPct val="0"/>
              </a:spcAft>
              <a:defRPr sz="3200" b="1">
                <a:solidFill>
                  <a:srgbClr val="000000"/>
                </a:solidFill>
                <a:latin typeface="Verdana" pitchFamily="34" charset="0"/>
              </a:defRPr>
            </a:lvl5pPr>
            <a:lvl6pPr marL="457200" algn="ctr" rtl="0" fontAlgn="base">
              <a:spcBef>
                <a:spcPct val="0"/>
              </a:spcBef>
              <a:spcAft>
                <a:spcPct val="0"/>
              </a:spcAft>
              <a:defRPr sz="3200" b="1">
                <a:solidFill>
                  <a:srgbClr val="000000"/>
                </a:solidFill>
                <a:latin typeface="Verdana" pitchFamily="34" charset="0"/>
              </a:defRPr>
            </a:lvl6pPr>
            <a:lvl7pPr marL="914400" algn="ctr" rtl="0" fontAlgn="base">
              <a:spcBef>
                <a:spcPct val="0"/>
              </a:spcBef>
              <a:spcAft>
                <a:spcPct val="0"/>
              </a:spcAft>
              <a:defRPr sz="3200" b="1">
                <a:solidFill>
                  <a:srgbClr val="000000"/>
                </a:solidFill>
                <a:latin typeface="Verdana" pitchFamily="34" charset="0"/>
              </a:defRPr>
            </a:lvl7pPr>
            <a:lvl8pPr marL="1371600" algn="ctr" rtl="0" fontAlgn="base">
              <a:spcBef>
                <a:spcPct val="0"/>
              </a:spcBef>
              <a:spcAft>
                <a:spcPct val="0"/>
              </a:spcAft>
              <a:defRPr sz="3200" b="1">
                <a:solidFill>
                  <a:srgbClr val="000000"/>
                </a:solidFill>
                <a:latin typeface="Verdana" pitchFamily="34" charset="0"/>
              </a:defRPr>
            </a:lvl8pPr>
            <a:lvl9pPr marL="1828800" algn="ctr" rtl="0" fontAlgn="base">
              <a:spcBef>
                <a:spcPct val="0"/>
              </a:spcBef>
              <a:spcAft>
                <a:spcPct val="0"/>
              </a:spcAft>
              <a:defRPr sz="3200" b="1">
                <a:solidFill>
                  <a:srgbClr val="000000"/>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a:ln>
                  <a:noFill/>
                </a:ln>
                <a:solidFill>
                  <a:srgbClr val="000000"/>
                </a:solidFill>
                <a:effectLst/>
                <a:uLnTx/>
                <a:uFillTx/>
                <a:latin typeface="Verdana"/>
                <a:ea typeface="+mj-ea"/>
                <a:cs typeface="+mj-cs"/>
              </a:rPr>
              <a:t>3-SAT</a:t>
            </a:r>
            <a:r>
              <a:rPr kumimoji="1" lang="zh-CN" altLang="en-US" sz="3200" b="1" i="0" u="none" strike="noStrike" kern="0" cap="none" spc="0" normalizeH="0" baseline="0" noProof="0" dirty="0">
                <a:ln>
                  <a:noFill/>
                </a:ln>
                <a:solidFill>
                  <a:srgbClr val="000000"/>
                </a:solidFill>
                <a:effectLst/>
                <a:uLnTx/>
                <a:uFillTx/>
                <a:latin typeface="Verdana"/>
                <a:ea typeface="+mj-ea"/>
                <a:cs typeface="+mj-cs"/>
              </a:rPr>
              <a:t>问题</a:t>
            </a:r>
          </a:p>
        </p:txBody>
      </p:sp>
    </p:spTree>
    <p:extLst>
      <p:ext uri="{BB962C8B-B14F-4D97-AF65-F5344CB8AC3E}">
        <p14:creationId xmlns:p14="http://schemas.microsoft.com/office/powerpoint/2010/main" val="2980193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6AD864C-F82C-463D-9290-CF456E4DD1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86674"/>
            <a:ext cx="4286250" cy="3143250"/>
          </a:xfrm>
          <a:prstGeom prst="rect">
            <a:avLst/>
          </a:prstGeom>
        </p:spPr>
      </p:pic>
      <p:sp>
        <p:nvSpPr>
          <p:cNvPr id="6" name="文本框 5">
            <a:extLst>
              <a:ext uri="{FF2B5EF4-FFF2-40B4-BE49-F238E27FC236}">
                <a16:creationId xmlns:a16="http://schemas.microsoft.com/office/drawing/2014/main" id="{436BE99B-7521-4887-B94B-49383EC81A4B}"/>
              </a:ext>
            </a:extLst>
          </p:cNvPr>
          <p:cNvSpPr txBox="1"/>
          <p:nvPr/>
        </p:nvSpPr>
        <p:spPr>
          <a:xfrm>
            <a:off x="4920789" y="1043732"/>
            <a:ext cx="3626963" cy="238526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旅行商问题 </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Traveling Salesman Problem</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050" b="1" i="0" u="none" strike="noStrike" kern="1200" cap="none" spc="0" normalizeH="0" baseline="0" noProof="0" dirty="0">
              <a:ln>
                <a:noFill/>
              </a:ln>
              <a:solidFill>
                <a:srgbClr val="292929"/>
              </a:solidFill>
              <a:effectLst/>
              <a:uLnTx/>
              <a:uFillTx/>
              <a:latin typeface="Arial"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问题一：</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假设左图中的任意两节点都存在直接路径（带权完全无向图</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G</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V</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E</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）），要求从成都出发，经过全部节点后，回到成都。</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应该如何选择最短的路径？</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050" b="1" i="0" u="none" strike="noStrike" kern="1200" cap="none" spc="0" normalizeH="0" baseline="0" noProof="0" dirty="0">
              <a:ln>
                <a:noFill/>
              </a:ln>
              <a:solidFill>
                <a:srgbClr val="292929"/>
              </a:solidFill>
              <a:effectLst/>
              <a:uLnTx/>
              <a:uFillTx/>
              <a:latin typeface="Arial" charset="0"/>
              <a:ea typeface="宋体" charset="-122"/>
              <a:cs typeface="+mn-cs"/>
            </a:endParaRPr>
          </a:p>
        </p:txBody>
      </p:sp>
      <p:sp>
        <p:nvSpPr>
          <p:cNvPr id="7" name="文本框 6">
            <a:extLst>
              <a:ext uri="{FF2B5EF4-FFF2-40B4-BE49-F238E27FC236}">
                <a16:creationId xmlns:a16="http://schemas.microsoft.com/office/drawing/2014/main" id="{A88DA3D9-02BF-43E8-9F7F-224A8EA777EB}"/>
              </a:ext>
            </a:extLst>
          </p:cNvPr>
          <p:cNvSpPr txBox="1"/>
          <p:nvPr/>
        </p:nvSpPr>
        <p:spPr>
          <a:xfrm>
            <a:off x="4920789" y="3724423"/>
            <a:ext cx="3626963" cy="181588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问题二：</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假设左图中的任意两节点都存在直接路径（带权完全无向图</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G</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V</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E</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）），要求从成都出发，经过全部节点后，回到成都。</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是否存在一条路径，使该条路径的长度小于</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K</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p:txBody>
      </p:sp>
      <p:pic>
        <p:nvPicPr>
          <p:cNvPr id="8" name="图片 7">
            <a:extLst>
              <a:ext uri="{FF2B5EF4-FFF2-40B4-BE49-F238E27FC236}">
                <a16:creationId xmlns:a16="http://schemas.microsoft.com/office/drawing/2014/main" id="{FE8BE7E7-537D-4DD9-B480-ADBDCE40284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993" t="20819" r="20378" b="12440"/>
          <a:stretch/>
        </p:blipFill>
        <p:spPr>
          <a:xfrm>
            <a:off x="0" y="1786674"/>
            <a:ext cx="4286250" cy="3143250"/>
          </a:xfrm>
          <a:prstGeom prst="rect">
            <a:avLst/>
          </a:prstGeom>
        </p:spPr>
      </p:pic>
      <p:sp>
        <p:nvSpPr>
          <p:cNvPr id="2" name="箭头: 右 1">
            <a:extLst>
              <a:ext uri="{FF2B5EF4-FFF2-40B4-BE49-F238E27FC236}">
                <a16:creationId xmlns:a16="http://schemas.microsoft.com/office/drawing/2014/main" id="{396B9512-8ECE-481A-AC9B-1BCE42EB7E98}"/>
              </a:ext>
            </a:extLst>
          </p:cNvPr>
          <p:cNvSpPr/>
          <p:nvPr/>
        </p:nvSpPr>
        <p:spPr>
          <a:xfrm rot="16200000">
            <a:off x="6581885" y="3340729"/>
            <a:ext cx="545159" cy="2403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050" b="1" i="0" u="none" strike="noStrike" kern="1200" cap="none" spc="0" normalizeH="0" baseline="0" noProof="0">
              <a:ln>
                <a:noFill/>
              </a:ln>
              <a:solidFill>
                <a:srgbClr val="FFFFFF"/>
              </a:solidFill>
              <a:effectLst/>
              <a:uLnTx/>
              <a:uFillTx/>
              <a:latin typeface="Verdana"/>
              <a:ea typeface="+mn-ea"/>
              <a:cs typeface="+mn-cs"/>
            </a:endParaRPr>
          </a:p>
        </p:txBody>
      </p:sp>
      <p:sp>
        <p:nvSpPr>
          <p:cNvPr id="9" name="标题 1">
            <a:extLst>
              <a:ext uri="{FF2B5EF4-FFF2-40B4-BE49-F238E27FC236}">
                <a16:creationId xmlns:a16="http://schemas.microsoft.com/office/drawing/2014/main" id="{76E3F70B-1789-4EA2-A5D5-7D0456947A75}"/>
              </a:ext>
            </a:extLst>
          </p:cNvPr>
          <p:cNvSpPr txBox="1">
            <a:spLocks/>
          </p:cNvSpPr>
          <p:nvPr/>
        </p:nvSpPr>
        <p:spPr bwMode="gray">
          <a:xfrm>
            <a:off x="683568" y="260648"/>
            <a:ext cx="4876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200" b="1">
                <a:solidFill>
                  <a:srgbClr val="000000"/>
                </a:solidFill>
                <a:latin typeface="+mj-lt"/>
                <a:ea typeface="+mj-ea"/>
                <a:cs typeface="+mj-cs"/>
              </a:defRPr>
            </a:lvl1pPr>
            <a:lvl2pPr algn="ctr" rtl="0" fontAlgn="base">
              <a:spcBef>
                <a:spcPct val="0"/>
              </a:spcBef>
              <a:spcAft>
                <a:spcPct val="0"/>
              </a:spcAft>
              <a:defRPr sz="3200" b="1">
                <a:solidFill>
                  <a:srgbClr val="000000"/>
                </a:solidFill>
                <a:latin typeface="Verdana" pitchFamily="34" charset="0"/>
              </a:defRPr>
            </a:lvl2pPr>
            <a:lvl3pPr algn="ctr" rtl="0" fontAlgn="base">
              <a:spcBef>
                <a:spcPct val="0"/>
              </a:spcBef>
              <a:spcAft>
                <a:spcPct val="0"/>
              </a:spcAft>
              <a:defRPr sz="3200" b="1">
                <a:solidFill>
                  <a:srgbClr val="000000"/>
                </a:solidFill>
                <a:latin typeface="Verdana" pitchFamily="34" charset="0"/>
              </a:defRPr>
            </a:lvl3pPr>
            <a:lvl4pPr algn="ctr" rtl="0" fontAlgn="base">
              <a:spcBef>
                <a:spcPct val="0"/>
              </a:spcBef>
              <a:spcAft>
                <a:spcPct val="0"/>
              </a:spcAft>
              <a:defRPr sz="3200" b="1">
                <a:solidFill>
                  <a:srgbClr val="000000"/>
                </a:solidFill>
                <a:latin typeface="Verdana" pitchFamily="34" charset="0"/>
              </a:defRPr>
            </a:lvl4pPr>
            <a:lvl5pPr algn="ctr" rtl="0" fontAlgn="base">
              <a:spcBef>
                <a:spcPct val="0"/>
              </a:spcBef>
              <a:spcAft>
                <a:spcPct val="0"/>
              </a:spcAft>
              <a:defRPr sz="3200" b="1">
                <a:solidFill>
                  <a:srgbClr val="000000"/>
                </a:solidFill>
                <a:latin typeface="Verdana" pitchFamily="34" charset="0"/>
              </a:defRPr>
            </a:lvl5pPr>
            <a:lvl6pPr marL="457200" algn="ctr" rtl="0" fontAlgn="base">
              <a:spcBef>
                <a:spcPct val="0"/>
              </a:spcBef>
              <a:spcAft>
                <a:spcPct val="0"/>
              </a:spcAft>
              <a:defRPr sz="3200" b="1">
                <a:solidFill>
                  <a:srgbClr val="000000"/>
                </a:solidFill>
                <a:latin typeface="Verdana" pitchFamily="34" charset="0"/>
              </a:defRPr>
            </a:lvl6pPr>
            <a:lvl7pPr marL="914400" algn="ctr" rtl="0" fontAlgn="base">
              <a:spcBef>
                <a:spcPct val="0"/>
              </a:spcBef>
              <a:spcAft>
                <a:spcPct val="0"/>
              </a:spcAft>
              <a:defRPr sz="3200" b="1">
                <a:solidFill>
                  <a:srgbClr val="000000"/>
                </a:solidFill>
                <a:latin typeface="Verdana" pitchFamily="34" charset="0"/>
              </a:defRPr>
            </a:lvl7pPr>
            <a:lvl8pPr marL="1371600" algn="ctr" rtl="0" fontAlgn="base">
              <a:spcBef>
                <a:spcPct val="0"/>
              </a:spcBef>
              <a:spcAft>
                <a:spcPct val="0"/>
              </a:spcAft>
              <a:defRPr sz="3200" b="1">
                <a:solidFill>
                  <a:srgbClr val="000000"/>
                </a:solidFill>
                <a:latin typeface="Verdana" pitchFamily="34" charset="0"/>
              </a:defRPr>
            </a:lvl8pPr>
            <a:lvl9pPr marL="1828800" algn="ctr" rtl="0" fontAlgn="base">
              <a:spcBef>
                <a:spcPct val="0"/>
              </a:spcBef>
              <a:spcAft>
                <a:spcPct val="0"/>
              </a:spcAft>
              <a:defRPr sz="3200" b="1">
                <a:solidFill>
                  <a:srgbClr val="000000"/>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a:ln>
                  <a:noFill/>
                </a:ln>
                <a:solidFill>
                  <a:srgbClr val="000000"/>
                </a:solidFill>
                <a:effectLst/>
                <a:uLnTx/>
                <a:uFillTx/>
                <a:latin typeface="Verdana"/>
                <a:ea typeface="+mj-ea"/>
                <a:cs typeface="+mj-cs"/>
              </a:rPr>
              <a:t>TSE</a:t>
            </a:r>
            <a:r>
              <a:rPr kumimoji="1" lang="zh-CN" altLang="en-US" sz="3200" b="1" i="0" u="none" strike="noStrike" kern="0" cap="none" spc="0" normalizeH="0" baseline="0" noProof="0" dirty="0">
                <a:ln>
                  <a:noFill/>
                </a:ln>
                <a:solidFill>
                  <a:srgbClr val="000000"/>
                </a:solidFill>
                <a:effectLst/>
                <a:uLnTx/>
                <a:uFillTx/>
                <a:latin typeface="Verdana"/>
                <a:ea typeface="+mj-ea"/>
                <a:cs typeface="+mj-cs"/>
              </a:rPr>
              <a:t>问题的两种形式</a:t>
            </a:r>
          </a:p>
        </p:txBody>
      </p:sp>
    </p:spTree>
    <p:extLst>
      <p:ext uri="{BB962C8B-B14F-4D97-AF65-F5344CB8AC3E}">
        <p14:creationId xmlns:p14="http://schemas.microsoft.com/office/powerpoint/2010/main" val="259567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8F9F73-CB21-49BB-97CF-D10432F4AA57}"/>
              </a:ext>
            </a:extLst>
          </p:cNvPr>
          <p:cNvSpPr txBox="1"/>
          <p:nvPr/>
        </p:nvSpPr>
        <p:spPr>
          <a:xfrm>
            <a:off x="710534" y="1167572"/>
            <a:ext cx="5877689"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NP-Hard </a:t>
            </a:r>
            <a:r>
              <a:rPr kumimoji="0" lang="zh-CN" altLang="en-US"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 </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如果任何的</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Y</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都归约到</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X</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问题上，则</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X</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是一个</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NP-Hard</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a:t>
            </a:r>
          </a:p>
        </p:txBody>
      </p:sp>
      <p:grpSp>
        <p:nvGrpSpPr>
          <p:cNvPr id="3" name="组合 2">
            <a:extLst>
              <a:ext uri="{FF2B5EF4-FFF2-40B4-BE49-F238E27FC236}">
                <a16:creationId xmlns:a16="http://schemas.microsoft.com/office/drawing/2014/main" id="{0217DD24-5AB5-4B96-92F9-BA80B9684F98}"/>
              </a:ext>
            </a:extLst>
          </p:cNvPr>
          <p:cNvGrpSpPr/>
          <p:nvPr/>
        </p:nvGrpSpPr>
        <p:grpSpPr>
          <a:xfrm>
            <a:off x="3768366" y="4367230"/>
            <a:ext cx="1859437" cy="1276345"/>
            <a:chOff x="4242062" y="4543720"/>
            <a:chExt cx="2479249" cy="1701794"/>
          </a:xfrm>
        </p:grpSpPr>
        <p:sp>
          <p:nvSpPr>
            <p:cNvPr id="4" name="椭圆 3">
              <a:extLst>
                <a:ext uri="{FF2B5EF4-FFF2-40B4-BE49-F238E27FC236}">
                  <a16:creationId xmlns:a16="http://schemas.microsoft.com/office/drawing/2014/main" id="{D8620519-C914-4AC6-A633-E2F028387CA9}"/>
                </a:ext>
              </a:extLst>
            </p:cNvPr>
            <p:cNvSpPr/>
            <p:nvPr/>
          </p:nvSpPr>
          <p:spPr>
            <a:xfrm>
              <a:off x="4242062" y="4543720"/>
              <a:ext cx="2479249" cy="1701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Verdana"/>
                  <a:ea typeface="+mn-ea"/>
                  <a:cs typeface="+mn-cs"/>
                </a:rPr>
                <a:t>NP</a:t>
              </a:r>
              <a:endParaRPr kumimoji="0" lang="zh-CN" altLang="en-US" sz="1050" b="1" i="0" u="none" strike="noStrike" kern="1200" cap="none" spc="0" normalizeH="0" baseline="0" noProof="0" dirty="0">
                <a:ln>
                  <a:noFill/>
                </a:ln>
                <a:solidFill>
                  <a:srgbClr val="FFFFFF"/>
                </a:solidFill>
                <a:effectLst/>
                <a:uLnTx/>
                <a:uFillTx/>
                <a:latin typeface="Verdana"/>
                <a:ea typeface="+mn-ea"/>
                <a:cs typeface="+mn-cs"/>
              </a:endParaRPr>
            </a:p>
          </p:txBody>
        </p:sp>
        <p:sp>
          <p:nvSpPr>
            <p:cNvPr id="5" name="椭圆 4">
              <a:extLst>
                <a:ext uri="{FF2B5EF4-FFF2-40B4-BE49-F238E27FC236}">
                  <a16:creationId xmlns:a16="http://schemas.microsoft.com/office/drawing/2014/main" id="{A18E626F-724E-492E-9BC0-7946B6515231}"/>
                </a:ext>
              </a:extLst>
            </p:cNvPr>
            <p:cNvSpPr/>
            <p:nvPr/>
          </p:nvSpPr>
          <p:spPr>
            <a:xfrm>
              <a:off x="4534293" y="5216005"/>
              <a:ext cx="688156" cy="685173"/>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Verdana"/>
                  <a:ea typeface="+mn-ea"/>
                  <a:cs typeface="+mn-cs"/>
                </a:rPr>
                <a:t>P</a:t>
              </a:r>
              <a:endParaRPr kumimoji="0" lang="zh-CN" altLang="en-US" sz="1050" b="1" i="0" u="none" strike="noStrike" kern="1200" cap="none" spc="0" normalizeH="0" baseline="0" noProof="0" dirty="0">
                <a:ln>
                  <a:noFill/>
                </a:ln>
                <a:solidFill>
                  <a:srgbClr val="FFFFFF"/>
                </a:solidFill>
                <a:effectLst/>
                <a:uLnTx/>
                <a:uFillTx/>
                <a:latin typeface="Verdana"/>
                <a:ea typeface="+mn-ea"/>
                <a:cs typeface="+mn-cs"/>
              </a:endParaRPr>
            </a:p>
          </p:txBody>
        </p:sp>
      </p:grpSp>
      <p:sp>
        <p:nvSpPr>
          <p:cNvPr id="6" name="椭圆 5">
            <a:extLst>
              <a:ext uri="{FF2B5EF4-FFF2-40B4-BE49-F238E27FC236}">
                <a16:creationId xmlns:a16="http://schemas.microsoft.com/office/drawing/2014/main" id="{CBECD836-7F0F-48C9-9F01-EF5E31994612}"/>
              </a:ext>
            </a:extLst>
          </p:cNvPr>
          <p:cNvSpPr/>
          <p:nvPr/>
        </p:nvSpPr>
        <p:spPr>
          <a:xfrm>
            <a:off x="4943181" y="4079219"/>
            <a:ext cx="2806831" cy="1852367"/>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Verdana"/>
                <a:ea typeface="+mn-ea"/>
                <a:cs typeface="+mn-cs"/>
              </a:rPr>
              <a:t>NP-Hard</a:t>
            </a:r>
            <a:endParaRPr kumimoji="0" lang="zh-CN" altLang="en-US" sz="1050" b="1" i="0" u="none" strike="noStrike" kern="1200" cap="none" spc="0" normalizeH="0" baseline="0" noProof="0" dirty="0">
              <a:ln>
                <a:noFill/>
              </a:ln>
              <a:solidFill>
                <a:srgbClr val="FFFFFF"/>
              </a:solidFill>
              <a:effectLst/>
              <a:uLnTx/>
              <a:uFillTx/>
              <a:latin typeface="Verdana"/>
              <a:ea typeface="+mn-ea"/>
              <a:cs typeface="+mn-cs"/>
            </a:endParaRPr>
          </a:p>
        </p:txBody>
      </p:sp>
      <p:sp>
        <p:nvSpPr>
          <p:cNvPr id="9" name="任意多边形: 形状 8">
            <a:extLst>
              <a:ext uri="{FF2B5EF4-FFF2-40B4-BE49-F238E27FC236}">
                <a16:creationId xmlns:a16="http://schemas.microsoft.com/office/drawing/2014/main" id="{2F0FE720-B2C7-4D49-9175-E06389BF1949}"/>
              </a:ext>
            </a:extLst>
          </p:cNvPr>
          <p:cNvSpPr/>
          <p:nvPr/>
        </p:nvSpPr>
        <p:spPr>
          <a:xfrm>
            <a:off x="5189456" y="4499891"/>
            <a:ext cx="337014" cy="1053445"/>
          </a:xfrm>
          <a:custGeom>
            <a:avLst/>
            <a:gdLst>
              <a:gd name="connsiteX0" fmla="*/ 0 w 449352"/>
              <a:gd name="connsiteY0" fmla="*/ 0 h 1404593"/>
              <a:gd name="connsiteX1" fmla="*/ 424207 w 449352"/>
              <a:gd name="connsiteY1" fmla="*/ 461913 h 1404593"/>
              <a:gd name="connsiteX2" fmla="*/ 358219 w 449352"/>
              <a:gd name="connsiteY2" fmla="*/ 952107 h 1404593"/>
              <a:gd name="connsiteX3" fmla="*/ 9427 w 449352"/>
              <a:gd name="connsiteY3" fmla="*/ 1404593 h 1404593"/>
              <a:gd name="connsiteX4" fmla="*/ 9427 w 449352"/>
              <a:gd name="connsiteY4" fmla="*/ 1404593 h 1404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352" h="1404593">
                <a:moveTo>
                  <a:pt x="0" y="0"/>
                </a:moveTo>
                <a:cubicBezTo>
                  <a:pt x="182252" y="151614"/>
                  <a:pt x="364504" y="303229"/>
                  <a:pt x="424207" y="461913"/>
                </a:cubicBezTo>
                <a:cubicBezTo>
                  <a:pt x="483910" y="620598"/>
                  <a:pt x="427349" y="794994"/>
                  <a:pt x="358219" y="952107"/>
                </a:cubicBezTo>
                <a:cubicBezTo>
                  <a:pt x="289089" y="1109220"/>
                  <a:pt x="9427" y="1404593"/>
                  <a:pt x="9427" y="1404593"/>
                </a:cubicBezTo>
                <a:lnTo>
                  <a:pt x="9427" y="140459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050" b="1" i="0" u="none" strike="noStrike" kern="1200" cap="none" spc="0" normalizeH="0" baseline="0" noProof="0">
              <a:ln>
                <a:noFill/>
              </a:ln>
              <a:solidFill>
                <a:srgbClr val="FFFFFF"/>
              </a:solidFill>
              <a:effectLst/>
              <a:uLnTx/>
              <a:uFillTx/>
              <a:latin typeface="Verdana"/>
              <a:ea typeface="+mn-ea"/>
              <a:cs typeface="+mn-cs"/>
            </a:endParaRPr>
          </a:p>
        </p:txBody>
      </p:sp>
      <p:sp>
        <p:nvSpPr>
          <p:cNvPr id="12" name="文本框 11">
            <a:extLst>
              <a:ext uri="{FF2B5EF4-FFF2-40B4-BE49-F238E27FC236}">
                <a16:creationId xmlns:a16="http://schemas.microsoft.com/office/drawing/2014/main" id="{3F5DE943-C85D-494D-B245-7D08B92177D6}"/>
              </a:ext>
            </a:extLst>
          </p:cNvPr>
          <p:cNvSpPr txBox="1"/>
          <p:nvPr/>
        </p:nvSpPr>
        <p:spPr>
          <a:xfrm>
            <a:off x="710534" y="1885551"/>
            <a:ext cx="7431829" cy="1077218"/>
          </a:xfrm>
          <a:prstGeom prst="rect">
            <a:avLst/>
          </a:prstGeom>
          <a:noFill/>
          <a:ln>
            <a:solidFill>
              <a:schemeClr val="accent4"/>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归约</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(reduction)</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：对于问题</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和问题</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B</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，如果存在一种转换形式，可以将问题</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的转换到问题</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B</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中。</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A(x)=B(f(x))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则可称问题</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可归约至问题</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B</a:t>
            </a:r>
          </a:p>
        </p:txBody>
      </p:sp>
      <p:sp>
        <p:nvSpPr>
          <p:cNvPr id="13" name="标题 1">
            <a:extLst>
              <a:ext uri="{FF2B5EF4-FFF2-40B4-BE49-F238E27FC236}">
                <a16:creationId xmlns:a16="http://schemas.microsoft.com/office/drawing/2014/main" id="{91868F25-CBE4-4DE0-81F2-C1646FE5EAE9}"/>
              </a:ext>
            </a:extLst>
          </p:cNvPr>
          <p:cNvSpPr txBox="1">
            <a:spLocks/>
          </p:cNvSpPr>
          <p:nvPr/>
        </p:nvSpPr>
        <p:spPr bwMode="gray">
          <a:xfrm>
            <a:off x="683568" y="260648"/>
            <a:ext cx="4876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200" b="1">
                <a:solidFill>
                  <a:srgbClr val="000000"/>
                </a:solidFill>
                <a:latin typeface="+mj-lt"/>
                <a:ea typeface="+mj-ea"/>
                <a:cs typeface="+mj-cs"/>
              </a:defRPr>
            </a:lvl1pPr>
            <a:lvl2pPr algn="ctr" rtl="0" fontAlgn="base">
              <a:spcBef>
                <a:spcPct val="0"/>
              </a:spcBef>
              <a:spcAft>
                <a:spcPct val="0"/>
              </a:spcAft>
              <a:defRPr sz="3200" b="1">
                <a:solidFill>
                  <a:srgbClr val="000000"/>
                </a:solidFill>
                <a:latin typeface="Verdana" pitchFamily="34" charset="0"/>
              </a:defRPr>
            </a:lvl2pPr>
            <a:lvl3pPr algn="ctr" rtl="0" fontAlgn="base">
              <a:spcBef>
                <a:spcPct val="0"/>
              </a:spcBef>
              <a:spcAft>
                <a:spcPct val="0"/>
              </a:spcAft>
              <a:defRPr sz="3200" b="1">
                <a:solidFill>
                  <a:srgbClr val="000000"/>
                </a:solidFill>
                <a:latin typeface="Verdana" pitchFamily="34" charset="0"/>
              </a:defRPr>
            </a:lvl3pPr>
            <a:lvl4pPr algn="ctr" rtl="0" fontAlgn="base">
              <a:spcBef>
                <a:spcPct val="0"/>
              </a:spcBef>
              <a:spcAft>
                <a:spcPct val="0"/>
              </a:spcAft>
              <a:defRPr sz="3200" b="1">
                <a:solidFill>
                  <a:srgbClr val="000000"/>
                </a:solidFill>
                <a:latin typeface="Verdana" pitchFamily="34" charset="0"/>
              </a:defRPr>
            </a:lvl4pPr>
            <a:lvl5pPr algn="ctr" rtl="0" fontAlgn="base">
              <a:spcBef>
                <a:spcPct val="0"/>
              </a:spcBef>
              <a:spcAft>
                <a:spcPct val="0"/>
              </a:spcAft>
              <a:defRPr sz="3200" b="1">
                <a:solidFill>
                  <a:srgbClr val="000000"/>
                </a:solidFill>
                <a:latin typeface="Verdana" pitchFamily="34" charset="0"/>
              </a:defRPr>
            </a:lvl5pPr>
            <a:lvl6pPr marL="457200" algn="ctr" rtl="0" fontAlgn="base">
              <a:spcBef>
                <a:spcPct val="0"/>
              </a:spcBef>
              <a:spcAft>
                <a:spcPct val="0"/>
              </a:spcAft>
              <a:defRPr sz="3200" b="1">
                <a:solidFill>
                  <a:srgbClr val="000000"/>
                </a:solidFill>
                <a:latin typeface="Verdana" pitchFamily="34" charset="0"/>
              </a:defRPr>
            </a:lvl6pPr>
            <a:lvl7pPr marL="914400" algn="ctr" rtl="0" fontAlgn="base">
              <a:spcBef>
                <a:spcPct val="0"/>
              </a:spcBef>
              <a:spcAft>
                <a:spcPct val="0"/>
              </a:spcAft>
              <a:defRPr sz="3200" b="1">
                <a:solidFill>
                  <a:srgbClr val="000000"/>
                </a:solidFill>
                <a:latin typeface="Verdana" pitchFamily="34" charset="0"/>
              </a:defRPr>
            </a:lvl7pPr>
            <a:lvl8pPr marL="1371600" algn="ctr" rtl="0" fontAlgn="base">
              <a:spcBef>
                <a:spcPct val="0"/>
              </a:spcBef>
              <a:spcAft>
                <a:spcPct val="0"/>
              </a:spcAft>
              <a:defRPr sz="3200" b="1">
                <a:solidFill>
                  <a:srgbClr val="000000"/>
                </a:solidFill>
                <a:latin typeface="Verdana" pitchFamily="34" charset="0"/>
              </a:defRPr>
            </a:lvl8pPr>
            <a:lvl9pPr marL="1828800" algn="ctr" rtl="0" fontAlgn="base">
              <a:spcBef>
                <a:spcPct val="0"/>
              </a:spcBef>
              <a:spcAft>
                <a:spcPct val="0"/>
              </a:spcAft>
              <a:defRPr sz="3200" b="1">
                <a:solidFill>
                  <a:srgbClr val="000000"/>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a:ln>
                  <a:noFill/>
                </a:ln>
                <a:solidFill>
                  <a:srgbClr val="000000"/>
                </a:solidFill>
                <a:effectLst/>
                <a:uLnTx/>
                <a:uFillTx/>
                <a:latin typeface="Verdana"/>
                <a:ea typeface="+mj-ea"/>
                <a:cs typeface="+mj-cs"/>
              </a:rPr>
              <a:t>NP-Hard</a:t>
            </a:r>
            <a:r>
              <a:rPr kumimoji="1" lang="zh-CN" altLang="en-US" sz="3200" b="1" i="0" u="none" strike="noStrike" kern="0" cap="none" spc="0" normalizeH="0" baseline="0" noProof="0" dirty="0">
                <a:ln>
                  <a:noFill/>
                </a:ln>
                <a:solidFill>
                  <a:srgbClr val="000000"/>
                </a:solidFill>
                <a:effectLst/>
                <a:uLnTx/>
                <a:uFillTx/>
                <a:latin typeface="Verdana"/>
                <a:ea typeface="+mj-ea"/>
                <a:cs typeface="+mj-cs"/>
              </a:rPr>
              <a:t>问题</a:t>
            </a:r>
          </a:p>
        </p:txBody>
      </p:sp>
      <p:sp>
        <p:nvSpPr>
          <p:cNvPr id="14" name="文本框 13">
            <a:extLst>
              <a:ext uri="{FF2B5EF4-FFF2-40B4-BE49-F238E27FC236}">
                <a16:creationId xmlns:a16="http://schemas.microsoft.com/office/drawing/2014/main" id="{4E4229B0-FBF0-4C63-A50D-EA73640F967B}"/>
              </a:ext>
            </a:extLst>
          </p:cNvPr>
          <p:cNvSpPr txBox="1"/>
          <p:nvPr/>
        </p:nvSpPr>
        <p:spPr>
          <a:xfrm>
            <a:off x="625041" y="3430090"/>
            <a:ext cx="6048673"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所有的</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问题都能归约到</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NP-Hard</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问题上，因此</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NP-Hard</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问题是比所有</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问题更难</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的一部分问题</a:t>
            </a:r>
          </a:p>
        </p:txBody>
      </p:sp>
    </p:spTree>
    <p:extLst>
      <p:ext uri="{BB962C8B-B14F-4D97-AF65-F5344CB8AC3E}">
        <p14:creationId xmlns:p14="http://schemas.microsoft.com/office/powerpoint/2010/main" val="574437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4609E0A-E555-4505-A454-32BC23BADD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9832" y="1264204"/>
            <a:ext cx="2662199" cy="3276844"/>
          </a:xfrm>
          <a:prstGeom prst="rect">
            <a:avLst/>
          </a:prstGeom>
        </p:spPr>
      </p:pic>
      <p:sp>
        <p:nvSpPr>
          <p:cNvPr id="5" name="文本框 4">
            <a:extLst>
              <a:ext uri="{FF2B5EF4-FFF2-40B4-BE49-F238E27FC236}">
                <a16:creationId xmlns:a16="http://schemas.microsoft.com/office/drawing/2014/main" id="{2063D999-5EFB-44FA-8977-55E571033E6C}"/>
              </a:ext>
            </a:extLst>
          </p:cNvPr>
          <p:cNvSpPr txBox="1"/>
          <p:nvPr/>
        </p:nvSpPr>
        <p:spPr>
          <a:xfrm>
            <a:off x="1923766" y="4731667"/>
            <a:ext cx="5055124" cy="253916"/>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292929"/>
                </a:solidFill>
                <a:effectLst/>
                <a:uLnTx/>
                <a:uFillTx/>
                <a:latin typeface="Arial" charset="0"/>
                <a:ea typeface="宋体" charset="-122"/>
                <a:cs typeface="+mn-cs"/>
              </a:rPr>
              <a:t>The complexity of theorem proving procedure –Stephen A.</a:t>
            </a:r>
            <a:r>
              <a:rPr kumimoji="0" lang="zh-CN" altLang="en-US" sz="1050" b="1" i="0" u="none" strike="noStrike" kern="1200" cap="none" spc="0" normalizeH="0" baseline="0" noProof="0" dirty="0">
                <a:ln>
                  <a:noFill/>
                </a:ln>
                <a:solidFill>
                  <a:srgbClr val="292929"/>
                </a:solidFill>
                <a:effectLst/>
                <a:uLnTx/>
                <a:uFillTx/>
                <a:latin typeface="Arial" charset="0"/>
                <a:ea typeface="宋体" charset="-122"/>
                <a:cs typeface="+mn-cs"/>
              </a:rPr>
              <a:t> </a:t>
            </a:r>
            <a:r>
              <a:rPr kumimoji="0" lang="en-US" altLang="zh-CN" sz="1050" b="1" i="0" u="none" strike="noStrike" kern="1200" cap="none" spc="0" normalizeH="0" baseline="0" noProof="0" dirty="0">
                <a:ln>
                  <a:noFill/>
                </a:ln>
                <a:solidFill>
                  <a:srgbClr val="292929"/>
                </a:solidFill>
                <a:effectLst/>
                <a:uLnTx/>
                <a:uFillTx/>
                <a:latin typeface="Arial" charset="0"/>
                <a:ea typeface="宋体" charset="-122"/>
                <a:cs typeface="+mn-cs"/>
              </a:rPr>
              <a:t>Cook</a:t>
            </a:r>
            <a:endParaRPr kumimoji="0" lang="zh-CN" altLang="en-US" sz="1050" b="1" i="0" u="none" strike="noStrike" kern="1200" cap="none" spc="0" normalizeH="0" baseline="0" noProof="0" dirty="0">
              <a:ln>
                <a:noFill/>
              </a:ln>
              <a:solidFill>
                <a:srgbClr val="292929"/>
              </a:solidFill>
              <a:effectLst/>
              <a:uLnTx/>
              <a:uFillTx/>
              <a:latin typeface="Arial" charset="0"/>
              <a:ea typeface="宋体" charset="-122"/>
              <a:cs typeface="+mn-cs"/>
            </a:endParaRPr>
          </a:p>
        </p:txBody>
      </p:sp>
      <p:sp>
        <p:nvSpPr>
          <p:cNvPr id="7" name="文本框 6">
            <a:extLst>
              <a:ext uri="{FF2B5EF4-FFF2-40B4-BE49-F238E27FC236}">
                <a16:creationId xmlns:a16="http://schemas.microsoft.com/office/drawing/2014/main" id="{6943559E-DF0B-42B8-B111-D09C43838C5E}"/>
              </a:ext>
            </a:extLst>
          </p:cNvPr>
          <p:cNvSpPr txBox="1"/>
          <p:nvPr/>
        </p:nvSpPr>
        <p:spPr>
          <a:xfrm>
            <a:off x="2555755" y="5175186"/>
            <a:ext cx="4032490" cy="253916"/>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50" b="1" i="0" u="none" strike="noStrike" kern="1200" cap="none" spc="0" normalizeH="0" baseline="0" noProof="0" dirty="0">
                <a:ln>
                  <a:noFill/>
                </a:ln>
                <a:solidFill>
                  <a:srgbClr val="292929"/>
                </a:solidFill>
                <a:effectLst/>
                <a:uLnTx/>
                <a:uFillTx/>
                <a:latin typeface="Arial" charset="0"/>
                <a:ea typeface="宋体" charset="-122"/>
                <a:cs typeface="+mn-cs"/>
              </a:rPr>
              <a:t>证明任何一个</a:t>
            </a:r>
            <a:r>
              <a:rPr kumimoji="0" lang="en-US" altLang="zh-CN" sz="1050" b="1" i="0" u="none" strike="noStrike" kern="1200" cap="none" spc="0" normalizeH="0" baseline="0" noProof="0" dirty="0">
                <a:ln>
                  <a:noFill/>
                </a:ln>
                <a:solidFill>
                  <a:srgbClr val="292929"/>
                </a:solidFill>
                <a:effectLst/>
                <a:uLnTx/>
                <a:uFillTx/>
                <a:latin typeface="Arial" charset="0"/>
                <a:ea typeface="宋体" charset="-122"/>
                <a:cs typeface="+mn-cs"/>
              </a:rPr>
              <a:t>NP</a:t>
            </a:r>
            <a:r>
              <a:rPr kumimoji="0" lang="zh-CN" altLang="en-US" sz="1050" b="1" i="0" u="none" strike="noStrike" kern="1200" cap="none" spc="0" normalizeH="0" baseline="0" noProof="0" dirty="0">
                <a:ln>
                  <a:noFill/>
                </a:ln>
                <a:solidFill>
                  <a:srgbClr val="292929"/>
                </a:solidFill>
                <a:effectLst/>
                <a:uLnTx/>
                <a:uFillTx/>
                <a:latin typeface="Arial" charset="0"/>
                <a:ea typeface="宋体" charset="-122"/>
                <a:cs typeface="+mn-cs"/>
              </a:rPr>
              <a:t>问题都可以归约为一个</a:t>
            </a:r>
            <a:r>
              <a:rPr kumimoji="0" lang="en-US" altLang="zh-CN" sz="1050" b="1" i="0" u="none" strike="noStrike" kern="1200" cap="none" spc="0" normalizeH="0" baseline="0" noProof="0" dirty="0">
                <a:ln>
                  <a:noFill/>
                </a:ln>
                <a:solidFill>
                  <a:srgbClr val="292929"/>
                </a:solidFill>
                <a:effectLst/>
                <a:uLnTx/>
                <a:uFillTx/>
                <a:latin typeface="Arial" charset="0"/>
                <a:ea typeface="宋体" charset="-122"/>
                <a:cs typeface="+mn-cs"/>
              </a:rPr>
              <a:t>SAT</a:t>
            </a:r>
            <a:r>
              <a:rPr kumimoji="0" lang="zh-CN" altLang="en-US" sz="1050" b="1" i="0" u="none" strike="noStrike" kern="1200" cap="none" spc="0" normalizeH="0" baseline="0" noProof="0" dirty="0">
                <a:ln>
                  <a:noFill/>
                </a:ln>
                <a:solidFill>
                  <a:srgbClr val="292929"/>
                </a:solidFill>
                <a:effectLst/>
                <a:uLnTx/>
                <a:uFillTx/>
                <a:latin typeface="Arial" charset="0"/>
                <a:ea typeface="宋体" charset="-122"/>
                <a:cs typeface="+mn-cs"/>
              </a:rPr>
              <a:t>问题</a:t>
            </a:r>
          </a:p>
        </p:txBody>
      </p:sp>
      <p:sp>
        <p:nvSpPr>
          <p:cNvPr id="6" name="标题 1">
            <a:extLst>
              <a:ext uri="{FF2B5EF4-FFF2-40B4-BE49-F238E27FC236}">
                <a16:creationId xmlns:a16="http://schemas.microsoft.com/office/drawing/2014/main" id="{1E19F8B7-A1A9-448F-9ADA-6C07B3175A8E}"/>
              </a:ext>
            </a:extLst>
          </p:cNvPr>
          <p:cNvSpPr txBox="1">
            <a:spLocks/>
          </p:cNvSpPr>
          <p:nvPr/>
        </p:nvSpPr>
        <p:spPr bwMode="gray">
          <a:xfrm>
            <a:off x="683568" y="260648"/>
            <a:ext cx="4876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200" b="1">
                <a:solidFill>
                  <a:srgbClr val="000000"/>
                </a:solidFill>
                <a:latin typeface="+mj-lt"/>
                <a:ea typeface="+mj-ea"/>
                <a:cs typeface="+mj-cs"/>
              </a:defRPr>
            </a:lvl1pPr>
            <a:lvl2pPr algn="ctr" rtl="0" fontAlgn="base">
              <a:spcBef>
                <a:spcPct val="0"/>
              </a:spcBef>
              <a:spcAft>
                <a:spcPct val="0"/>
              </a:spcAft>
              <a:defRPr sz="3200" b="1">
                <a:solidFill>
                  <a:srgbClr val="000000"/>
                </a:solidFill>
                <a:latin typeface="Verdana" pitchFamily="34" charset="0"/>
              </a:defRPr>
            </a:lvl2pPr>
            <a:lvl3pPr algn="ctr" rtl="0" fontAlgn="base">
              <a:spcBef>
                <a:spcPct val="0"/>
              </a:spcBef>
              <a:spcAft>
                <a:spcPct val="0"/>
              </a:spcAft>
              <a:defRPr sz="3200" b="1">
                <a:solidFill>
                  <a:srgbClr val="000000"/>
                </a:solidFill>
                <a:latin typeface="Verdana" pitchFamily="34" charset="0"/>
              </a:defRPr>
            </a:lvl3pPr>
            <a:lvl4pPr algn="ctr" rtl="0" fontAlgn="base">
              <a:spcBef>
                <a:spcPct val="0"/>
              </a:spcBef>
              <a:spcAft>
                <a:spcPct val="0"/>
              </a:spcAft>
              <a:defRPr sz="3200" b="1">
                <a:solidFill>
                  <a:srgbClr val="000000"/>
                </a:solidFill>
                <a:latin typeface="Verdana" pitchFamily="34" charset="0"/>
              </a:defRPr>
            </a:lvl4pPr>
            <a:lvl5pPr algn="ctr" rtl="0" fontAlgn="base">
              <a:spcBef>
                <a:spcPct val="0"/>
              </a:spcBef>
              <a:spcAft>
                <a:spcPct val="0"/>
              </a:spcAft>
              <a:defRPr sz="3200" b="1">
                <a:solidFill>
                  <a:srgbClr val="000000"/>
                </a:solidFill>
                <a:latin typeface="Verdana" pitchFamily="34" charset="0"/>
              </a:defRPr>
            </a:lvl5pPr>
            <a:lvl6pPr marL="457200" algn="ctr" rtl="0" fontAlgn="base">
              <a:spcBef>
                <a:spcPct val="0"/>
              </a:spcBef>
              <a:spcAft>
                <a:spcPct val="0"/>
              </a:spcAft>
              <a:defRPr sz="3200" b="1">
                <a:solidFill>
                  <a:srgbClr val="000000"/>
                </a:solidFill>
                <a:latin typeface="Verdana" pitchFamily="34" charset="0"/>
              </a:defRPr>
            </a:lvl6pPr>
            <a:lvl7pPr marL="914400" algn="ctr" rtl="0" fontAlgn="base">
              <a:spcBef>
                <a:spcPct val="0"/>
              </a:spcBef>
              <a:spcAft>
                <a:spcPct val="0"/>
              </a:spcAft>
              <a:defRPr sz="3200" b="1">
                <a:solidFill>
                  <a:srgbClr val="000000"/>
                </a:solidFill>
                <a:latin typeface="Verdana" pitchFamily="34" charset="0"/>
              </a:defRPr>
            </a:lvl7pPr>
            <a:lvl8pPr marL="1371600" algn="ctr" rtl="0" fontAlgn="base">
              <a:spcBef>
                <a:spcPct val="0"/>
              </a:spcBef>
              <a:spcAft>
                <a:spcPct val="0"/>
              </a:spcAft>
              <a:defRPr sz="3200" b="1">
                <a:solidFill>
                  <a:srgbClr val="000000"/>
                </a:solidFill>
                <a:latin typeface="Verdana" pitchFamily="34" charset="0"/>
              </a:defRPr>
            </a:lvl8pPr>
            <a:lvl9pPr marL="1828800" algn="ctr" rtl="0" fontAlgn="base">
              <a:spcBef>
                <a:spcPct val="0"/>
              </a:spcBef>
              <a:spcAft>
                <a:spcPct val="0"/>
              </a:spcAft>
              <a:defRPr sz="3200" b="1">
                <a:solidFill>
                  <a:srgbClr val="000000"/>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a:ln>
                  <a:noFill/>
                </a:ln>
                <a:solidFill>
                  <a:srgbClr val="000000"/>
                </a:solidFill>
                <a:effectLst/>
                <a:uLnTx/>
                <a:uFillTx/>
                <a:latin typeface="Verdana"/>
                <a:ea typeface="+mj-ea"/>
                <a:cs typeface="+mj-cs"/>
              </a:rPr>
              <a:t>NP-Complete</a:t>
            </a:r>
            <a:r>
              <a:rPr kumimoji="1" lang="zh-CN" altLang="en-US" sz="3200" b="1" i="0" u="none" strike="noStrike" kern="0" cap="none" spc="0" normalizeH="0" baseline="0" noProof="0" dirty="0">
                <a:ln>
                  <a:noFill/>
                </a:ln>
                <a:solidFill>
                  <a:srgbClr val="000000"/>
                </a:solidFill>
                <a:effectLst/>
                <a:uLnTx/>
                <a:uFillTx/>
                <a:latin typeface="Verdana"/>
                <a:ea typeface="+mj-ea"/>
                <a:cs typeface="+mj-cs"/>
              </a:rPr>
              <a:t>问题</a:t>
            </a:r>
          </a:p>
        </p:txBody>
      </p:sp>
      <p:pic>
        <p:nvPicPr>
          <p:cNvPr id="3" name="图片 2">
            <a:extLst>
              <a:ext uri="{FF2B5EF4-FFF2-40B4-BE49-F238E27FC236}">
                <a16:creationId xmlns:a16="http://schemas.microsoft.com/office/drawing/2014/main" id="{51987867-9C9F-492F-94CA-AE2E3BC55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364" y="1264204"/>
            <a:ext cx="1605550" cy="2402334"/>
          </a:xfrm>
          <a:prstGeom prst="rect">
            <a:avLst/>
          </a:prstGeom>
        </p:spPr>
      </p:pic>
    </p:spTree>
    <p:extLst>
      <p:ext uri="{BB962C8B-B14F-4D97-AF65-F5344CB8AC3E}">
        <p14:creationId xmlns:p14="http://schemas.microsoft.com/office/powerpoint/2010/main" val="3784721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3A6B0C88-8644-4720-A18D-21E2882849C3}"/>
              </a:ext>
            </a:extLst>
          </p:cNvPr>
          <p:cNvGrpSpPr/>
          <p:nvPr/>
        </p:nvGrpSpPr>
        <p:grpSpPr>
          <a:xfrm>
            <a:off x="2389073" y="2790827"/>
            <a:ext cx="1859437" cy="1276346"/>
            <a:chOff x="4242062" y="4543720"/>
            <a:chExt cx="2479249" cy="1701794"/>
          </a:xfrm>
        </p:grpSpPr>
        <p:sp>
          <p:nvSpPr>
            <p:cNvPr id="7" name="椭圆 6">
              <a:extLst>
                <a:ext uri="{FF2B5EF4-FFF2-40B4-BE49-F238E27FC236}">
                  <a16:creationId xmlns:a16="http://schemas.microsoft.com/office/drawing/2014/main" id="{604EB356-5129-421A-8B7E-1FE2E1F63978}"/>
                </a:ext>
              </a:extLst>
            </p:cNvPr>
            <p:cNvSpPr/>
            <p:nvPr/>
          </p:nvSpPr>
          <p:spPr>
            <a:xfrm>
              <a:off x="4242062" y="4543720"/>
              <a:ext cx="2479249" cy="1701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Verdana"/>
                  <a:ea typeface="+mn-ea"/>
                  <a:cs typeface="+mn-cs"/>
                </a:rPr>
                <a:t>NP</a:t>
              </a:r>
              <a:endParaRPr kumimoji="0" lang="zh-CN" altLang="en-US" sz="1050" b="1" i="0" u="none" strike="noStrike" kern="1200" cap="none" spc="0" normalizeH="0" baseline="0" noProof="0" dirty="0">
                <a:ln>
                  <a:noFill/>
                </a:ln>
                <a:solidFill>
                  <a:srgbClr val="FFFFFF"/>
                </a:solidFill>
                <a:effectLst/>
                <a:uLnTx/>
                <a:uFillTx/>
                <a:latin typeface="Verdana"/>
                <a:ea typeface="+mn-ea"/>
                <a:cs typeface="+mn-cs"/>
              </a:endParaRPr>
            </a:p>
          </p:txBody>
        </p:sp>
        <p:sp>
          <p:nvSpPr>
            <p:cNvPr id="8" name="椭圆 7">
              <a:extLst>
                <a:ext uri="{FF2B5EF4-FFF2-40B4-BE49-F238E27FC236}">
                  <a16:creationId xmlns:a16="http://schemas.microsoft.com/office/drawing/2014/main" id="{1A3E7A46-3610-4BF2-A932-21787531CD0E}"/>
                </a:ext>
              </a:extLst>
            </p:cNvPr>
            <p:cNvSpPr/>
            <p:nvPr/>
          </p:nvSpPr>
          <p:spPr>
            <a:xfrm>
              <a:off x="4534293" y="5216005"/>
              <a:ext cx="688156" cy="685173"/>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Verdana"/>
                  <a:ea typeface="+mn-ea"/>
                  <a:cs typeface="+mn-cs"/>
                </a:rPr>
                <a:t>P</a:t>
              </a:r>
              <a:endParaRPr kumimoji="0" lang="zh-CN" altLang="en-US" sz="1050" b="1" i="0" u="none" strike="noStrike" kern="1200" cap="none" spc="0" normalizeH="0" baseline="0" noProof="0" dirty="0">
                <a:ln>
                  <a:noFill/>
                </a:ln>
                <a:solidFill>
                  <a:srgbClr val="FFFFFF"/>
                </a:solidFill>
                <a:effectLst/>
                <a:uLnTx/>
                <a:uFillTx/>
                <a:latin typeface="Verdana"/>
                <a:ea typeface="+mn-ea"/>
                <a:cs typeface="+mn-cs"/>
              </a:endParaRPr>
            </a:p>
          </p:txBody>
        </p:sp>
      </p:grpSp>
      <p:sp>
        <p:nvSpPr>
          <p:cNvPr id="5" name="椭圆 4">
            <a:extLst>
              <a:ext uri="{FF2B5EF4-FFF2-40B4-BE49-F238E27FC236}">
                <a16:creationId xmlns:a16="http://schemas.microsoft.com/office/drawing/2014/main" id="{466FEFDB-65BC-4924-808C-13AB98DAF9CB}"/>
              </a:ext>
            </a:extLst>
          </p:cNvPr>
          <p:cNvSpPr/>
          <p:nvPr/>
        </p:nvSpPr>
        <p:spPr>
          <a:xfrm>
            <a:off x="3563888" y="2502816"/>
            <a:ext cx="2806831" cy="1852367"/>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Verdana"/>
                <a:ea typeface="+mn-ea"/>
                <a:cs typeface="+mn-cs"/>
              </a:rPr>
              <a:t>NP-Hard</a:t>
            </a:r>
            <a:endParaRPr kumimoji="0" lang="zh-CN" altLang="en-US" sz="1050" b="1" i="0" u="none" strike="noStrike" kern="1200" cap="none" spc="0" normalizeH="0" baseline="0" noProof="0" dirty="0">
              <a:ln>
                <a:noFill/>
              </a:ln>
              <a:solidFill>
                <a:srgbClr val="FFFFFF"/>
              </a:solidFill>
              <a:effectLst/>
              <a:uLnTx/>
              <a:uFillTx/>
              <a:latin typeface="Verdana"/>
              <a:ea typeface="+mn-ea"/>
              <a:cs typeface="+mn-cs"/>
            </a:endParaRPr>
          </a:p>
        </p:txBody>
      </p:sp>
      <p:sp>
        <p:nvSpPr>
          <p:cNvPr id="9" name="椭圆 8">
            <a:extLst>
              <a:ext uri="{FF2B5EF4-FFF2-40B4-BE49-F238E27FC236}">
                <a16:creationId xmlns:a16="http://schemas.microsoft.com/office/drawing/2014/main" id="{252BFB33-4EE7-4CA4-97D5-7CB447143EDD}"/>
              </a:ext>
            </a:extLst>
          </p:cNvPr>
          <p:cNvSpPr/>
          <p:nvPr/>
        </p:nvSpPr>
        <p:spPr>
          <a:xfrm>
            <a:off x="3563888" y="2902276"/>
            <a:ext cx="562870" cy="1101039"/>
          </a:xfrm>
          <a:prstGeom prst="ellipse">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50" b="1" i="0" u="none" strike="noStrike" kern="1200" cap="none" spc="0" normalizeH="0" baseline="0" noProof="0" dirty="0">
                <a:ln>
                  <a:noFill/>
                </a:ln>
                <a:solidFill>
                  <a:srgbClr val="FFFFFF"/>
                </a:solidFill>
                <a:effectLst/>
                <a:uLnTx/>
                <a:uFillTx/>
                <a:latin typeface="Verdana"/>
                <a:ea typeface="+mn-ea"/>
                <a:cs typeface="+mn-cs"/>
              </a:rPr>
              <a:t>NPC</a:t>
            </a:r>
            <a:endParaRPr kumimoji="0" lang="zh-CN" altLang="en-US" sz="1050" b="1" i="0" u="none" strike="noStrike" kern="1200" cap="none" spc="0" normalizeH="0" baseline="0" noProof="0" dirty="0">
              <a:ln>
                <a:noFill/>
              </a:ln>
              <a:solidFill>
                <a:srgbClr val="FFFFFF"/>
              </a:solidFill>
              <a:effectLst/>
              <a:uLnTx/>
              <a:uFillTx/>
              <a:latin typeface="Verdana"/>
              <a:ea typeface="+mn-ea"/>
              <a:cs typeface="+mn-cs"/>
            </a:endParaRPr>
          </a:p>
        </p:txBody>
      </p:sp>
      <p:sp>
        <p:nvSpPr>
          <p:cNvPr id="10" name="文本框 9">
            <a:extLst>
              <a:ext uri="{FF2B5EF4-FFF2-40B4-BE49-F238E27FC236}">
                <a16:creationId xmlns:a16="http://schemas.microsoft.com/office/drawing/2014/main" id="{C59DFBC8-78AB-4798-B0F5-7DAD54C9198A}"/>
              </a:ext>
            </a:extLst>
          </p:cNvPr>
          <p:cNvSpPr txBox="1"/>
          <p:nvPr/>
        </p:nvSpPr>
        <p:spPr>
          <a:xfrm>
            <a:off x="894885" y="4469659"/>
            <a:ext cx="4454165" cy="83099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NPC</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问题的性质：</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1.</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所有的</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问题都能归约为一个</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NPC</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a:t>
            </a:r>
            <a:endPar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2.</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所有的</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NPC</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问题都能互相转换</a:t>
            </a:r>
          </a:p>
        </p:txBody>
      </p:sp>
      <p:sp>
        <p:nvSpPr>
          <p:cNvPr id="11" name="标题 1">
            <a:extLst>
              <a:ext uri="{FF2B5EF4-FFF2-40B4-BE49-F238E27FC236}">
                <a16:creationId xmlns:a16="http://schemas.microsoft.com/office/drawing/2014/main" id="{3ED7EA11-6D65-44FB-B6E9-6B7EE0DE80AD}"/>
              </a:ext>
            </a:extLst>
          </p:cNvPr>
          <p:cNvSpPr txBox="1">
            <a:spLocks/>
          </p:cNvSpPr>
          <p:nvPr/>
        </p:nvSpPr>
        <p:spPr bwMode="gray">
          <a:xfrm>
            <a:off x="683568" y="260648"/>
            <a:ext cx="4876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200" b="1">
                <a:solidFill>
                  <a:srgbClr val="000000"/>
                </a:solidFill>
                <a:latin typeface="+mj-lt"/>
                <a:ea typeface="+mj-ea"/>
                <a:cs typeface="+mj-cs"/>
              </a:defRPr>
            </a:lvl1pPr>
            <a:lvl2pPr algn="ctr" rtl="0" fontAlgn="base">
              <a:spcBef>
                <a:spcPct val="0"/>
              </a:spcBef>
              <a:spcAft>
                <a:spcPct val="0"/>
              </a:spcAft>
              <a:defRPr sz="3200" b="1">
                <a:solidFill>
                  <a:srgbClr val="000000"/>
                </a:solidFill>
                <a:latin typeface="Verdana" pitchFamily="34" charset="0"/>
              </a:defRPr>
            </a:lvl2pPr>
            <a:lvl3pPr algn="ctr" rtl="0" fontAlgn="base">
              <a:spcBef>
                <a:spcPct val="0"/>
              </a:spcBef>
              <a:spcAft>
                <a:spcPct val="0"/>
              </a:spcAft>
              <a:defRPr sz="3200" b="1">
                <a:solidFill>
                  <a:srgbClr val="000000"/>
                </a:solidFill>
                <a:latin typeface="Verdana" pitchFamily="34" charset="0"/>
              </a:defRPr>
            </a:lvl3pPr>
            <a:lvl4pPr algn="ctr" rtl="0" fontAlgn="base">
              <a:spcBef>
                <a:spcPct val="0"/>
              </a:spcBef>
              <a:spcAft>
                <a:spcPct val="0"/>
              </a:spcAft>
              <a:defRPr sz="3200" b="1">
                <a:solidFill>
                  <a:srgbClr val="000000"/>
                </a:solidFill>
                <a:latin typeface="Verdana" pitchFamily="34" charset="0"/>
              </a:defRPr>
            </a:lvl4pPr>
            <a:lvl5pPr algn="ctr" rtl="0" fontAlgn="base">
              <a:spcBef>
                <a:spcPct val="0"/>
              </a:spcBef>
              <a:spcAft>
                <a:spcPct val="0"/>
              </a:spcAft>
              <a:defRPr sz="3200" b="1">
                <a:solidFill>
                  <a:srgbClr val="000000"/>
                </a:solidFill>
                <a:latin typeface="Verdana" pitchFamily="34" charset="0"/>
              </a:defRPr>
            </a:lvl5pPr>
            <a:lvl6pPr marL="457200" algn="ctr" rtl="0" fontAlgn="base">
              <a:spcBef>
                <a:spcPct val="0"/>
              </a:spcBef>
              <a:spcAft>
                <a:spcPct val="0"/>
              </a:spcAft>
              <a:defRPr sz="3200" b="1">
                <a:solidFill>
                  <a:srgbClr val="000000"/>
                </a:solidFill>
                <a:latin typeface="Verdana" pitchFamily="34" charset="0"/>
              </a:defRPr>
            </a:lvl6pPr>
            <a:lvl7pPr marL="914400" algn="ctr" rtl="0" fontAlgn="base">
              <a:spcBef>
                <a:spcPct val="0"/>
              </a:spcBef>
              <a:spcAft>
                <a:spcPct val="0"/>
              </a:spcAft>
              <a:defRPr sz="3200" b="1">
                <a:solidFill>
                  <a:srgbClr val="000000"/>
                </a:solidFill>
                <a:latin typeface="Verdana" pitchFamily="34" charset="0"/>
              </a:defRPr>
            </a:lvl7pPr>
            <a:lvl8pPr marL="1371600" algn="ctr" rtl="0" fontAlgn="base">
              <a:spcBef>
                <a:spcPct val="0"/>
              </a:spcBef>
              <a:spcAft>
                <a:spcPct val="0"/>
              </a:spcAft>
              <a:defRPr sz="3200" b="1">
                <a:solidFill>
                  <a:srgbClr val="000000"/>
                </a:solidFill>
                <a:latin typeface="Verdana" pitchFamily="34" charset="0"/>
              </a:defRPr>
            </a:lvl8pPr>
            <a:lvl9pPr marL="1828800" algn="ctr" rtl="0" fontAlgn="base">
              <a:spcBef>
                <a:spcPct val="0"/>
              </a:spcBef>
              <a:spcAft>
                <a:spcPct val="0"/>
              </a:spcAft>
              <a:defRPr sz="3200" b="1">
                <a:solidFill>
                  <a:srgbClr val="000000"/>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a:ln>
                  <a:noFill/>
                </a:ln>
                <a:solidFill>
                  <a:srgbClr val="000000"/>
                </a:solidFill>
                <a:effectLst/>
                <a:uLnTx/>
                <a:uFillTx/>
                <a:latin typeface="Verdana"/>
                <a:ea typeface="+mj-ea"/>
                <a:cs typeface="+mj-cs"/>
              </a:rPr>
              <a:t>NP-Complete</a:t>
            </a:r>
            <a:r>
              <a:rPr kumimoji="1" lang="zh-CN" altLang="en-US" sz="3200" b="1" i="0" u="none" strike="noStrike" kern="0" cap="none" spc="0" normalizeH="0" baseline="0" noProof="0" dirty="0">
                <a:ln>
                  <a:noFill/>
                </a:ln>
                <a:solidFill>
                  <a:srgbClr val="000000"/>
                </a:solidFill>
                <a:effectLst/>
                <a:uLnTx/>
                <a:uFillTx/>
                <a:latin typeface="Verdana"/>
                <a:ea typeface="+mj-ea"/>
                <a:cs typeface="+mj-cs"/>
              </a:rPr>
              <a:t>问题</a:t>
            </a:r>
          </a:p>
        </p:txBody>
      </p:sp>
      <p:sp>
        <p:nvSpPr>
          <p:cNvPr id="3" name="文本框 2">
            <a:extLst>
              <a:ext uri="{FF2B5EF4-FFF2-40B4-BE49-F238E27FC236}">
                <a16:creationId xmlns:a16="http://schemas.microsoft.com/office/drawing/2014/main" id="{D6622C30-57E5-4591-82E3-36D6E1D88385}"/>
              </a:ext>
            </a:extLst>
          </p:cNvPr>
          <p:cNvSpPr txBox="1"/>
          <p:nvPr/>
        </p:nvSpPr>
        <p:spPr>
          <a:xfrm>
            <a:off x="1043608" y="1412776"/>
            <a:ext cx="6336704" cy="338554"/>
          </a:xfrm>
          <a:prstGeom prst="rect">
            <a:avLst/>
          </a:prstGeom>
          <a:noFill/>
          <a:ln w="12700">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NP-Complete</a:t>
            </a:r>
            <a:r>
              <a:rPr kumimoji="0" lang="zh-CN" altLang="en-US" sz="1600" b="1"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 </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如果</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X</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且</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X</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NP-Hard </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则</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X</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是一个</a:t>
            </a:r>
            <a:r>
              <a:rPr kumimoji="0" lang="en-US" altLang="zh-CN"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NPC</a:t>
            </a:r>
            <a:r>
              <a:rPr kumimoji="0" lang="zh-CN" altLang="en-US" sz="1600" b="0" i="0" u="none" strike="noStrike" kern="1200" cap="none" spc="0" normalizeH="0" baseline="0" noProof="0" dirty="0">
                <a:ln>
                  <a:noFill/>
                </a:ln>
                <a:solidFill>
                  <a:srgbClr val="333333"/>
                </a:solidFill>
                <a:effectLst/>
                <a:uLnTx/>
                <a:uFillTx/>
                <a:latin typeface="arial" panose="020B0604020202020204" pitchFamily="34" charset="0"/>
                <a:ea typeface="宋体" charset="-122"/>
                <a:cs typeface="+mn-cs"/>
              </a:rPr>
              <a:t>问题 </a:t>
            </a:r>
          </a:p>
        </p:txBody>
      </p:sp>
    </p:spTree>
    <p:extLst>
      <p:ext uri="{BB962C8B-B14F-4D97-AF65-F5344CB8AC3E}">
        <p14:creationId xmlns:p14="http://schemas.microsoft.com/office/powerpoint/2010/main" val="301186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500"/>
                                        <p:tgtEl>
                                          <p:spTgt spid="10">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2" end="2"/>
                                            </p:txEl>
                                          </p:spTgt>
                                        </p:tgtEl>
                                        <p:attrNameLst>
                                          <p:attrName>style.visibility</p:attrName>
                                        </p:attrNameLst>
                                      </p:cBhvr>
                                      <p:to>
                                        <p:strVal val="visible"/>
                                      </p:to>
                                    </p:set>
                                    <p:animEffect transition="in" filter="fade">
                                      <p:cBhvr>
                                        <p:cTn id="10"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354C696-6767-4A32-8943-D29492A3085E}"/>
              </a:ext>
            </a:extLst>
          </p:cNvPr>
          <p:cNvSpPr txBox="1">
            <a:spLocks noGrp="1"/>
          </p:cNvSpPr>
          <p:nvPr>
            <p:ph type="title"/>
          </p:nvPr>
        </p:nvSpPr>
        <p:spPr>
          <a:xfrm>
            <a:off x="628650" y="2318683"/>
            <a:ext cx="7886700" cy="1569660"/>
          </a:xfrm>
          <a:prstGeom prst="rect">
            <a:avLst/>
          </a:prstGeom>
          <a:noFill/>
        </p:spPr>
        <p:txBody>
          <a:bodyPr wrap="square" rtlCol="0">
            <a:spAutoFit/>
          </a:bodyPr>
          <a:lstStyle/>
          <a:p>
            <a:r>
              <a:rPr lang="zh-CN" altLang="en-US" dirty="0"/>
              <a:t>提问：在实际研究中，如何说明我的问题足够难？换而言之，如何证明我的问题是</a:t>
            </a:r>
            <a:r>
              <a:rPr lang="en-US" altLang="zh-CN" dirty="0"/>
              <a:t>NP-hard</a:t>
            </a:r>
            <a:r>
              <a:rPr lang="zh-CN" altLang="en-US" dirty="0"/>
              <a:t>的？</a:t>
            </a:r>
          </a:p>
        </p:txBody>
      </p:sp>
      <p:sp>
        <p:nvSpPr>
          <p:cNvPr id="5" name="标题 1">
            <a:extLst>
              <a:ext uri="{FF2B5EF4-FFF2-40B4-BE49-F238E27FC236}">
                <a16:creationId xmlns:a16="http://schemas.microsoft.com/office/drawing/2014/main" id="{94A5C4B6-71C1-49D2-80B5-9BCBDA763BE6}"/>
              </a:ext>
            </a:extLst>
          </p:cNvPr>
          <p:cNvSpPr txBox="1">
            <a:spLocks/>
          </p:cNvSpPr>
          <p:nvPr/>
        </p:nvSpPr>
        <p:spPr bwMode="gray">
          <a:xfrm>
            <a:off x="683568" y="260648"/>
            <a:ext cx="48768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200" b="1">
                <a:solidFill>
                  <a:srgbClr val="000000"/>
                </a:solidFill>
                <a:latin typeface="+mj-lt"/>
                <a:ea typeface="+mj-ea"/>
                <a:cs typeface="+mj-cs"/>
              </a:defRPr>
            </a:lvl1pPr>
            <a:lvl2pPr algn="ctr" rtl="0" fontAlgn="base">
              <a:spcBef>
                <a:spcPct val="0"/>
              </a:spcBef>
              <a:spcAft>
                <a:spcPct val="0"/>
              </a:spcAft>
              <a:defRPr sz="3200" b="1">
                <a:solidFill>
                  <a:srgbClr val="000000"/>
                </a:solidFill>
                <a:latin typeface="Verdana" pitchFamily="34" charset="0"/>
              </a:defRPr>
            </a:lvl2pPr>
            <a:lvl3pPr algn="ctr" rtl="0" fontAlgn="base">
              <a:spcBef>
                <a:spcPct val="0"/>
              </a:spcBef>
              <a:spcAft>
                <a:spcPct val="0"/>
              </a:spcAft>
              <a:defRPr sz="3200" b="1">
                <a:solidFill>
                  <a:srgbClr val="000000"/>
                </a:solidFill>
                <a:latin typeface="Verdana" pitchFamily="34" charset="0"/>
              </a:defRPr>
            </a:lvl3pPr>
            <a:lvl4pPr algn="ctr" rtl="0" fontAlgn="base">
              <a:spcBef>
                <a:spcPct val="0"/>
              </a:spcBef>
              <a:spcAft>
                <a:spcPct val="0"/>
              </a:spcAft>
              <a:defRPr sz="3200" b="1">
                <a:solidFill>
                  <a:srgbClr val="000000"/>
                </a:solidFill>
                <a:latin typeface="Verdana" pitchFamily="34" charset="0"/>
              </a:defRPr>
            </a:lvl4pPr>
            <a:lvl5pPr algn="ctr" rtl="0" fontAlgn="base">
              <a:spcBef>
                <a:spcPct val="0"/>
              </a:spcBef>
              <a:spcAft>
                <a:spcPct val="0"/>
              </a:spcAft>
              <a:defRPr sz="3200" b="1">
                <a:solidFill>
                  <a:srgbClr val="000000"/>
                </a:solidFill>
                <a:latin typeface="Verdana" pitchFamily="34" charset="0"/>
              </a:defRPr>
            </a:lvl5pPr>
            <a:lvl6pPr marL="457200" algn="ctr" rtl="0" fontAlgn="base">
              <a:spcBef>
                <a:spcPct val="0"/>
              </a:spcBef>
              <a:spcAft>
                <a:spcPct val="0"/>
              </a:spcAft>
              <a:defRPr sz="3200" b="1">
                <a:solidFill>
                  <a:srgbClr val="000000"/>
                </a:solidFill>
                <a:latin typeface="Verdana" pitchFamily="34" charset="0"/>
              </a:defRPr>
            </a:lvl6pPr>
            <a:lvl7pPr marL="914400" algn="ctr" rtl="0" fontAlgn="base">
              <a:spcBef>
                <a:spcPct val="0"/>
              </a:spcBef>
              <a:spcAft>
                <a:spcPct val="0"/>
              </a:spcAft>
              <a:defRPr sz="3200" b="1">
                <a:solidFill>
                  <a:srgbClr val="000000"/>
                </a:solidFill>
                <a:latin typeface="Verdana" pitchFamily="34" charset="0"/>
              </a:defRPr>
            </a:lvl7pPr>
            <a:lvl8pPr marL="1371600" algn="ctr" rtl="0" fontAlgn="base">
              <a:spcBef>
                <a:spcPct val="0"/>
              </a:spcBef>
              <a:spcAft>
                <a:spcPct val="0"/>
              </a:spcAft>
              <a:defRPr sz="3200" b="1">
                <a:solidFill>
                  <a:srgbClr val="000000"/>
                </a:solidFill>
                <a:latin typeface="Verdana" pitchFamily="34" charset="0"/>
              </a:defRPr>
            </a:lvl8pPr>
            <a:lvl9pPr marL="1828800" algn="ctr" rtl="0" fontAlgn="base">
              <a:spcBef>
                <a:spcPct val="0"/>
              </a:spcBef>
              <a:spcAft>
                <a:spcPct val="0"/>
              </a:spcAft>
              <a:defRPr sz="3200" b="1">
                <a:solidFill>
                  <a:srgbClr val="000000"/>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a:ln>
                  <a:noFill/>
                </a:ln>
                <a:solidFill>
                  <a:srgbClr val="000000"/>
                </a:solidFill>
                <a:effectLst/>
                <a:uLnTx/>
                <a:uFillTx/>
                <a:latin typeface="Verdana"/>
                <a:ea typeface="+mj-ea"/>
                <a:cs typeface="+mj-cs"/>
              </a:rPr>
              <a:t>NP</a:t>
            </a:r>
            <a:r>
              <a:rPr kumimoji="1" lang="zh-CN" altLang="en-US" sz="3200" b="1" i="0" u="none" strike="noStrike" kern="0" cap="none" spc="0" normalizeH="0" baseline="0" noProof="0" dirty="0">
                <a:ln>
                  <a:noFill/>
                </a:ln>
                <a:solidFill>
                  <a:srgbClr val="000000"/>
                </a:solidFill>
                <a:effectLst/>
                <a:uLnTx/>
                <a:uFillTx/>
                <a:latin typeface="Verdana"/>
                <a:ea typeface="+mj-ea"/>
                <a:cs typeface="+mj-cs"/>
              </a:rPr>
              <a:t>问题</a:t>
            </a:r>
          </a:p>
        </p:txBody>
      </p:sp>
    </p:spTree>
    <p:extLst>
      <p:ext uri="{BB962C8B-B14F-4D97-AF65-F5344CB8AC3E}">
        <p14:creationId xmlns:p14="http://schemas.microsoft.com/office/powerpoint/2010/main" val="3767058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归约的含义</a:t>
            </a:r>
          </a:p>
        </p:txBody>
      </p:sp>
      <p:grpSp>
        <p:nvGrpSpPr>
          <p:cNvPr id="26" name="Group 116"/>
          <p:cNvGrpSpPr>
            <a:grpSpLocks/>
          </p:cNvGrpSpPr>
          <p:nvPr/>
        </p:nvGrpSpPr>
        <p:grpSpPr bwMode="auto">
          <a:xfrm>
            <a:off x="1531137" y="2868219"/>
            <a:ext cx="6081725" cy="461965"/>
            <a:chOff x="1150" y="2886"/>
            <a:chExt cx="3831" cy="291"/>
          </a:xfrm>
        </p:grpSpPr>
        <p:pic>
          <p:nvPicPr>
            <p:cNvPr id="27" name="Picture 109" descr="IconTexto_WebDev_028"/>
            <p:cNvPicPr>
              <a:picLocks noChangeAspect="1" noChangeArrowheads="1"/>
            </p:cNvPicPr>
            <p:nvPr/>
          </p:nvPicPr>
          <p:blipFill>
            <a:blip r:embed="rId2" cstate="print"/>
            <a:srcRect/>
            <a:stretch>
              <a:fillRect/>
            </a:stretch>
          </p:blipFill>
          <p:spPr bwMode="auto">
            <a:xfrm>
              <a:off x="1150" y="2886"/>
              <a:ext cx="272" cy="272"/>
            </a:xfrm>
            <a:prstGeom prst="rect">
              <a:avLst/>
            </a:prstGeom>
            <a:noFill/>
          </p:spPr>
        </p:pic>
        <p:sp>
          <p:nvSpPr>
            <p:cNvPr id="28" name="Rectangle 110"/>
            <p:cNvSpPr>
              <a:spLocks noChangeArrowheads="1"/>
            </p:cNvSpPr>
            <p:nvPr/>
          </p:nvSpPr>
          <p:spPr bwMode="auto">
            <a:xfrm>
              <a:off x="1451" y="2925"/>
              <a:ext cx="3530" cy="252"/>
            </a:xfrm>
            <a:prstGeom prst="rect">
              <a:avLst/>
            </a:prstGeom>
            <a:noFill/>
            <a:ln w="9525" algn="ctr">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charset="-122"/>
                  <a:cs typeface="Times New Roman" pitchFamily="18" charset="0"/>
                </a:rPr>
                <a:t>这里“轻易”是指额外工作量是多项式时间的。</a:t>
              </a:r>
            </a:p>
          </p:txBody>
        </p:sp>
        <p:sp>
          <p:nvSpPr>
            <p:cNvPr id="29" name="Rectangle 111"/>
            <p:cNvSpPr>
              <a:spLocks noChangeArrowheads="1"/>
            </p:cNvSpPr>
            <p:nvPr/>
          </p:nvSpPr>
          <p:spPr bwMode="gray">
            <a:xfrm>
              <a:off x="1428" y="2931"/>
              <a:ext cx="45" cy="227"/>
            </a:xfrm>
            <a:prstGeom prst="rect">
              <a:avLst/>
            </a:prstGeom>
            <a:solidFill>
              <a:srgbClr val="FF0000"/>
            </a:solidFill>
            <a:ln w="9525" algn="ctr">
              <a:noFill/>
              <a:miter lim="800000"/>
              <a:headEnd/>
              <a:tailE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292929"/>
                </a:solidFill>
                <a:effectLst/>
                <a:uLnTx/>
                <a:uFillTx/>
                <a:latin typeface="Arial" charset="0"/>
                <a:ea typeface="宋体" charset="-122"/>
                <a:cs typeface="+mn-cs"/>
              </a:endParaRPr>
            </a:p>
          </p:txBody>
        </p:sp>
      </p:grpSp>
      <p:grpSp>
        <p:nvGrpSpPr>
          <p:cNvPr id="33" name="组合 39"/>
          <p:cNvGrpSpPr/>
          <p:nvPr/>
        </p:nvGrpSpPr>
        <p:grpSpPr>
          <a:xfrm>
            <a:off x="323528" y="4709434"/>
            <a:ext cx="6356812" cy="424732"/>
            <a:chOff x="428026" y="2356950"/>
            <a:chExt cx="6356812" cy="424732"/>
          </a:xfrm>
        </p:grpSpPr>
        <p:pic>
          <p:nvPicPr>
            <p:cNvPr id="34" name="Picture 76" descr="IconTexto_WebDev_013"/>
            <p:cNvPicPr>
              <a:picLocks noChangeAspect="1" noChangeArrowheads="1"/>
            </p:cNvPicPr>
            <p:nvPr/>
          </p:nvPicPr>
          <p:blipFill>
            <a:blip r:embed="rId3" cstate="print"/>
            <a:srcRect/>
            <a:stretch>
              <a:fillRect/>
            </a:stretch>
          </p:blipFill>
          <p:spPr bwMode="auto">
            <a:xfrm>
              <a:off x="428026" y="2357429"/>
              <a:ext cx="395624" cy="396093"/>
            </a:xfrm>
            <a:prstGeom prst="rect">
              <a:avLst/>
            </a:prstGeom>
            <a:noFill/>
            <a:ln w="9525">
              <a:noFill/>
              <a:miter lim="800000"/>
              <a:headEnd/>
              <a:tailEnd/>
            </a:ln>
          </p:spPr>
        </p:pic>
        <p:sp>
          <p:nvSpPr>
            <p:cNvPr id="35" name="Text Box 33"/>
            <p:cNvSpPr txBox="1">
              <a:spLocks noChangeArrowheads="1"/>
            </p:cNvSpPr>
            <p:nvPr/>
          </p:nvSpPr>
          <p:spPr bwMode="black">
            <a:xfrm>
              <a:off x="752417" y="2356950"/>
              <a:ext cx="6032421" cy="42473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292929"/>
                  </a:solidFill>
                  <a:effectLst/>
                  <a:uLnTx/>
                  <a:uFillTx/>
                  <a:ea typeface="宋体" charset="-122"/>
                  <a:cs typeface="Arial" pitchFamily="34" charset="0"/>
                </a:rPr>
                <a:t>存在归约关系的两个问题，哪个“更难”？</a:t>
              </a:r>
              <a:endParaRPr kumimoji="0" lang="en-US" altLang="zh-CN" sz="2400" b="1" i="0" u="none" strike="noStrike" kern="1200" cap="none" spc="0" normalizeH="0" baseline="0" noProof="0" dirty="0">
                <a:ln>
                  <a:noFill/>
                </a:ln>
                <a:solidFill>
                  <a:srgbClr val="292929"/>
                </a:solidFill>
                <a:effectLst/>
                <a:uLnTx/>
                <a:uFillTx/>
                <a:ea typeface="宋体" charset="-122"/>
                <a:cs typeface="Arial" pitchFamily="34" charset="0"/>
              </a:endParaRPr>
            </a:p>
          </p:txBody>
        </p:sp>
      </p:grpSp>
      <p:grpSp>
        <p:nvGrpSpPr>
          <p:cNvPr id="36" name="组合 62"/>
          <p:cNvGrpSpPr>
            <a:grpSpLocks/>
          </p:cNvGrpSpPr>
          <p:nvPr/>
        </p:nvGrpSpPr>
        <p:grpSpPr bwMode="auto">
          <a:xfrm>
            <a:off x="620295" y="5189003"/>
            <a:ext cx="2910260" cy="362926"/>
            <a:chOff x="3286116" y="1318204"/>
            <a:chExt cx="2909617" cy="363094"/>
          </a:xfrm>
        </p:grpSpPr>
        <p:sp>
          <p:nvSpPr>
            <p:cNvPr id="37" name="TextBox 37"/>
            <p:cNvSpPr txBox="1">
              <a:spLocks noChangeArrowheads="1"/>
            </p:cNvSpPr>
            <p:nvPr/>
          </p:nvSpPr>
          <p:spPr bwMode="auto">
            <a:xfrm>
              <a:off x="3961072" y="1318204"/>
              <a:ext cx="2234661" cy="349864"/>
            </a:xfrm>
            <a:prstGeom prst="rect">
              <a:avLst/>
            </a:prstGeom>
            <a:noFill/>
            <a:ln w="9525">
              <a:noFill/>
              <a:miter lim="800000"/>
              <a:headEnd/>
              <a:tailEnd/>
            </a:ln>
          </p:spPr>
          <p:txBody>
            <a:bodyPr wrap="none" lIns="36000" tIns="36000" rIns="36000" bIns="36000">
              <a:spAutoFit/>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zh-CN" altLang="en-US" dirty="0">
                  <a:solidFill>
                    <a:schemeClr val="bg2">
                      <a:lumMod val="10000"/>
                    </a:schemeClr>
                  </a:solidFill>
                </a:rPr>
                <a:t>粗略地说，</a:t>
              </a:r>
              <a:r>
                <a:rPr lang="en-US" altLang="zh-CN" dirty="0">
                  <a:solidFill>
                    <a:schemeClr val="bg2">
                      <a:lumMod val="10000"/>
                    </a:schemeClr>
                  </a:solidFill>
                </a:rPr>
                <a:t>B</a:t>
              </a:r>
              <a:r>
                <a:rPr lang="zh-CN" altLang="en-US" dirty="0">
                  <a:solidFill>
                    <a:schemeClr val="bg2">
                      <a:lumMod val="10000"/>
                    </a:schemeClr>
                  </a:solidFill>
                </a:rPr>
                <a:t>比</a:t>
              </a:r>
              <a:r>
                <a:rPr lang="en-US" altLang="zh-CN" dirty="0">
                  <a:solidFill>
                    <a:schemeClr val="bg2">
                      <a:lumMod val="10000"/>
                    </a:schemeClr>
                  </a:solidFill>
                </a:rPr>
                <a:t>A</a:t>
              </a:r>
              <a:r>
                <a:rPr lang="zh-CN" altLang="en-US" dirty="0">
                  <a:solidFill>
                    <a:schemeClr val="bg2">
                      <a:lumMod val="10000"/>
                    </a:schemeClr>
                  </a:solidFill>
                </a:rPr>
                <a:t>难。</a:t>
              </a:r>
              <a:endParaRPr lang="en-US" altLang="zh-CN" dirty="0">
                <a:solidFill>
                  <a:schemeClr val="bg2">
                    <a:lumMod val="10000"/>
                  </a:schemeClr>
                </a:solidFill>
              </a:endParaRPr>
            </a:p>
          </p:txBody>
        </p:sp>
        <p:pic>
          <p:nvPicPr>
            <p:cNvPr id="38" name="Picture 21" descr="coquette_035"/>
            <p:cNvPicPr>
              <a:picLocks noChangeAspect="1" noChangeArrowheads="1"/>
            </p:cNvPicPr>
            <p:nvPr/>
          </p:nvPicPr>
          <p:blipFill>
            <a:blip r:embed="rId4" cstate="print"/>
            <a:srcRect/>
            <a:stretch>
              <a:fillRect/>
            </a:stretch>
          </p:blipFill>
          <p:spPr bwMode="auto">
            <a:xfrm>
              <a:off x="3286116" y="1357298"/>
              <a:ext cx="566777" cy="324000"/>
            </a:xfrm>
            <a:prstGeom prst="rect">
              <a:avLst/>
            </a:prstGeom>
            <a:noFill/>
            <a:ln w="9525">
              <a:noFill/>
              <a:miter lim="800000"/>
              <a:headEnd/>
              <a:tailEnd/>
            </a:ln>
          </p:spPr>
        </p:pic>
      </p:grpSp>
      <p:grpSp>
        <p:nvGrpSpPr>
          <p:cNvPr id="39" name="组合 62"/>
          <p:cNvGrpSpPr>
            <a:grpSpLocks/>
          </p:cNvGrpSpPr>
          <p:nvPr/>
        </p:nvGrpSpPr>
        <p:grpSpPr bwMode="auto">
          <a:xfrm>
            <a:off x="611560" y="5723413"/>
            <a:ext cx="3842324" cy="349702"/>
            <a:chOff x="3286116" y="1337116"/>
            <a:chExt cx="3841474" cy="349864"/>
          </a:xfrm>
        </p:grpSpPr>
        <p:sp>
          <p:nvSpPr>
            <p:cNvPr id="40" name="TextBox 37"/>
            <p:cNvSpPr txBox="1">
              <a:spLocks noChangeArrowheads="1"/>
            </p:cNvSpPr>
            <p:nvPr/>
          </p:nvSpPr>
          <p:spPr bwMode="auto">
            <a:xfrm>
              <a:off x="3969805" y="1337116"/>
              <a:ext cx="3157785" cy="349864"/>
            </a:xfrm>
            <a:prstGeom prst="rect">
              <a:avLst/>
            </a:prstGeom>
            <a:noFill/>
            <a:ln w="9525">
              <a:noFill/>
              <a:miter lim="800000"/>
              <a:headEnd/>
              <a:tailEnd/>
            </a:ln>
          </p:spPr>
          <p:txBody>
            <a:bodyPr wrap="none" lIns="36000" tIns="36000" rIns="36000" bIns="36000">
              <a:spAutoFit/>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zh-CN" altLang="en-US" dirty="0">
                  <a:solidFill>
                    <a:schemeClr val="bg2">
                      <a:lumMod val="10000"/>
                    </a:schemeClr>
                  </a:solidFill>
                </a:rPr>
                <a:t>精确地说，</a:t>
              </a:r>
              <a:r>
                <a:rPr lang="en-US" altLang="zh-CN" dirty="0">
                  <a:solidFill>
                    <a:srgbClr val="FF0000"/>
                  </a:solidFill>
                </a:rPr>
                <a:t>B</a:t>
              </a:r>
              <a:r>
                <a:rPr lang="zh-CN" altLang="en-US" dirty="0">
                  <a:solidFill>
                    <a:srgbClr val="FF0000"/>
                  </a:solidFill>
                </a:rPr>
                <a:t>至少像</a:t>
              </a:r>
              <a:r>
                <a:rPr lang="en-US" altLang="zh-CN" dirty="0">
                  <a:solidFill>
                    <a:srgbClr val="FF0000"/>
                  </a:solidFill>
                </a:rPr>
                <a:t>A</a:t>
              </a:r>
              <a:r>
                <a:rPr lang="zh-CN" altLang="en-US" dirty="0">
                  <a:solidFill>
                    <a:srgbClr val="FF0000"/>
                  </a:solidFill>
                </a:rPr>
                <a:t>那么难</a:t>
              </a:r>
              <a:r>
                <a:rPr lang="zh-CN" altLang="en-US" dirty="0">
                  <a:solidFill>
                    <a:schemeClr val="bg2">
                      <a:lumMod val="10000"/>
                    </a:schemeClr>
                  </a:solidFill>
                </a:rPr>
                <a:t>。</a:t>
              </a:r>
              <a:endParaRPr lang="en-US" altLang="zh-CN" dirty="0">
                <a:solidFill>
                  <a:schemeClr val="bg2">
                    <a:lumMod val="10000"/>
                  </a:schemeClr>
                </a:solidFill>
              </a:endParaRPr>
            </a:p>
          </p:txBody>
        </p:sp>
        <p:pic>
          <p:nvPicPr>
            <p:cNvPr id="41" name="Picture 21" descr="coquette_035"/>
            <p:cNvPicPr>
              <a:picLocks noChangeAspect="1" noChangeArrowheads="1"/>
            </p:cNvPicPr>
            <p:nvPr/>
          </p:nvPicPr>
          <p:blipFill>
            <a:blip r:embed="rId4" cstate="print"/>
            <a:srcRect/>
            <a:stretch>
              <a:fillRect/>
            </a:stretch>
          </p:blipFill>
          <p:spPr bwMode="auto">
            <a:xfrm>
              <a:off x="3286116" y="1357298"/>
              <a:ext cx="566777" cy="324000"/>
            </a:xfrm>
            <a:prstGeom prst="rect">
              <a:avLst/>
            </a:prstGeom>
            <a:noFill/>
            <a:ln w="9525">
              <a:noFill/>
              <a:miter lim="800000"/>
              <a:headEnd/>
              <a:tailEnd/>
            </a:ln>
          </p:spPr>
        </p:pic>
      </p:grpSp>
      <p:grpSp>
        <p:nvGrpSpPr>
          <p:cNvPr id="6" name="组合 5">
            <a:extLst>
              <a:ext uri="{FF2B5EF4-FFF2-40B4-BE49-F238E27FC236}">
                <a16:creationId xmlns:a16="http://schemas.microsoft.com/office/drawing/2014/main" id="{4979D80E-E3C8-460E-B274-814140AFC3A7}"/>
              </a:ext>
            </a:extLst>
          </p:cNvPr>
          <p:cNvGrpSpPr/>
          <p:nvPr/>
        </p:nvGrpSpPr>
        <p:grpSpPr>
          <a:xfrm>
            <a:off x="323528" y="1052735"/>
            <a:ext cx="8280920" cy="1843699"/>
            <a:chOff x="323528" y="1052735"/>
            <a:chExt cx="8280920" cy="1843699"/>
          </a:xfrm>
        </p:grpSpPr>
        <p:grpSp>
          <p:nvGrpSpPr>
            <p:cNvPr id="19" name="组 18"/>
            <p:cNvGrpSpPr/>
            <p:nvPr/>
          </p:nvGrpSpPr>
          <p:grpSpPr>
            <a:xfrm>
              <a:off x="323528" y="1052735"/>
              <a:ext cx="8280920" cy="1843699"/>
              <a:chOff x="611560" y="1196751"/>
              <a:chExt cx="8280920" cy="1843699"/>
            </a:xfrm>
          </p:grpSpPr>
          <p:sp>
            <p:nvSpPr>
              <p:cNvPr id="7" name="矩形 6"/>
              <p:cNvSpPr/>
              <p:nvPr/>
            </p:nvSpPr>
            <p:spPr bwMode="auto">
              <a:xfrm>
                <a:off x="1763688" y="1196751"/>
                <a:ext cx="7128792" cy="1843699"/>
              </a:xfrm>
              <a:prstGeom prst="rect">
                <a:avLst/>
              </a:prstGeom>
              <a:noFill/>
              <a:ln w="19050" cap="flat" cmpd="sng" algn="ctr">
                <a:solidFill>
                  <a:srgbClr val="3333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400" b="1" i="0" u="none" strike="noStrike" kern="1200" cap="none" spc="0" normalizeH="0" baseline="0" noProof="0">
                  <a:ln>
                    <a:noFill/>
                  </a:ln>
                  <a:solidFill>
                    <a:srgbClr val="292929"/>
                  </a:solidFill>
                  <a:effectLst/>
                  <a:uLnTx/>
                  <a:uFillTx/>
                  <a:latin typeface="Arial" charset="0"/>
                  <a:ea typeface="宋体" charset="-122"/>
                  <a:cs typeface="+mn-cs"/>
                </a:endParaRPr>
              </a:p>
            </p:txBody>
          </p:sp>
          <p:sp>
            <p:nvSpPr>
              <p:cNvPr id="8" name="圆角矩形 7"/>
              <p:cNvSpPr/>
              <p:nvPr/>
            </p:nvSpPr>
            <p:spPr bwMode="auto">
              <a:xfrm>
                <a:off x="611560" y="1412776"/>
                <a:ext cx="1856840" cy="576064"/>
              </a:xfrm>
              <a:prstGeom prst="roundRect">
                <a:avLst/>
              </a:prstGeom>
              <a:solidFill>
                <a:srgbClr val="FFFF00"/>
              </a:solidFill>
              <a:ln w="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a:ln>
                      <a:noFill/>
                    </a:ln>
                    <a:solidFill>
                      <a:srgbClr val="292929"/>
                    </a:solidFill>
                    <a:effectLst/>
                    <a:uLnTx/>
                    <a:uFillTx/>
                    <a:latin typeface="Arial" charset="0"/>
                    <a:ea typeface="宋体" charset="-122"/>
                    <a:cs typeface="+mn-cs"/>
                  </a:rPr>
                  <a:t>Reduction</a:t>
                </a:r>
                <a:endParaRPr kumimoji="0" lang="zh-CN" altLang="en-US" sz="2400" b="1" i="0" u="none" strike="noStrike" kern="1200" cap="none" spc="0" normalizeH="0" baseline="0" noProof="0" dirty="0">
                  <a:ln>
                    <a:noFill/>
                  </a:ln>
                  <a:solidFill>
                    <a:srgbClr val="292929"/>
                  </a:solidFill>
                  <a:effectLst/>
                  <a:uLnTx/>
                  <a:uFillTx/>
                  <a:latin typeface="Arial" charset="0"/>
                  <a:ea typeface="宋体" charset="-122"/>
                  <a:cs typeface="+mn-cs"/>
                </a:endParaRPr>
              </a:p>
            </p:txBody>
          </p:sp>
          <p:grpSp>
            <p:nvGrpSpPr>
              <p:cNvPr id="9" name="组合 42"/>
              <p:cNvGrpSpPr>
                <a:grpSpLocks/>
              </p:cNvGrpSpPr>
              <p:nvPr/>
            </p:nvGrpSpPr>
            <p:grpSpPr bwMode="auto">
              <a:xfrm>
                <a:off x="2711748" y="1423140"/>
                <a:ext cx="6029993" cy="1213402"/>
                <a:chOff x="428596" y="2928934"/>
                <a:chExt cx="6027196" cy="1215235"/>
              </a:xfrm>
            </p:grpSpPr>
            <p:sp>
              <p:nvSpPr>
                <p:cNvPr id="15" name="TextBox 18"/>
                <p:cNvSpPr txBox="1">
                  <a:spLocks noChangeArrowheads="1"/>
                </p:cNvSpPr>
                <p:nvPr/>
              </p:nvSpPr>
              <p:spPr bwMode="auto">
                <a:xfrm>
                  <a:off x="627808" y="3454873"/>
                  <a:ext cx="5827984" cy="689296"/>
                </a:xfrm>
                <a:prstGeom prst="rect">
                  <a:avLst/>
                </a:prstGeom>
                <a:noFill/>
                <a:ln w="9525">
                  <a:noFill/>
                  <a:miter lim="800000"/>
                  <a:headEnd/>
                  <a:tailEnd/>
                </a:ln>
              </p:spPr>
              <p:txBody>
                <a:bodyPr wrap="square" lIns="36000" tIns="36000" rIns="36000" bIns="36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292929"/>
                      </a:solidFill>
                      <a:effectLst/>
                      <a:uLnTx/>
                      <a:uFillTx/>
                      <a:latin typeface="Arial" charset="0"/>
                      <a:ea typeface="宋体" charset="-122"/>
                      <a:cs typeface="+mn-cs"/>
                    </a:rPr>
                    <a:t>“</a:t>
                  </a:r>
                  <a:r>
                    <a:rPr kumimoji="0" lang="zh-CN" altLang="en-US" sz="2000" b="1" i="0" u="none" strike="noStrike" kern="1200" cap="none" spc="0" normalizeH="0" baseline="0" noProof="0" dirty="0">
                      <a:ln>
                        <a:noFill/>
                      </a:ln>
                      <a:solidFill>
                        <a:srgbClr val="FF0000"/>
                      </a:solidFill>
                      <a:effectLst/>
                      <a:uLnTx/>
                      <a:uFillTx/>
                      <a:latin typeface="Arial" charset="0"/>
                      <a:ea typeface="宋体" charset="-122"/>
                      <a:cs typeface="+mn-cs"/>
                    </a:rPr>
                    <a:t>问题</a:t>
                  </a:r>
                  <a:r>
                    <a:rPr kumimoji="0" lang="en-US" altLang="zh-CN" sz="2000" b="1" i="0" u="none" strike="noStrike" kern="1200" cap="none" spc="0" normalizeH="0" baseline="0" noProof="0" dirty="0">
                      <a:ln>
                        <a:noFill/>
                      </a:ln>
                      <a:solidFill>
                        <a:srgbClr val="FF0000"/>
                      </a:solidFill>
                      <a:effectLst/>
                      <a:uLnTx/>
                      <a:uFillTx/>
                      <a:latin typeface="Arial" charset="0"/>
                      <a:ea typeface="宋体" charset="-122"/>
                      <a:cs typeface="+mn-cs"/>
                    </a:rPr>
                    <a:t>A</a:t>
                  </a:r>
                  <a:r>
                    <a:rPr kumimoji="0" lang="zh-CN" altLang="en-US" sz="2000" b="1" i="0" u="none" strike="noStrike" kern="1200" cap="none" spc="0" normalizeH="0" baseline="0" noProof="0" dirty="0">
                      <a:ln>
                        <a:noFill/>
                      </a:ln>
                      <a:solidFill>
                        <a:srgbClr val="FF0000"/>
                      </a:solidFill>
                      <a:effectLst/>
                      <a:uLnTx/>
                      <a:uFillTx/>
                      <a:latin typeface="Arial" charset="0"/>
                      <a:ea typeface="宋体" charset="-122"/>
                      <a:cs typeface="+mn-cs"/>
                    </a:rPr>
                    <a:t>归约为问题</a:t>
                  </a:r>
                  <a:r>
                    <a:rPr kumimoji="0" lang="en-US" altLang="zh-CN" sz="2000" b="1" i="0" u="none" strike="noStrike" kern="1200" cap="none" spc="0" normalizeH="0" baseline="0" noProof="0" dirty="0">
                      <a:ln>
                        <a:noFill/>
                      </a:ln>
                      <a:solidFill>
                        <a:srgbClr val="FF0000"/>
                      </a:solidFill>
                      <a:effectLst/>
                      <a:uLnTx/>
                      <a:uFillTx/>
                      <a:latin typeface="Arial" charset="0"/>
                      <a:ea typeface="宋体" charset="-122"/>
                      <a:cs typeface="+mn-cs"/>
                    </a:rPr>
                    <a:t>B</a:t>
                  </a:r>
                  <a:r>
                    <a:rPr kumimoji="0" lang="zh-CN" altLang="en-US" sz="2000" b="1" i="0" u="none" strike="noStrike" kern="1200" cap="none" spc="0" normalizeH="0" baseline="0" noProof="0" dirty="0">
                      <a:ln>
                        <a:noFill/>
                      </a:ln>
                      <a:solidFill>
                        <a:srgbClr val="292929"/>
                      </a:solidFill>
                      <a:effectLst/>
                      <a:uLnTx/>
                      <a:uFillTx/>
                      <a:latin typeface="Arial" charset="0"/>
                      <a:ea typeface="宋体" charset="-122"/>
                      <a:cs typeface="+mn-cs"/>
                    </a:rPr>
                    <a:t>” ：</a:t>
                  </a:r>
                  <a:r>
                    <a:rPr lang="en-US" altLang="zh-CN" sz="2000" dirty="0">
                      <a:solidFill>
                        <a:srgbClr val="292929"/>
                      </a:solidFill>
                      <a:latin typeface="Arial" charset="0"/>
                      <a:ea typeface="宋体" charset="-122"/>
                    </a:rPr>
                    <a:t>A</a:t>
                  </a:r>
                  <a:r>
                    <a:rPr kumimoji="0" lang="en-US" altLang="zh-CN" sz="2000" i="0" u="none" strike="noStrike" kern="1200" cap="none" spc="0" normalizeH="0" baseline="0" noProof="0" dirty="0">
                      <a:ln>
                        <a:noFill/>
                      </a:ln>
                      <a:solidFill>
                        <a:srgbClr val="292929"/>
                      </a:solidFill>
                      <a:effectLst/>
                      <a:uLnTx/>
                      <a:uFillTx/>
                      <a:latin typeface="Arial" charset="0"/>
                      <a:ea typeface="宋体" charset="-122"/>
                      <a:cs typeface="+mn-cs"/>
                    </a:rPr>
                    <a:t> is reducible to B or B is the reduction from A or A is reduced to B. </a:t>
                  </a:r>
                  <a:endParaRPr kumimoji="0" lang="zh-CN" altLang="zh-CN" sz="2000" i="0" u="none" strike="noStrike" kern="1200" cap="none" spc="0" normalizeH="0" baseline="0" noProof="0" dirty="0">
                    <a:ln>
                      <a:noFill/>
                    </a:ln>
                    <a:solidFill>
                      <a:srgbClr val="292929"/>
                    </a:solidFill>
                    <a:effectLst/>
                    <a:uLnTx/>
                    <a:uFillTx/>
                    <a:latin typeface="Arial" charset="0"/>
                    <a:ea typeface="宋体" charset="-122"/>
                    <a:cs typeface="+mn-cs"/>
                  </a:endParaRPr>
                </a:p>
              </p:txBody>
            </p:sp>
            <p:grpSp>
              <p:nvGrpSpPr>
                <p:cNvPr id="16" name="Group 20"/>
                <p:cNvGrpSpPr>
                  <a:grpSpLocks/>
                </p:cNvGrpSpPr>
                <p:nvPr/>
              </p:nvGrpSpPr>
              <p:grpSpPr bwMode="auto">
                <a:xfrm>
                  <a:off x="428596" y="2928934"/>
                  <a:ext cx="128588" cy="128588"/>
                  <a:chOff x="2995" y="1525"/>
                  <a:chExt cx="112" cy="112"/>
                </a:xfrm>
              </p:grpSpPr>
              <p:sp>
                <p:nvSpPr>
                  <p:cNvPr id="17"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292929"/>
                      </a:solidFill>
                      <a:effectLst/>
                      <a:uLnTx/>
                      <a:uFillTx/>
                      <a:latin typeface="Times New Roman" pitchFamily="18" charset="0"/>
                      <a:ea typeface="宋体" charset="-122"/>
                      <a:cs typeface="Times New Roman" pitchFamily="18" charset="0"/>
                    </a:endParaRPr>
                  </a:p>
                </p:txBody>
              </p:sp>
              <p:sp>
                <p:nvSpPr>
                  <p:cNvPr id="18"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292929"/>
                      </a:solidFill>
                      <a:effectLst/>
                      <a:uLnTx/>
                      <a:uFillTx/>
                      <a:latin typeface="Times New Roman" pitchFamily="18" charset="0"/>
                      <a:ea typeface="宋体" charset="-122"/>
                      <a:cs typeface="Times New Roman" pitchFamily="18" charset="0"/>
                    </a:endParaRPr>
                  </a:p>
                </p:txBody>
              </p:sp>
            </p:grpSp>
          </p:grpSp>
          <p:grpSp>
            <p:nvGrpSpPr>
              <p:cNvPr id="10" name="组合 42"/>
              <p:cNvGrpSpPr>
                <a:grpSpLocks/>
              </p:cNvGrpSpPr>
              <p:nvPr/>
            </p:nvGrpSpPr>
            <p:grpSpPr bwMode="auto">
              <a:xfrm>
                <a:off x="2715679" y="1225393"/>
                <a:ext cx="5945913" cy="977162"/>
                <a:chOff x="433188" y="2349836"/>
                <a:chExt cx="5943155" cy="978639"/>
              </a:xfrm>
            </p:grpSpPr>
            <p:sp>
              <p:nvSpPr>
                <p:cNvPr id="11" name="TextBox 18"/>
                <p:cNvSpPr txBox="1">
                  <a:spLocks noChangeArrowheads="1"/>
                </p:cNvSpPr>
                <p:nvPr/>
              </p:nvSpPr>
              <p:spPr bwMode="auto">
                <a:xfrm>
                  <a:off x="628471" y="2349836"/>
                  <a:ext cx="5747872" cy="689296"/>
                </a:xfrm>
                <a:prstGeom prst="rect">
                  <a:avLst/>
                </a:prstGeom>
                <a:noFill/>
                <a:ln w="9525">
                  <a:noFill/>
                  <a:miter lim="800000"/>
                  <a:headEnd/>
                  <a:tailEnd/>
                </a:ln>
              </p:spPr>
              <p:txBody>
                <a:bodyPr wrap="none" lIns="36000" tIns="36000" rIns="36000" bIns="36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292929"/>
                      </a:solidFill>
                      <a:effectLst/>
                      <a:uLnTx/>
                      <a:uFillTx/>
                      <a:latin typeface="Arial" charset="0"/>
                      <a:ea typeface="宋体" charset="-122"/>
                      <a:cs typeface="+mn-cs"/>
                    </a:rPr>
                    <a:t>在可计算性理论与计算复杂性理论中，所谓的归约</a:t>
                  </a:r>
                  <a:endParaRPr kumimoji="0" lang="en-US" altLang="zh-CN" sz="2000" b="1" i="0" u="none" strike="noStrike" kern="1200" cap="none" spc="0" normalizeH="0" baseline="0" noProof="0" dirty="0">
                    <a:ln>
                      <a:noFill/>
                    </a:ln>
                    <a:solidFill>
                      <a:srgbClr val="292929"/>
                    </a:solidFill>
                    <a:effectLst/>
                    <a:uLnTx/>
                    <a:uFillTx/>
                    <a:latin typeface="Arial" charset="0"/>
                    <a:ea typeface="宋体"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292929"/>
                      </a:solidFill>
                      <a:effectLst/>
                      <a:uLnTx/>
                      <a:uFillTx/>
                      <a:latin typeface="Arial" charset="0"/>
                      <a:ea typeface="宋体" charset="-122"/>
                      <a:cs typeface="+mn-cs"/>
                    </a:rPr>
                    <a:t>是将某个计算问题转换为另一个问题的过程。</a:t>
                  </a:r>
                  <a:endParaRPr kumimoji="0" lang="zh-CN" altLang="zh-CN" sz="2000" b="1" i="0" u="none" strike="noStrike" kern="1200" cap="none" spc="0" normalizeH="0" baseline="0" noProof="0" dirty="0">
                    <a:ln>
                      <a:noFill/>
                    </a:ln>
                    <a:solidFill>
                      <a:srgbClr val="292929"/>
                    </a:solidFill>
                    <a:effectLst/>
                    <a:uLnTx/>
                    <a:uFillTx/>
                    <a:latin typeface="Arial" charset="0"/>
                    <a:ea typeface="宋体" charset="-122"/>
                    <a:cs typeface="+mn-cs"/>
                  </a:endParaRPr>
                </a:p>
              </p:txBody>
            </p:sp>
            <p:grpSp>
              <p:nvGrpSpPr>
                <p:cNvPr id="12" name="Group 20"/>
                <p:cNvGrpSpPr>
                  <a:grpSpLocks/>
                </p:cNvGrpSpPr>
                <p:nvPr/>
              </p:nvGrpSpPr>
              <p:grpSpPr bwMode="auto">
                <a:xfrm>
                  <a:off x="433188" y="3199887"/>
                  <a:ext cx="128588" cy="128588"/>
                  <a:chOff x="2999" y="1761"/>
                  <a:chExt cx="112" cy="112"/>
                </a:xfrm>
              </p:grpSpPr>
              <p:sp>
                <p:nvSpPr>
                  <p:cNvPr id="13" name="AutoShape 21"/>
                  <p:cNvSpPr>
                    <a:spLocks noChangeArrowheads="1"/>
                  </p:cNvSpPr>
                  <p:nvPr/>
                </p:nvSpPr>
                <p:spPr bwMode="gray">
                  <a:xfrm>
                    <a:off x="2999" y="1761"/>
                    <a:ext cx="112" cy="112"/>
                  </a:xfrm>
                  <a:prstGeom prst="roundRect">
                    <a:avLst>
                      <a:gd name="adj" fmla="val 16667"/>
                    </a:avLst>
                  </a:prstGeom>
                  <a:noFill/>
                  <a:ln w="9525">
                    <a:solidFill>
                      <a:schemeClr val="tx2"/>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292929"/>
                      </a:solidFill>
                      <a:effectLst/>
                      <a:uLnTx/>
                      <a:uFillTx/>
                      <a:latin typeface="Times New Roman" pitchFamily="18" charset="0"/>
                      <a:ea typeface="宋体" charset="-122"/>
                      <a:cs typeface="Times New Roman" pitchFamily="18" charset="0"/>
                    </a:endParaRPr>
                  </a:p>
                </p:txBody>
              </p:sp>
              <p:sp>
                <p:nvSpPr>
                  <p:cNvPr id="14" name="AutoShape 22"/>
                  <p:cNvSpPr>
                    <a:spLocks noChangeArrowheads="1"/>
                  </p:cNvSpPr>
                  <p:nvPr/>
                </p:nvSpPr>
                <p:spPr bwMode="gray">
                  <a:xfrm>
                    <a:off x="3029" y="1776"/>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292929"/>
                      </a:solidFill>
                      <a:effectLst/>
                      <a:uLnTx/>
                      <a:uFillTx/>
                      <a:latin typeface="Times New Roman" pitchFamily="18" charset="0"/>
                      <a:ea typeface="宋体" charset="-122"/>
                      <a:cs typeface="Times New Roman" pitchFamily="18" charset="0"/>
                    </a:endParaRPr>
                  </a:p>
                </p:txBody>
              </p:sp>
            </p:grpSp>
          </p:grpSp>
        </p:grpSp>
        <p:sp>
          <p:nvSpPr>
            <p:cNvPr id="32" name="Text Box 33"/>
            <p:cNvSpPr txBox="1">
              <a:spLocks noChangeArrowheads="1"/>
            </p:cNvSpPr>
            <p:nvPr/>
          </p:nvSpPr>
          <p:spPr bwMode="black">
            <a:xfrm>
              <a:off x="1872055" y="2184795"/>
              <a:ext cx="184731" cy="36933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altLang="zh-CN" sz="2000" b="1" i="0" u="none" strike="noStrike" kern="1200" cap="none" spc="0" normalizeH="0" baseline="0" noProof="0" dirty="0">
                <a:ln>
                  <a:noFill/>
                </a:ln>
                <a:solidFill>
                  <a:srgbClr val="292929"/>
                </a:solidFill>
                <a:effectLst/>
                <a:uLnTx/>
                <a:uFillTx/>
                <a:latin typeface="Arial" pitchFamily="34" charset="0"/>
                <a:ea typeface="宋体" charset="-122"/>
                <a:cs typeface="Arial" pitchFamily="34" charset="0"/>
              </a:endParaRPr>
            </a:p>
          </p:txBody>
        </p:sp>
        <p:sp>
          <p:nvSpPr>
            <p:cNvPr id="45" name="TextBox 18">
              <a:extLst>
                <a:ext uri="{FF2B5EF4-FFF2-40B4-BE49-F238E27FC236}">
                  <a16:creationId xmlns:a16="http://schemas.microsoft.com/office/drawing/2014/main" id="{0DCC2ACA-E28D-4BDC-BA86-30E361B41F08}"/>
                </a:ext>
              </a:extLst>
            </p:cNvPr>
            <p:cNvSpPr txBox="1">
              <a:spLocks noChangeArrowheads="1"/>
            </p:cNvSpPr>
            <p:nvPr/>
          </p:nvSpPr>
          <p:spPr bwMode="auto">
            <a:xfrm>
              <a:off x="2698389" y="2491451"/>
              <a:ext cx="5830690" cy="380480"/>
            </a:xfrm>
            <a:prstGeom prst="rect">
              <a:avLst/>
            </a:prstGeom>
            <a:noFill/>
            <a:ln w="9525">
              <a:noFill/>
              <a:miter lim="800000"/>
              <a:headEnd/>
              <a:tailEnd/>
            </a:ln>
          </p:spPr>
          <p:txBody>
            <a:bodyPr wrap="none" lIns="36000" tIns="36000" rIns="36000" bIns="360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292929"/>
                  </a:solidFill>
                  <a:effectLst/>
                  <a:uLnTx/>
                  <a:uFillTx/>
                  <a:latin typeface="Arial" charset="0"/>
                  <a:ea typeface="宋体" charset="-122"/>
                  <a:cs typeface="+mn-cs"/>
                </a:rPr>
                <a:t>给定一个求解</a:t>
              </a:r>
              <a:r>
                <a:rPr kumimoji="0" lang="en-US" altLang="zh-CN" sz="2000" b="1" i="0" u="none" strike="noStrike" kern="1200" cap="none" spc="0" normalizeH="0" baseline="0" noProof="0" dirty="0">
                  <a:ln>
                    <a:noFill/>
                  </a:ln>
                  <a:solidFill>
                    <a:srgbClr val="292929"/>
                  </a:solidFill>
                  <a:effectLst/>
                  <a:uLnTx/>
                  <a:uFillTx/>
                  <a:latin typeface="Arial" charset="0"/>
                  <a:ea typeface="宋体" charset="-122"/>
                  <a:cs typeface="+mn-cs"/>
                </a:rPr>
                <a:t>B</a:t>
              </a:r>
              <a:r>
                <a:rPr kumimoji="0" lang="zh-CN" altLang="en-US" sz="2000" b="1" i="0" u="none" strike="noStrike" kern="1200" cap="none" spc="0" normalizeH="0" baseline="0" noProof="0" dirty="0">
                  <a:ln>
                    <a:noFill/>
                  </a:ln>
                  <a:solidFill>
                    <a:srgbClr val="292929"/>
                  </a:solidFill>
                  <a:effectLst/>
                  <a:uLnTx/>
                  <a:uFillTx/>
                  <a:latin typeface="Arial" charset="0"/>
                  <a:ea typeface="宋体" charset="-122"/>
                  <a:cs typeface="+mn-cs"/>
                </a:rPr>
                <a:t>的算法，我可以“轻易地”求解</a:t>
              </a:r>
              <a:r>
                <a:rPr kumimoji="0" lang="en-US" altLang="zh-CN" sz="2000" b="1" i="0" u="none" strike="noStrike" kern="1200" cap="none" spc="0" normalizeH="0" baseline="0" noProof="0" dirty="0">
                  <a:ln>
                    <a:noFill/>
                  </a:ln>
                  <a:solidFill>
                    <a:srgbClr val="292929"/>
                  </a:solidFill>
                  <a:effectLst/>
                  <a:uLnTx/>
                  <a:uFillTx/>
                  <a:latin typeface="Arial" charset="0"/>
                  <a:ea typeface="宋体" charset="-122"/>
                  <a:cs typeface="+mn-cs"/>
                </a:rPr>
                <a:t>A</a:t>
              </a:r>
              <a:r>
                <a:rPr kumimoji="0" lang="zh-CN" altLang="en-US" sz="2000" b="1" i="0" u="none" strike="noStrike" kern="1200" cap="none" spc="0" normalizeH="0" baseline="0" noProof="0" dirty="0">
                  <a:ln>
                    <a:noFill/>
                  </a:ln>
                  <a:solidFill>
                    <a:srgbClr val="292929"/>
                  </a:solidFill>
                  <a:effectLst/>
                  <a:uLnTx/>
                  <a:uFillTx/>
                  <a:latin typeface="Arial" charset="0"/>
                  <a:ea typeface="宋体" charset="-122"/>
                  <a:cs typeface="+mn-cs"/>
                </a:rPr>
                <a:t>。</a:t>
              </a:r>
              <a:endParaRPr kumimoji="0" lang="zh-CN" altLang="zh-CN" sz="2000" b="1" i="0" u="none" strike="noStrike" kern="1200" cap="none" spc="0" normalizeH="0" baseline="0" noProof="0" dirty="0">
                <a:ln>
                  <a:noFill/>
                </a:ln>
                <a:solidFill>
                  <a:srgbClr val="292929"/>
                </a:solidFill>
                <a:effectLst/>
                <a:uLnTx/>
                <a:uFillTx/>
                <a:latin typeface="Arial" charset="0"/>
                <a:ea typeface="宋体" charset="-122"/>
                <a:cs typeface="+mn-cs"/>
              </a:endParaRPr>
            </a:p>
          </p:txBody>
        </p:sp>
        <p:grpSp>
          <p:nvGrpSpPr>
            <p:cNvPr id="3" name="组合 2">
              <a:extLst>
                <a:ext uri="{FF2B5EF4-FFF2-40B4-BE49-F238E27FC236}">
                  <a16:creationId xmlns:a16="http://schemas.microsoft.com/office/drawing/2014/main" id="{2B67F55A-02B0-4CA9-A789-159C13AC20BF}"/>
                </a:ext>
              </a:extLst>
            </p:cNvPr>
            <p:cNvGrpSpPr/>
            <p:nvPr/>
          </p:nvGrpSpPr>
          <p:grpSpPr>
            <a:xfrm>
              <a:off x="2423716" y="2634438"/>
              <a:ext cx="128648" cy="128394"/>
              <a:chOff x="2423716" y="2670111"/>
              <a:chExt cx="128648" cy="128394"/>
            </a:xfrm>
          </p:grpSpPr>
          <p:sp>
            <p:nvSpPr>
              <p:cNvPr id="46" name="AutoShape 22">
                <a:extLst>
                  <a:ext uri="{FF2B5EF4-FFF2-40B4-BE49-F238E27FC236}">
                    <a16:creationId xmlns:a16="http://schemas.microsoft.com/office/drawing/2014/main" id="{AF650BAF-0F6B-43BE-9D0A-BA51F6783436}"/>
                  </a:ext>
                </a:extLst>
              </p:cNvPr>
              <p:cNvSpPr>
                <a:spLocks noChangeArrowheads="1"/>
              </p:cNvSpPr>
              <p:nvPr/>
            </p:nvSpPr>
            <p:spPr bwMode="gray">
              <a:xfrm>
                <a:off x="2463299" y="2684830"/>
                <a:ext cx="68919" cy="92856"/>
              </a:xfrm>
              <a:prstGeom prst="homePlate">
                <a:avLst>
                  <a:gd name="adj" fmla="val 100000"/>
                </a:avLst>
              </a:prstGeom>
              <a:solidFill>
                <a:schemeClr val="tx2"/>
              </a:solidFill>
              <a:ln w="9525">
                <a:solidFill>
                  <a:schemeClr val="tx2"/>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dirty="0">
                  <a:ln>
                    <a:noFill/>
                  </a:ln>
                  <a:solidFill>
                    <a:srgbClr val="292929"/>
                  </a:solidFill>
                  <a:effectLst/>
                  <a:uLnTx/>
                  <a:uFillTx/>
                  <a:latin typeface="Times New Roman" pitchFamily="18" charset="0"/>
                  <a:ea typeface="宋体" charset="-122"/>
                  <a:cs typeface="Times New Roman" pitchFamily="18" charset="0"/>
                </a:endParaRPr>
              </a:p>
            </p:txBody>
          </p:sp>
          <p:sp>
            <p:nvSpPr>
              <p:cNvPr id="47" name="AutoShape 21">
                <a:extLst>
                  <a:ext uri="{FF2B5EF4-FFF2-40B4-BE49-F238E27FC236}">
                    <a16:creationId xmlns:a16="http://schemas.microsoft.com/office/drawing/2014/main" id="{7BD311D9-0BAE-4769-BB79-297187CC6CA2}"/>
                  </a:ext>
                </a:extLst>
              </p:cNvPr>
              <p:cNvSpPr>
                <a:spLocks noChangeArrowheads="1"/>
              </p:cNvSpPr>
              <p:nvPr/>
            </p:nvSpPr>
            <p:spPr bwMode="gray">
              <a:xfrm>
                <a:off x="2423716" y="2670111"/>
                <a:ext cx="128648" cy="128394"/>
              </a:xfrm>
              <a:prstGeom prst="roundRect">
                <a:avLst>
                  <a:gd name="adj" fmla="val 16667"/>
                </a:avLst>
              </a:prstGeom>
              <a:noFill/>
              <a:ln w="9525">
                <a:solidFill>
                  <a:schemeClr val="tx2"/>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292929"/>
                  </a:solidFill>
                  <a:effectLst/>
                  <a:uLnTx/>
                  <a:uFillTx/>
                  <a:latin typeface="Times New Roman" pitchFamily="18" charset="0"/>
                  <a:ea typeface="宋体" charset="-122"/>
                  <a:cs typeface="Times New Roman" pitchFamily="18" charset="0"/>
                </a:endParaRPr>
              </a:p>
            </p:txBody>
          </p:sp>
        </p:grpSp>
      </p:grpSp>
      <p:grpSp>
        <p:nvGrpSpPr>
          <p:cNvPr id="62" name="组合 61">
            <a:extLst>
              <a:ext uri="{FF2B5EF4-FFF2-40B4-BE49-F238E27FC236}">
                <a16:creationId xmlns:a16="http://schemas.microsoft.com/office/drawing/2014/main" id="{2862B1CF-3FCC-4FC2-A68C-FD4BFBD1A091}"/>
              </a:ext>
            </a:extLst>
          </p:cNvPr>
          <p:cNvGrpSpPr/>
          <p:nvPr/>
        </p:nvGrpSpPr>
        <p:grpSpPr>
          <a:xfrm>
            <a:off x="611559" y="3373380"/>
            <a:ext cx="7810686" cy="1262695"/>
            <a:chOff x="611559" y="3373380"/>
            <a:chExt cx="7810686" cy="1262695"/>
          </a:xfrm>
        </p:grpSpPr>
        <p:grpSp>
          <p:nvGrpSpPr>
            <p:cNvPr id="60" name="组合 59">
              <a:extLst>
                <a:ext uri="{FF2B5EF4-FFF2-40B4-BE49-F238E27FC236}">
                  <a16:creationId xmlns:a16="http://schemas.microsoft.com/office/drawing/2014/main" id="{C1AF9AEE-A507-4094-88B3-F40C3675D7A3}"/>
                </a:ext>
              </a:extLst>
            </p:cNvPr>
            <p:cNvGrpSpPr/>
            <p:nvPr/>
          </p:nvGrpSpPr>
          <p:grpSpPr>
            <a:xfrm>
              <a:off x="1199591" y="3373380"/>
              <a:ext cx="7222654" cy="1262695"/>
              <a:chOff x="1344808" y="3341999"/>
              <a:chExt cx="7222654" cy="1262695"/>
            </a:xfrm>
          </p:grpSpPr>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55B37774-9966-4D37-9678-DA9DB67C2AA2}"/>
                      </a:ext>
                    </a:extLst>
                  </p:cNvPr>
                  <p:cNvSpPr txBox="1"/>
                  <p:nvPr/>
                </p:nvSpPr>
                <p:spPr>
                  <a:xfrm>
                    <a:off x="1344808" y="3341999"/>
                    <a:ext cx="7222654" cy="873060"/>
                  </a:xfrm>
                  <a:prstGeom prst="rect">
                    <a:avLst/>
                  </a:prstGeom>
                  <a:noFill/>
                  <a:ln w="12700">
                    <a:noFill/>
                  </a:ln>
                </p:spPr>
                <p:txBody>
                  <a:bodyPr wrap="square">
                    <a:spAutoFit/>
                  </a:bodyPr>
                  <a:lstStyle/>
                  <a:p>
                    <a:pPr>
                      <a:lnSpc>
                        <a:spcPct val="150000"/>
                      </a:lnSpc>
                    </a:pPr>
                    <a:r>
                      <a:rPr lang="zh-CN" altLang="en-US" dirty="0">
                        <a:solidFill>
                          <a:schemeClr val="bg2">
                            <a:lumMod val="10000"/>
                          </a:schemeClr>
                        </a:solidFill>
                      </a:rPr>
                      <a:t>对于问题</a:t>
                    </a:r>
                    <a14:m>
                      <m:oMath xmlns:m="http://schemas.openxmlformats.org/officeDocument/2006/math">
                        <m:r>
                          <a:rPr lang="en-US" altLang="zh-CN" b="0" i="0" smtClean="0">
                            <a:solidFill>
                              <a:schemeClr val="bg2">
                                <a:lumMod val="10000"/>
                              </a:schemeClr>
                            </a:solidFill>
                            <a:latin typeface="Cambria Math" panose="02040503050406030204" pitchFamily="18" charset="0"/>
                          </a:rPr>
                          <m:t> </m:t>
                        </m:r>
                        <m:r>
                          <a:rPr lang="en-US" altLang="zh-CN" b="0" i="1" smtClean="0">
                            <a:solidFill>
                              <a:schemeClr val="bg2">
                                <a:lumMod val="10000"/>
                              </a:schemeClr>
                            </a:solidFill>
                            <a:latin typeface="Cambria Math" panose="02040503050406030204" pitchFamily="18" charset="0"/>
                          </a:rPr>
                          <m:t>𝐴</m:t>
                        </m:r>
                        <m:r>
                          <a:rPr lang="en-US" altLang="zh-CN" b="0" i="1" smtClean="0">
                            <a:solidFill>
                              <a:schemeClr val="bg2">
                                <a:lumMod val="10000"/>
                              </a:schemeClr>
                            </a:solidFill>
                            <a:latin typeface="Cambria Math" panose="02040503050406030204" pitchFamily="18" charset="0"/>
                          </a:rPr>
                          <m:t> </m:t>
                        </m:r>
                      </m:oMath>
                    </a14:m>
                    <a:r>
                      <a:rPr lang="zh-CN" altLang="en-US" dirty="0">
                        <a:solidFill>
                          <a:schemeClr val="bg2">
                            <a:lumMod val="10000"/>
                          </a:schemeClr>
                        </a:solidFill>
                      </a:rPr>
                      <a:t>和问题</a:t>
                    </a:r>
                    <a14:m>
                      <m:oMath xmlns:m="http://schemas.openxmlformats.org/officeDocument/2006/math">
                        <m:r>
                          <a:rPr lang="en-US" altLang="zh-CN" b="0" i="0" smtClean="0">
                            <a:solidFill>
                              <a:schemeClr val="bg2">
                                <a:lumMod val="10000"/>
                              </a:schemeClr>
                            </a:solidFill>
                            <a:latin typeface="Cambria Math" panose="02040503050406030204" pitchFamily="18" charset="0"/>
                          </a:rPr>
                          <m:t> </m:t>
                        </m:r>
                        <m:r>
                          <a:rPr lang="en-US" altLang="zh-CN" b="0" i="1" smtClean="0">
                            <a:solidFill>
                              <a:schemeClr val="bg2">
                                <a:lumMod val="10000"/>
                              </a:schemeClr>
                            </a:solidFill>
                            <a:latin typeface="Cambria Math" panose="02040503050406030204" pitchFamily="18" charset="0"/>
                          </a:rPr>
                          <m:t>𝐵</m:t>
                        </m:r>
                      </m:oMath>
                    </a14:m>
                    <a:r>
                      <a:rPr lang="zh-CN" altLang="en-US" dirty="0">
                        <a:solidFill>
                          <a:schemeClr val="bg2">
                            <a:lumMod val="10000"/>
                          </a:schemeClr>
                        </a:solidFill>
                      </a:rPr>
                      <a:t>，如果存在一个可以计算的函数</a:t>
                    </a:r>
                    <a14:m>
                      <m:oMath xmlns:m="http://schemas.openxmlformats.org/officeDocument/2006/math">
                        <m:r>
                          <a:rPr lang="en-US" altLang="zh-CN" b="0" i="1" smtClean="0">
                            <a:solidFill>
                              <a:schemeClr val="bg2">
                                <a:lumMod val="10000"/>
                              </a:schemeClr>
                            </a:solidFill>
                            <a:latin typeface="Cambria Math" panose="02040503050406030204" pitchFamily="18" charset="0"/>
                          </a:rPr>
                          <m:t>𝑓</m:t>
                        </m:r>
                      </m:oMath>
                    </a14:m>
                    <a:r>
                      <a:rPr lang="en-US" altLang="zh-CN" dirty="0">
                        <a:solidFill>
                          <a:schemeClr val="bg2">
                            <a:lumMod val="10000"/>
                          </a:schemeClr>
                        </a:solidFill>
                      </a:rPr>
                      <a:t>,</a:t>
                    </a:r>
                    <a:r>
                      <a:rPr lang="zh-CN" altLang="en-US" dirty="0">
                        <a:solidFill>
                          <a:schemeClr val="bg2">
                            <a:lumMod val="10000"/>
                          </a:schemeClr>
                        </a:solidFill>
                      </a:rPr>
                      <a:t>使得对于任意问题 </a:t>
                    </a:r>
                    <a14:m>
                      <m:oMath xmlns:m="http://schemas.openxmlformats.org/officeDocument/2006/math">
                        <m:r>
                          <a:rPr lang="en-US" altLang="zh-CN" b="0" i="1" smtClean="0">
                            <a:solidFill>
                              <a:schemeClr val="bg2">
                                <a:lumMod val="10000"/>
                              </a:schemeClr>
                            </a:solidFill>
                            <a:latin typeface="Cambria Math" panose="02040503050406030204" pitchFamily="18" charset="0"/>
                          </a:rPr>
                          <m:t>𝐴</m:t>
                        </m:r>
                      </m:oMath>
                    </a14:m>
                    <a:r>
                      <a:rPr lang="zh-CN" altLang="en-US" dirty="0">
                        <a:solidFill>
                          <a:schemeClr val="bg2">
                            <a:lumMod val="10000"/>
                          </a:schemeClr>
                        </a:solidFill>
                      </a:rPr>
                      <a:t> 的实例 </a:t>
                    </a:r>
                    <a14:m>
                      <m:oMath xmlns:m="http://schemas.openxmlformats.org/officeDocument/2006/math">
                        <m:r>
                          <a:rPr lang="en-US" altLang="zh-CN" b="0" i="1" smtClean="0">
                            <a:solidFill>
                              <a:schemeClr val="bg2">
                                <a:lumMod val="10000"/>
                              </a:schemeClr>
                            </a:solidFill>
                            <a:latin typeface="Cambria Math" panose="02040503050406030204" pitchFamily="18" charset="0"/>
                          </a:rPr>
                          <m:t>𝑥</m:t>
                        </m:r>
                      </m:oMath>
                    </a14:m>
                    <a:r>
                      <a:rPr lang="zh-CN" altLang="en-US" dirty="0">
                        <a:solidFill>
                          <a:schemeClr val="bg2">
                            <a:lumMod val="10000"/>
                          </a:schemeClr>
                        </a:solidFill>
                      </a:rPr>
                      <a:t>，都有</a:t>
                    </a:r>
                  </a:p>
                </p:txBody>
              </p:sp>
            </mc:Choice>
            <mc:Fallback xmlns="">
              <p:sp>
                <p:nvSpPr>
                  <p:cNvPr id="49" name="文本框 48">
                    <a:extLst>
                      <a:ext uri="{FF2B5EF4-FFF2-40B4-BE49-F238E27FC236}">
                        <a16:creationId xmlns:a16="http://schemas.microsoft.com/office/drawing/2014/main" id="{55B37774-9966-4D37-9678-DA9DB67C2AA2}"/>
                      </a:ext>
                    </a:extLst>
                  </p:cNvPr>
                  <p:cNvSpPr txBox="1">
                    <a:spLocks noRot="1" noChangeAspect="1" noMove="1" noResize="1" noEditPoints="1" noAdjustHandles="1" noChangeArrowheads="1" noChangeShapeType="1" noTextEdit="1"/>
                  </p:cNvSpPr>
                  <p:nvPr/>
                </p:nvSpPr>
                <p:spPr>
                  <a:xfrm>
                    <a:off x="1344808" y="3341999"/>
                    <a:ext cx="7222654" cy="873060"/>
                  </a:xfrm>
                  <a:prstGeom prst="rect">
                    <a:avLst/>
                  </a:prstGeom>
                  <a:blipFill>
                    <a:blip r:embed="rId5"/>
                    <a:stretch>
                      <a:fillRect l="-759" b="-9722"/>
                    </a:stretch>
                  </a:blipFill>
                  <a:ln w="12700">
                    <a:noFill/>
                  </a:ln>
                </p:spPr>
                <p:txBody>
                  <a:bodyPr/>
                  <a:lstStyle/>
                  <a:p>
                    <a:r>
                      <a:rPr lang="zh-CN" altLang="en-US">
                        <a:noFill/>
                      </a:rPr>
                      <a:t> </a:t>
                    </a:r>
                  </a:p>
                </p:txBody>
              </p:sp>
            </mc:Fallback>
          </mc:AlternateContent>
          <p:pic>
            <p:nvPicPr>
              <p:cNvPr id="51" name="图片 50">
                <a:extLst>
                  <a:ext uri="{FF2B5EF4-FFF2-40B4-BE49-F238E27FC236}">
                    <a16:creationId xmlns:a16="http://schemas.microsoft.com/office/drawing/2014/main" id="{267B9628-280A-410C-AB65-D1DC7612DC04}"/>
                  </a:ext>
                </a:extLst>
              </p:cNvPr>
              <p:cNvPicPr>
                <a:picLocks noChangeAspect="1"/>
              </p:cNvPicPr>
              <p:nvPr/>
            </p:nvPicPr>
            <p:blipFill rotWithShape="1">
              <a:blip r:embed="rId6"/>
              <a:srcRect l="5389" t="1" b="-5451"/>
              <a:stretch/>
            </p:blipFill>
            <p:spPr>
              <a:xfrm>
                <a:off x="3919714" y="3796635"/>
                <a:ext cx="1718311" cy="428575"/>
              </a:xfrm>
              <a:prstGeom prst="rect">
                <a:avLst/>
              </a:prstGeom>
            </p:spPr>
          </p:pic>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DEEA4121-4F68-472B-8E12-2E389AB77B96}"/>
                      </a:ext>
                    </a:extLst>
                  </p:cNvPr>
                  <p:cNvSpPr txBox="1"/>
                  <p:nvPr/>
                </p:nvSpPr>
                <p:spPr>
                  <a:xfrm>
                    <a:off x="1344808" y="4235362"/>
                    <a:ext cx="6032420" cy="369332"/>
                  </a:xfrm>
                  <a:prstGeom prst="rect">
                    <a:avLst/>
                  </a:prstGeom>
                  <a:noFill/>
                  <a:ln w="12700">
                    <a:noFill/>
                  </a:ln>
                </p:spPr>
                <p:txBody>
                  <a:bodyPr wrap="square">
                    <a:spAutoFit/>
                  </a:bodyPr>
                  <a:lstStyle/>
                  <a:p>
                    <a:r>
                      <a:rPr lang="zh-CN" altLang="en-US" dirty="0">
                        <a:solidFill>
                          <a:schemeClr val="bg2">
                            <a:lumMod val="10000"/>
                          </a:schemeClr>
                        </a:solidFill>
                      </a:rPr>
                      <a:t>那么我们就说问题</a:t>
                    </a:r>
                    <a14:m>
                      <m:oMath xmlns:m="http://schemas.openxmlformats.org/officeDocument/2006/math">
                        <m:r>
                          <a:rPr lang="en-US" altLang="zh-CN">
                            <a:solidFill>
                              <a:schemeClr val="bg2">
                                <a:lumMod val="10000"/>
                              </a:schemeClr>
                            </a:solidFill>
                            <a:latin typeface="Cambria Math" panose="02040503050406030204" pitchFamily="18" charset="0"/>
                          </a:rPr>
                          <m:t> </m:t>
                        </m:r>
                        <m:r>
                          <a:rPr lang="en-US" altLang="zh-CN">
                            <a:solidFill>
                              <a:schemeClr val="bg2">
                                <a:lumMod val="10000"/>
                              </a:schemeClr>
                            </a:solidFill>
                            <a:latin typeface="Cambria Math" panose="02040503050406030204" pitchFamily="18" charset="0"/>
                          </a:rPr>
                          <m:t>𝐴</m:t>
                        </m:r>
                      </m:oMath>
                    </a14:m>
                    <a:r>
                      <a:rPr lang="zh-CN" altLang="en-US" dirty="0">
                        <a:solidFill>
                          <a:schemeClr val="bg2">
                            <a:lumMod val="10000"/>
                          </a:schemeClr>
                        </a:solidFill>
                      </a:rPr>
                      <a:t> 可以被归约到问题 </a:t>
                    </a:r>
                    <a14:m>
                      <m:oMath xmlns:m="http://schemas.openxmlformats.org/officeDocument/2006/math">
                        <m:r>
                          <a:rPr lang="en-US" altLang="zh-CN">
                            <a:solidFill>
                              <a:schemeClr val="bg2">
                                <a:lumMod val="10000"/>
                              </a:schemeClr>
                            </a:solidFill>
                            <a:latin typeface="Cambria Math" panose="02040503050406030204" pitchFamily="18" charset="0"/>
                          </a:rPr>
                          <m:t>𝐵</m:t>
                        </m:r>
                      </m:oMath>
                    </a14:m>
                    <a:r>
                      <a:rPr lang="zh-CN" altLang="en-US" dirty="0">
                        <a:solidFill>
                          <a:schemeClr val="bg2">
                            <a:lumMod val="10000"/>
                          </a:schemeClr>
                        </a:solidFill>
                      </a:rPr>
                      <a:t> 上。</a:t>
                    </a:r>
                  </a:p>
                </p:txBody>
              </p:sp>
            </mc:Choice>
            <mc:Fallback xmlns="">
              <p:sp>
                <p:nvSpPr>
                  <p:cNvPr id="53" name="文本框 52">
                    <a:extLst>
                      <a:ext uri="{FF2B5EF4-FFF2-40B4-BE49-F238E27FC236}">
                        <a16:creationId xmlns:a16="http://schemas.microsoft.com/office/drawing/2014/main" id="{DEEA4121-4F68-472B-8E12-2E389AB77B96}"/>
                      </a:ext>
                    </a:extLst>
                  </p:cNvPr>
                  <p:cNvSpPr txBox="1">
                    <a:spLocks noRot="1" noChangeAspect="1" noMove="1" noResize="1" noEditPoints="1" noAdjustHandles="1" noChangeArrowheads="1" noChangeShapeType="1" noTextEdit="1"/>
                  </p:cNvSpPr>
                  <p:nvPr/>
                </p:nvSpPr>
                <p:spPr>
                  <a:xfrm>
                    <a:off x="1344808" y="4235362"/>
                    <a:ext cx="6032420" cy="369332"/>
                  </a:xfrm>
                  <a:prstGeom prst="rect">
                    <a:avLst/>
                  </a:prstGeom>
                  <a:blipFill>
                    <a:blip r:embed="rId7"/>
                    <a:stretch>
                      <a:fillRect l="-910" t="-9836" b="-24590"/>
                    </a:stretch>
                  </a:blipFill>
                  <a:ln w="12700">
                    <a:noFill/>
                  </a:ln>
                </p:spPr>
                <p:txBody>
                  <a:bodyPr/>
                  <a:lstStyle/>
                  <a:p>
                    <a:r>
                      <a:rPr lang="zh-CN" altLang="en-US">
                        <a:noFill/>
                      </a:rPr>
                      <a:t> </a:t>
                    </a:r>
                  </a:p>
                </p:txBody>
              </p:sp>
            </mc:Fallback>
          </mc:AlternateContent>
          <p:pic>
            <p:nvPicPr>
              <p:cNvPr id="57" name="图片 56">
                <a:extLst>
                  <a:ext uri="{FF2B5EF4-FFF2-40B4-BE49-F238E27FC236}">
                    <a16:creationId xmlns:a16="http://schemas.microsoft.com/office/drawing/2014/main" id="{066D3D13-1F19-4114-985E-395BFB587D57}"/>
                  </a:ext>
                </a:extLst>
              </p:cNvPr>
              <p:cNvPicPr>
                <a:picLocks noChangeAspect="1"/>
              </p:cNvPicPr>
              <p:nvPr/>
            </p:nvPicPr>
            <p:blipFill>
              <a:blip r:embed="rId8"/>
              <a:stretch>
                <a:fillRect/>
              </a:stretch>
            </p:blipFill>
            <p:spPr>
              <a:xfrm>
                <a:off x="6567109" y="3876125"/>
                <a:ext cx="2000353" cy="285765"/>
              </a:xfrm>
              <a:prstGeom prst="rect">
                <a:avLst/>
              </a:prstGeom>
            </p:spPr>
          </p:pic>
          <p:sp>
            <p:nvSpPr>
              <p:cNvPr id="59" name="文本框 58">
                <a:extLst>
                  <a:ext uri="{FF2B5EF4-FFF2-40B4-BE49-F238E27FC236}">
                    <a16:creationId xmlns:a16="http://schemas.microsoft.com/office/drawing/2014/main" id="{31167536-827D-4CC4-9983-E86C3BCDBA5D}"/>
                  </a:ext>
                </a:extLst>
              </p:cNvPr>
              <p:cNvSpPr txBox="1"/>
              <p:nvPr/>
            </p:nvSpPr>
            <p:spPr>
              <a:xfrm>
                <a:off x="5509603" y="3826256"/>
                <a:ext cx="1153324" cy="369332"/>
              </a:xfrm>
              <a:prstGeom prst="rect">
                <a:avLst/>
              </a:prstGeom>
              <a:noFill/>
              <a:ln w="12700">
                <a:noFill/>
              </a:ln>
            </p:spPr>
            <p:txBody>
              <a:bodyPr wrap="square">
                <a:spAutoFit/>
              </a:bodyPr>
              <a:lstStyle/>
              <a:p>
                <a:r>
                  <a:rPr lang="zh-CN" altLang="en-US" dirty="0">
                    <a:solidFill>
                      <a:schemeClr val="bg2">
                        <a:lumMod val="10000"/>
                      </a:schemeClr>
                    </a:solidFill>
                  </a:rPr>
                  <a:t>或者写成</a:t>
                </a:r>
                <a:endParaRPr lang="zh-CN" altLang="en-US" dirty="0"/>
              </a:p>
            </p:txBody>
          </p:sp>
        </p:grpSp>
        <p:pic>
          <p:nvPicPr>
            <p:cNvPr id="61" name="Picture 21" descr="coquette_035">
              <a:extLst>
                <a:ext uri="{FF2B5EF4-FFF2-40B4-BE49-F238E27FC236}">
                  <a16:creationId xmlns:a16="http://schemas.microsoft.com/office/drawing/2014/main" id="{42258808-CDF7-4856-8F84-B40728B9E4E9}"/>
                </a:ext>
              </a:extLst>
            </p:cNvPr>
            <p:cNvPicPr>
              <a:picLocks noChangeAspect="1" noChangeArrowheads="1"/>
            </p:cNvPicPr>
            <p:nvPr/>
          </p:nvPicPr>
          <p:blipFill>
            <a:blip r:embed="rId4" cstate="print"/>
            <a:srcRect/>
            <a:stretch>
              <a:fillRect/>
            </a:stretch>
          </p:blipFill>
          <p:spPr bwMode="auto">
            <a:xfrm>
              <a:off x="611559" y="3485912"/>
              <a:ext cx="566903" cy="323850"/>
            </a:xfrm>
            <a:prstGeom prst="rect">
              <a:avLst/>
            </a:prstGeom>
            <a:noFill/>
            <a:ln w="9525">
              <a:noFill/>
              <a:miter lim="800000"/>
              <a:headEnd/>
              <a:tailEnd/>
            </a:ln>
          </p:spPr>
        </p:pic>
      </p:grpSp>
    </p:spTree>
    <p:extLst>
      <p:ext uri="{BB962C8B-B14F-4D97-AF65-F5344CB8AC3E}">
        <p14:creationId xmlns:p14="http://schemas.microsoft.com/office/powerpoint/2010/main" val="209891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wipe(down)">
                                      <p:cBhvr>
                                        <p:cTn id="12" dur="500"/>
                                        <p:tgtEl>
                                          <p:spTgt spid="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down)">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left)">
                                      <p:cBhvr>
                                        <p:cTn id="2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2">
                    <a:lumMod val="10000"/>
                  </a:schemeClr>
                </a:solidFill>
              </a:rPr>
              <a:t>归约的证明</a:t>
            </a:r>
          </a:p>
        </p:txBody>
      </p:sp>
      <p:grpSp>
        <p:nvGrpSpPr>
          <p:cNvPr id="48" name="组合 47">
            <a:extLst>
              <a:ext uri="{FF2B5EF4-FFF2-40B4-BE49-F238E27FC236}">
                <a16:creationId xmlns:a16="http://schemas.microsoft.com/office/drawing/2014/main" id="{0551FE72-C11F-4D03-84E4-02B2328D5383}"/>
              </a:ext>
            </a:extLst>
          </p:cNvPr>
          <p:cNvGrpSpPr/>
          <p:nvPr/>
        </p:nvGrpSpPr>
        <p:grpSpPr>
          <a:xfrm>
            <a:off x="323511" y="908720"/>
            <a:ext cx="8157352" cy="2814586"/>
            <a:chOff x="323511" y="908720"/>
            <a:chExt cx="8157352" cy="2814586"/>
          </a:xfrm>
        </p:grpSpPr>
        <p:grpSp>
          <p:nvGrpSpPr>
            <p:cNvPr id="6" name="组合 16"/>
            <p:cNvGrpSpPr>
              <a:grpSpLocks/>
            </p:cNvGrpSpPr>
            <p:nvPr/>
          </p:nvGrpSpPr>
          <p:grpSpPr bwMode="auto">
            <a:xfrm>
              <a:off x="323511" y="908720"/>
              <a:ext cx="3954217" cy="504056"/>
              <a:chOff x="5082972" y="1785322"/>
              <a:chExt cx="3953483" cy="504294"/>
            </a:xfrm>
          </p:grpSpPr>
          <p:pic>
            <p:nvPicPr>
              <p:cNvPr id="7" name="Picture 28" descr="02_icon"/>
              <p:cNvPicPr>
                <a:picLocks noChangeAspect="1" noChangeArrowheads="1"/>
              </p:cNvPicPr>
              <p:nvPr/>
            </p:nvPicPr>
            <p:blipFill>
              <a:blip r:embed="rId2" cstate="print"/>
              <a:srcRect/>
              <a:stretch>
                <a:fillRect/>
              </a:stretch>
            </p:blipFill>
            <p:spPr bwMode="auto">
              <a:xfrm>
                <a:off x="5082972" y="1890719"/>
                <a:ext cx="322441" cy="398897"/>
              </a:xfrm>
              <a:prstGeom prst="rect">
                <a:avLst/>
              </a:prstGeom>
              <a:noFill/>
              <a:ln w="9525">
                <a:noFill/>
                <a:miter lim="800000"/>
                <a:headEnd/>
                <a:tailEnd/>
              </a:ln>
            </p:spPr>
          </p:pic>
          <p:sp>
            <p:nvSpPr>
              <p:cNvPr id="8" name="Text Box 33"/>
              <p:cNvSpPr txBox="1">
                <a:spLocks noChangeArrowheads="1"/>
              </p:cNvSpPr>
              <p:nvPr/>
            </p:nvSpPr>
            <p:spPr bwMode="black">
              <a:xfrm>
                <a:off x="5381966" y="1785322"/>
                <a:ext cx="3654489" cy="461883"/>
              </a:xfrm>
              <a:prstGeom prst="rect">
                <a:avLst/>
              </a:prstGeom>
              <a:noFill/>
              <a:ln w="9525">
                <a:noFill/>
                <a:miter lim="800000"/>
                <a:headEnd/>
                <a:tailEnd/>
              </a:ln>
            </p:spPr>
            <p:txBody>
              <a:bodyPr wrap="none">
                <a:spAutoFit/>
              </a:bodyPr>
              <a:lstStyle/>
              <a:p>
                <a:pPr algn="l">
                  <a:spcBef>
                    <a:spcPts val="0"/>
                  </a:spcBef>
                </a:pPr>
                <a:r>
                  <a:rPr lang="zh-CN" altLang="en-US" sz="2400" dirty="0">
                    <a:solidFill>
                      <a:schemeClr val="bg2">
                        <a:lumMod val="10000"/>
                      </a:schemeClr>
                    </a:solidFill>
                    <a:latin typeface="Times New Roman" pitchFamily="18" charset="0"/>
                    <a:cs typeface="Times New Roman" pitchFamily="18" charset="0"/>
                  </a:rPr>
                  <a:t>“</a:t>
                </a:r>
                <a:r>
                  <a:rPr lang="en-US" altLang="zh-CN" sz="2400" dirty="0">
                    <a:solidFill>
                      <a:schemeClr val="bg2">
                        <a:lumMod val="10000"/>
                      </a:schemeClr>
                    </a:solidFill>
                    <a:latin typeface="Times New Roman" pitchFamily="18" charset="0"/>
                    <a:cs typeface="Times New Roman" pitchFamily="18" charset="0"/>
                  </a:rPr>
                  <a:t>A</a:t>
                </a:r>
                <a:r>
                  <a:rPr lang="zh-CN" altLang="en-US" sz="2400" dirty="0">
                    <a:solidFill>
                      <a:schemeClr val="bg2">
                        <a:lumMod val="10000"/>
                      </a:schemeClr>
                    </a:solidFill>
                    <a:latin typeface="Times New Roman" pitchFamily="18" charset="0"/>
                    <a:cs typeface="Times New Roman" pitchFamily="18" charset="0"/>
                  </a:rPr>
                  <a:t>归约为</a:t>
                </a:r>
                <a:r>
                  <a:rPr lang="en-US" altLang="zh-CN" sz="2400" dirty="0">
                    <a:solidFill>
                      <a:schemeClr val="bg2">
                        <a:lumMod val="10000"/>
                      </a:schemeClr>
                    </a:solidFill>
                    <a:latin typeface="Times New Roman" pitchFamily="18" charset="0"/>
                    <a:cs typeface="Times New Roman" pitchFamily="18" charset="0"/>
                  </a:rPr>
                  <a:t>B</a:t>
                </a:r>
                <a:r>
                  <a:rPr lang="zh-CN" altLang="en-US" sz="2400" dirty="0">
                    <a:solidFill>
                      <a:schemeClr val="bg2">
                        <a:lumMod val="10000"/>
                      </a:schemeClr>
                    </a:solidFill>
                    <a:latin typeface="Times New Roman" pitchFamily="18" charset="0"/>
                    <a:cs typeface="Times New Roman" pitchFamily="18" charset="0"/>
                  </a:rPr>
                  <a:t>”的证明思路：</a:t>
                </a:r>
                <a:endParaRPr lang="en-US" altLang="zh-CN" sz="2400" dirty="0">
                  <a:solidFill>
                    <a:schemeClr val="bg2">
                      <a:lumMod val="10000"/>
                    </a:schemeClr>
                  </a:solidFill>
                  <a:latin typeface="Times New Roman" pitchFamily="18" charset="0"/>
                  <a:cs typeface="Times New Roman" pitchFamily="18" charset="0"/>
                </a:endParaRPr>
              </a:p>
            </p:txBody>
          </p:sp>
        </p:grpSp>
        <p:grpSp>
          <p:nvGrpSpPr>
            <p:cNvPr id="9" name="组合 42"/>
            <p:cNvGrpSpPr>
              <a:grpSpLocks/>
            </p:cNvGrpSpPr>
            <p:nvPr/>
          </p:nvGrpSpPr>
          <p:grpSpPr bwMode="auto">
            <a:xfrm>
              <a:off x="611560" y="1615926"/>
              <a:ext cx="7869303" cy="380480"/>
              <a:chOff x="428596" y="2825969"/>
              <a:chExt cx="7865652" cy="381055"/>
            </a:xfrm>
          </p:grpSpPr>
          <p:sp>
            <p:nvSpPr>
              <p:cNvPr id="10" name="TextBox 18"/>
              <p:cNvSpPr txBox="1">
                <a:spLocks noChangeArrowheads="1"/>
              </p:cNvSpPr>
              <p:nvPr/>
            </p:nvSpPr>
            <p:spPr bwMode="auto">
              <a:xfrm>
                <a:off x="628471" y="2825969"/>
                <a:ext cx="7665777"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bg2">
                        <a:lumMod val="10000"/>
                      </a:schemeClr>
                    </a:solidFill>
                  </a:rPr>
                  <a:t>构造一个多项式算法，其输入是</a:t>
                </a:r>
                <a:r>
                  <a:rPr lang="en-US" altLang="zh-CN" sz="2000" dirty="0">
                    <a:solidFill>
                      <a:schemeClr val="bg2">
                        <a:lumMod val="10000"/>
                      </a:schemeClr>
                    </a:solidFill>
                  </a:rPr>
                  <a:t>A</a:t>
                </a:r>
                <a:r>
                  <a:rPr lang="zh-CN" altLang="en-US" sz="2000" dirty="0">
                    <a:solidFill>
                      <a:schemeClr val="bg2">
                        <a:lumMod val="10000"/>
                      </a:schemeClr>
                    </a:solidFill>
                  </a:rPr>
                  <a:t>的任一实例</a:t>
                </a:r>
                <a:r>
                  <a:rPr lang="en-US" altLang="zh-CN" sz="2000" dirty="0">
                    <a:solidFill>
                      <a:schemeClr val="bg2">
                        <a:lumMod val="10000"/>
                      </a:schemeClr>
                    </a:solidFill>
                  </a:rPr>
                  <a:t>a</a:t>
                </a:r>
                <a:r>
                  <a:rPr lang="zh-CN" altLang="en-US" sz="2000" dirty="0">
                    <a:solidFill>
                      <a:schemeClr val="bg2">
                        <a:lumMod val="10000"/>
                      </a:schemeClr>
                    </a:solidFill>
                  </a:rPr>
                  <a:t>，输出是</a:t>
                </a:r>
                <a:r>
                  <a:rPr lang="en-US" altLang="zh-CN" sz="2000" dirty="0">
                    <a:solidFill>
                      <a:schemeClr val="bg2">
                        <a:lumMod val="10000"/>
                      </a:schemeClr>
                    </a:solidFill>
                  </a:rPr>
                  <a:t>B</a:t>
                </a:r>
                <a:r>
                  <a:rPr lang="zh-CN" altLang="en-US" sz="2000" dirty="0">
                    <a:solidFill>
                      <a:schemeClr val="bg2">
                        <a:lumMod val="10000"/>
                      </a:schemeClr>
                    </a:solidFill>
                  </a:rPr>
                  <a:t>的实例</a:t>
                </a:r>
                <a:r>
                  <a:rPr lang="en-US" altLang="zh-CN" sz="2000" dirty="0">
                    <a:solidFill>
                      <a:schemeClr val="bg2">
                        <a:lumMod val="10000"/>
                      </a:schemeClr>
                    </a:solidFill>
                  </a:rPr>
                  <a:t>b</a:t>
                </a:r>
                <a:r>
                  <a:rPr lang="zh-CN" altLang="en-US" sz="2000" dirty="0">
                    <a:solidFill>
                      <a:schemeClr val="bg2">
                        <a:lumMod val="10000"/>
                      </a:schemeClr>
                    </a:solidFill>
                  </a:rPr>
                  <a:t>；</a:t>
                </a:r>
                <a:endParaRPr lang="zh-CN" altLang="zh-CN" sz="2000" dirty="0">
                  <a:solidFill>
                    <a:schemeClr val="bg2">
                      <a:lumMod val="10000"/>
                    </a:schemeClr>
                  </a:solidFill>
                </a:endParaRPr>
              </a:p>
            </p:txBody>
          </p:sp>
          <p:grpSp>
            <p:nvGrpSpPr>
              <p:cNvPr id="11" name="Group 20"/>
              <p:cNvGrpSpPr>
                <a:grpSpLocks/>
              </p:cNvGrpSpPr>
              <p:nvPr/>
            </p:nvGrpSpPr>
            <p:grpSpPr bwMode="auto">
              <a:xfrm>
                <a:off x="428596" y="2928934"/>
                <a:ext cx="128588" cy="128588"/>
                <a:chOff x="2995" y="1525"/>
                <a:chExt cx="112" cy="112"/>
              </a:xfrm>
            </p:grpSpPr>
            <p:sp>
              <p:nvSpPr>
                <p:cNvPr id="12"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13"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14" name="组合 42"/>
            <p:cNvGrpSpPr>
              <a:grpSpLocks/>
            </p:cNvGrpSpPr>
            <p:nvPr/>
          </p:nvGrpSpPr>
          <p:grpSpPr bwMode="auto">
            <a:xfrm>
              <a:off x="611560" y="2199556"/>
              <a:ext cx="7163981" cy="380480"/>
              <a:chOff x="428596" y="2825969"/>
              <a:chExt cx="7160656" cy="381055"/>
            </a:xfrm>
          </p:grpSpPr>
          <p:sp>
            <p:nvSpPr>
              <p:cNvPr id="15" name="TextBox 18"/>
              <p:cNvSpPr txBox="1">
                <a:spLocks noChangeArrowheads="1"/>
              </p:cNvSpPr>
              <p:nvPr/>
            </p:nvSpPr>
            <p:spPr bwMode="auto">
              <a:xfrm>
                <a:off x="628471" y="2825969"/>
                <a:ext cx="6960781"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bg2">
                        <a:lumMod val="10000"/>
                      </a:schemeClr>
                    </a:solidFill>
                  </a:rPr>
                  <a:t>构造一个多项式算法，其输入是</a:t>
                </a:r>
                <a:r>
                  <a:rPr lang="en-US" altLang="zh-CN" sz="2000" dirty="0">
                    <a:solidFill>
                      <a:schemeClr val="bg2">
                        <a:lumMod val="10000"/>
                      </a:schemeClr>
                    </a:solidFill>
                  </a:rPr>
                  <a:t>B</a:t>
                </a:r>
                <a:r>
                  <a:rPr lang="zh-CN" altLang="en-US" sz="2000" dirty="0">
                    <a:solidFill>
                      <a:schemeClr val="bg2">
                        <a:lumMod val="10000"/>
                      </a:schemeClr>
                    </a:solidFill>
                  </a:rPr>
                  <a:t>的解</a:t>
                </a:r>
                <a:r>
                  <a:rPr lang="en-US" altLang="zh-CN" sz="2000" dirty="0">
                    <a:solidFill>
                      <a:schemeClr val="bg2">
                        <a:lumMod val="10000"/>
                      </a:schemeClr>
                    </a:solidFill>
                  </a:rPr>
                  <a:t>b*</a:t>
                </a:r>
                <a:r>
                  <a:rPr lang="zh-CN" altLang="en-US" sz="2000" dirty="0">
                    <a:solidFill>
                      <a:schemeClr val="bg2">
                        <a:lumMod val="10000"/>
                      </a:schemeClr>
                    </a:solidFill>
                  </a:rPr>
                  <a:t>，输出是</a:t>
                </a:r>
                <a:r>
                  <a:rPr lang="en-US" altLang="zh-CN" sz="2000" dirty="0">
                    <a:solidFill>
                      <a:schemeClr val="bg2">
                        <a:lumMod val="10000"/>
                      </a:schemeClr>
                    </a:solidFill>
                  </a:rPr>
                  <a:t>A</a:t>
                </a:r>
                <a:r>
                  <a:rPr lang="zh-CN" altLang="en-US" sz="2000" dirty="0">
                    <a:solidFill>
                      <a:schemeClr val="bg2">
                        <a:lumMod val="10000"/>
                      </a:schemeClr>
                    </a:solidFill>
                  </a:rPr>
                  <a:t>的解</a:t>
                </a:r>
                <a:r>
                  <a:rPr lang="en-US" altLang="zh-CN" sz="2000" dirty="0">
                    <a:solidFill>
                      <a:schemeClr val="bg2">
                        <a:lumMod val="10000"/>
                      </a:schemeClr>
                    </a:solidFill>
                  </a:rPr>
                  <a:t>a</a:t>
                </a:r>
                <a:r>
                  <a:rPr lang="zh-CN" altLang="en-US" sz="2000" dirty="0">
                    <a:solidFill>
                      <a:schemeClr val="bg2">
                        <a:lumMod val="10000"/>
                      </a:schemeClr>
                    </a:solidFill>
                  </a:rPr>
                  <a:t>*；</a:t>
                </a:r>
                <a:endParaRPr lang="zh-CN" altLang="zh-CN" sz="2000" dirty="0">
                  <a:solidFill>
                    <a:schemeClr val="bg2">
                      <a:lumMod val="10000"/>
                    </a:schemeClr>
                  </a:solidFill>
                </a:endParaRPr>
              </a:p>
            </p:txBody>
          </p:sp>
          <p:grpSp>
            <p:nvGrpSpPr>
              <p:cNvPr id="16" name="Group 20"/>
              <p:cNvGrpSpPr>
                <a:grpSpLocks/>
              </p:cNvGrpSpPr>
              <p:nvPr/>
            </p:nvGrpSpPr>
            <p:grpSpPr bwMode="auto">
              <a:xfrm>
                <a:off x="428596" y="2928934"/>
                <a:ext cx="128588" cy="128588"/>
                <a:chOff x="2995" y="1525"/>
                <a:chExt cx="112" cy="112"/>
              </a:xfrm>
            </p:grpSpPr>
            <p:sp>
              <p:nvSpPr>
                <p:cNvPr id="17"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18"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19" name="组合 42"/>
            <p:cNvGrpSpPr>
              <a:grpSpLocks/>
            </p:cNvGrpSpPr>
            <p:nvPr/>
          </p:nvGrpSpPr>
          <p:grpSpPr bwMode="auto">
            <a:xfrm>
              <a:off x="611560" y="2783186"/>
              <a:ext cx="5787001" cy="940120"/>
              <a:chOff x="428596" y="2825969"/>
              <a:chExt cx="5784318" cy="941541"/>
            </a:xfrm>
          </p:grpSpPr>
          <p:sp>
            <p:nvSpPr>
              <p:cNvPr id="20" name="TextBox 18"/>
              <p:cNvSpPr txBox="1">
                <a:spLocks noChangeArrowheads="1"/>
              </p:cNvSpPr>
              <p:nvPr/>
            </p:nvSpPr>
            <p:spPr bwMode="auto">
              <a:xfrm>
                <a:off x="628471" y="2825969"/>
                <a:ext cx="5584443" cy="941541"/>
              </a:xfrm>
              <a:prstGeom prst="rect">
                <a:avLst/>
              </a:prstGeom>
              <a:noFill/>
              <a:ln w="9525">
                <a:noFill/>
                <a:miter lim="800000"/>
                <a:headEnd/>
                <a:tailEnd/>
              </a:ln>
            </p:spPr>
            <p:txBody>
              <a:bodyPr wrap="none" lIns="36000" tIns="36000" rIns="36000" bIns="36000">
                <a:spAutoFit/>
              </a:bodyPr>
              <a:lstStyle/>
              <a:p>
                <a:pPr algn="l">
                  <a:lnSpc>
                    <a:spcPct val="150000"/>
                  </a:lnSpc>
                </a:pPr>
                <a:r>
                  <a:rPr lang="zh-CN" altLang="en-US" sz="2000" dirty="0">
                    <a:solidFill>
                      <a:schemeClr val="bg2">
                        <a:lumMod val="10000"/>
                      </a:schemeClr>
                    </a:solidFill>
                  </a:rPr>
                  <a:t>证明，对于优化问题，只要</a:t>
                </a:r>
                <a:r>
                  <a:rPr lang="en-US" altLang="zh-CN" sz="2000" dirty="0">
                    <a:solidFill>
                      <a:schemeClr val="bg2">
                        <a:lumMod val="10000"/>
                      </a:schemeClr>
                    </a:solidFill>
                  </a:rPr>
                  <a:t>b</a:t>
                </a:r>
                <a:r>
                  <a:rPr lang="zh-CN" altLang="en-US" sz="2000" dirty="0">
                    <a:solidFill>
                      <a:schemeClr val="bg2">
                        <a:lumMod val="10000"/>
                      </a:schemeClr>
                    </a:solidFill>
                  </a:rPr>
                  <a:t>*最佳，则</a:t>
                </a:r>
                <a:r>
                  <a:rPr lang="en-US" altLang="zh-CN" sz="2000" dirty="0">
                    <a:solidFill>
                      <a:schemeClr val="bg2">
                        <a:lumMod val="10000"/>
                      </a:schemeClr>
                    </a:solidFill>
                  </a:rPr>
                  <a:t>a</a:t>
                </a:r>
                <a:r>
                  <a:rPr lang="zh-CN" altLang="en-US" sz="2000" dirty="0">
                    <a:solidFill>
                      <a:schemeClr val="bg2">
                        <a:lumMod val="10000"/>
                      </a:schemeClr>
                    </a:solidFill>
                  </a:rPr>
                  <a:t>*最佳。</a:t>
                </a:r>
                <a:endParaRPr lang="en-US" altLang="zh-CN" sz="2000" dirty="0">
                  <a:solidFill>
                    <a:schemeClr val="bg2">
                      <a:lumMod val="10000"/>
                    </a:schemeClr>
                  </a:solidFill>
                </a:endParaRPr>
              </a:p>
              <a:p>
                <a:pPr algn="l">
                  <a:lnSpc>
                    <a:spcPct val="150000"/>
                  </a:lnSpc>
                </a:pPr>
                <a:r>
                  <a:rPr lang="en-US" altLang="zh-CN" sz="2000" dirty="0">
                    <a:solidFill>
                      <a:schemeClr val="bg2">
                        <a:lumMod val="10000"/>
                      </a:schemeClr>
                    </a:solidFill>
                  </a:rPr>
                  <a:t>【</a:t>
                </a:r>
                <a:r>
                  <a:rPr lang="zh-CN" altLang="en-US" sz="2000" dirty="0">
                    <a:solidFill>
                      <a:schemeClr val="bg2">
                        <a:lumMod val="10000"/>
                      </a:schemeClr>
                    </a:solidFill>
                  </a:rPr>
                  <a:t>对判定问题，解只要一一对应即可</a:t>
                </a:r>
                <a:r>
                  <a:rPr lang="en-US" altLang="zh-CN" sz="2000" dirty="0">
                    <a:solidFill>
                      <a:schemeClr val="bg2">
                        <a:lumMod val="10000"/>
                      </a:schemeClr>
                    </a:solidFill>
                  </a:rPr>
                  <a:t>】</a:t>
                </a:r>
                <a:endParaRPr lang="zh-CN" altLang="zh-CN" sz="2000" dirty="0">
                  <a:solidFill>
                    <a:schemeClr val="bg2">
                      <a:lumMod val="10000"/>
                    </a:schemeClr>
                  </a:solidFill>
                </a:endParaRPr>
              </a:p>
            </p:txBody>
          </p:sp>
          <p:grpSp>
            <p:nvGrpSpPr>
              <p:cNvPr id="21" name="Group 20"/>
              <p:cNvGrpSpPr>
                <a:grpSpLocks/>
              </p:cNvGrpSpPr>
              <p:nvPr/>
            </p:nvGrpSpPr>
            <p:grpSpPr bwMode="auto">
              <a:xfrm>
                <a:off x="428596" y="2928934"/>
                <a:ext cx="128588" cy="128588"/>
                <a:chOff x="2995" y="1525"/>
                <a:chExt cx="112" cy="112"/>
              </a:xfrm>
            </p:grpSpPr>
            <p:sp>
              <p:nvSpPr>
                <p:cNvPr id="22"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23"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grpSp>
        <p:nvGrpSpPr>
          <p:cNvPr id="49" name="组合 48">
            <a:extLst>
              <a:ext uri="{FF2B5EF4-FFF2-40B4-BE49-F238E27FC236}">
                <a16:creationId xmlns:a16="http://schemas.microsoft.com/office/drawing/2014/main" id="{D85C3439-2AD3-46AB-8E37-880B995F3742}"/>
              </a:ext>
            </a:extLst>
          </p:cNvPr>
          <p:cNvGrpSpPr/>
          <p:nvPr/>
        </p:nvGrpSpPr>
        <p:grpSpPr>
          <a:xfrm>
            <a:off x="433136" y="3820287"/>
            <a:ext cx="8277726" cy="1550605"/>
            <a:chOff x="323533" y="3366815"/>
            <a:chExt cx="8277726" cy="1550605"/>
          </a:xfrm>
        </p:grpSpPr>
        <p:grpSp>
          <p:nvGrpSpPr>
            <p:cNvPr id="24" name="组合 16"/>
            <p:cNvGrpSpPr>
              <a:grpSpLocks/>
            </p:cNvGrpSpPr>
            <p:nvPr/>
          </p:nvGrpSpPr>
          <p:grpSpPr bwMode="auto">
            <a:xfrm>
              <a:off x="323533" y="3366815"/>
              <a:ext cx="3729798" cy="504057"/>
              <a:chOff x="5082972" y="1785321"/>
              <a:chExt cx="3729102" cy="504295"/>
            </a:xfrm>
          </p:grpSpPr>
          <p:pic>
            <p:nvPicPr>
              <p:cNvPr id="25" name="Picture 28" descr="02_icon"/>
              <p:cNvPicPr>
                <a:picLocks noChangeAspect="1" noChangeArrowheads="1"/>
              </p:cNvPicPr>
              <p:nvPr/>
            </p:nvPicPr>
            <p:blipFill>
              <a:blip r:embed="rId2" cstate="print"/>
              <a:srcRect/>
              <a:stretch>
                <a:fillRect/>
              </a:stretch>
            </p:blipFill>
            <p:spPr bwMode="auto">
              <a:xfrm>
                <a:off x="5082972" y="1890719"/>
                <a:ext cx="322441" cy="398897"/>
              </a:xfrm>
              <a:prstGeom prst="rect">
                <a:avLst/>
              </a:prstGeom>
              <a:noFill/>
              <a:ln w="9525">
                <a:noFill/>
                <a:miter lim="800000"/>
                <a:headEnd/>
                <a:tailEnd/>
              </a:ln>
            </p:spPr>
          </p:pic>
          <p:sp>
            <p:nvSpPr>
              <p:cNvPr id="26" name="Text Box 33"/>
              <p:cNvSpPr txBox="1">
                <a:spLocks noChangeArrowheads="1"/>
              </p:cNvSpPr>
              <p:nvPr/>
            </p:nvSpPr>
            <p:spPr bwMode="black">
              <a:xfrm>
                <a:off x="5381967" y="1785321"/>
                <a:ext cx="3430107" cy="461883"/>
              </a:xfrm>
              <a:prstGeom prst="rect">
                <a:avLst/>
              </a:prstGeom>
              <a:noFill/>
              <a:ln w="9525">
                <a:noFill/>
                <a:miter lim="800000"/>
                <a:headEnd/>
                <a:tailEnd/>
              </a:ln>
            </p:spPr>
            <p:txBody>
              <a:bodyPr wrap="none">
                <a:spAutoFit/>
              </a:bodyPr>
              <a:lstStyle/>
              <a:p>
                <a:pPr algn="l">
                  <a:spcBef>
                    <a:spcPts val="0"/>
                  </a:spcBef>
                </a:pPr>
                <a:r>
                  <a:rPr lang="en-US" altLang="zh-CN" sz="2400" dirty="0">
                    <a:solidFill>
                      <a:schemeClr val="bg2">
                        <a:lumMod val="10000"/>
                      </a:schemeClr>
                    </a:solidFill>
                    <a:latin typeface="Times New Roman" pitchFamily="18" charset="0"/>
                    <a:cs typeface="Times New Roman" pitchFamily="18" charset="0"/>
                  </a:rPr>
                  <a:t>Example</a:t>
                </a:r>
                <a:r>
                  <a:rPr lang="zh-CN" altLang="en-US" sz="2400" dirty="0">
                    <a:solidFill>
                      <a:schemeClr val="bg2">
                        <a:lumMod val="10000"/>
                      </a:schemeClr>
                    </a:solidFill>
                    <a:latin typeface="Times New Roman" pitchFamily="18" charset="0"/>
                    <a:cs typeface="Times New Roman" pitchFamily="18" charset="0"/>
                  </a:rPr>
                  <a:t>：</a:t>
                </a:r>
                <a:r>
                  <a:rPr lang="zh-CN" altLang="en-US" sz="2400" dirty="0">
                    <a:solidFill>
                      <a:schemeClr val="bg2">
                        <a:lumMod val="10000"/>
                      </a:schemeClr>
                    </a:solidFill>
                  </a:rPr>
                  <a:t>数学上的例子</a:t>
                </a:r>
                <a:endParaRPr lang="en-US" altLang="zh-CN" sz="2400" dirty="0">
                  <a:solidFill>
                    <a:schemeClr val="bg2">
                      <a:lumMod val="10000"/>
                    </a:schemeClr>
                  </a:solidFill>
                </a:endParaRPr>
              </a:p>
            </p:txBody>
          </p:sp>
        </p:grpSp>
        <p:sp>
          <p:nvSpPr>
            <p:cNvPr id="42" name="文本框 41">
              <a:extLst>
                <a:ext uri="{FF2B5EF4-FFF2-40B4-BE49-F238E27FC236}">
                  <a16:creationId xmlns:a16="http://schemas.microsoft.com/office/drawing/2014/main" id="{1A0405EE-4028-4102-A783-A18554DC980C}"/>
                </a:ext>
              </a:extLst>
            </p:cNvPr>
            <p:cNvSpPr txBox="1"/>
            <p:nvPr/>
          </p:nvSpPr>
          <p:spPr>
            <a:xfrm>
              <a:off x="811528" y="3801986"/>
              <a:ext cx="7789731" cy="1115434"/>
            </a:xfrm>
            <a:prstGeom prst="rect">
              <a:avLst/>
            </a:prstGeom>
            <a:noFill/>
            <a:ln w="12700">
              <a:noFill/>
            </a:ln>
          </p:spPr>
          <p:txBody>
            <a:bodyPr wrap="square">
              <a:spAutoFit/>
            </a:bodyPr>
            <a:lstStyle/>
            <a:p>
              <a:pPr>
                <a:lnSpc>
                  <a:spcPct val="200000"/>
                </a:lnSpc>
              </a:pPr>
              <a:r>
                <a:rPr lang="zh-CN" altLang="en-US" dirty="0">
                  <a:solidFill>
                    <a:schemeClr val="bg2">
                      <a:lumMod val="10000"/>
                    </a:schemeClr>
                  </a:solidFill>
                </a:rPr>
                <a:t>有时候要算两个数 </a:t>
              </a:r>
              <a:r>
                <a:rPr lang="en-US" altLang="zh-CN" dirty="0">
                  <a:solidFill>
                    <a:schemeClr val="bg2">
                      <a:lumMod val="10000"/>
                    </a:schemeClr>
                  </a:solidFill>
                </a:rPr>
                <a:t>a </a:t>
              </a:r>
              <a:r>
                <a:rPr lang="zh-CN" altLang="en-US" dirty="0">
                  <a:solidFill>
                    <a:schemeClr val="bg2">
                      <a:lumMod val="10000"/>
                    </a:schemeClr>
                  </a:solidFill>
                </a:rPr>
                <a:t>和 </a:t>
              </a:r>
              <a:r>
                <a:rPr lang="en-US" altLang="zh-CN" dirty="0">
                  <a:solidFill>
                    <a:schemeClr val="bg2">
                      <a:lumMod val="10000"/>
                    </a:schemeClr>
                  </a:solidFill>
                </a:rPr>
                <a:t>b </a:t>
              </a:r>
              <a:r>
                <a:rPr lang="zh-CN" altLang="en-US" dirty="0">
                  <a:solidFill>
                    <a:schemeClr val="bg2">
                      <a:lumMod val="10000"/>
                    </a:schemeClr>
                  </a:solidFill>
                </a:rPr>
                <a:t>的乘法，如果这两个数位数比较多的话就很麻烦。</a:t>
              </a:r>
              <a:endParaRPr lang="en-US" altLang="zh-CN" dirty="0">
                <a:solidFill>
                  <a:schemeClr val="bg2">
                    <a:lumMod val="10000"/>
                  </a:schemeClr>
                </a:solidFill>
              </a:endParaRPr>
            </a:p>
            <a:p>
              <a:pPr>
                <a:lnSpc>
                  <a:spcPct val="200000"/>
                </a:lnSpc>
              </a:pPr>
              <a:r>
                <a:rPr lang="zh-CN" altLang="en-US" dirty="0">
                  <a:solidFill>
                    <a:schemeClr val="bg2">
                      <a:lumMod val="10000"/>
                    </a:schemeClr>
                  </a:solidFill>
                </a:rPr>
                <a:t>能否把计算乘法这个问题归约到算加法的问题？</a:t>
              </a:r>
            </a:p>
          </p:txBody>
        </p:sp>
        <p:pic>
          <p:nvPicPr>
            <p:cNvPr id="43" name="Picture 76" descr="IconTexto_WebDev_013">
              <a:extLst>
                <a:ext uri="{FF2B5EF4-FFF2-40B4-BE49-F238E27FC236}">
                  <a16:creationId xmlns:a16="http://schemas.microsoft.com/office/drawing/2014/main" id="{3DA01C46-0ECC-4E82-AAAF-FFF3A86BBF6E}"/>
                </a:ext>
              </a:extLst>
            </p:cNvPr>
            <p:cNvPicPr>
              <a:picLocks noChangeAspect="1" noChangeArrowheads="1"/>
            </p:cNvPicPr>
            <p:nvPr/>
          </p:nvPicPr>
          <p:blipFill>
            <a:blip r:embed="rId3" cstate="print"/>
            <a:srcRect/>
            <a:stretch>
              <a:fillRect/>
            </a:stretch>
          </p:blipFill>
          <p:spPr bwMode="auto">
            <a:xfrm>
              <a:off x="478072" y="4507307"/>
              <a:ext cx="395624" cy="396093"/>
            </a:xfrm>
            <a:prstGeom prst="rect">
              <a:avLst/>
            </a:prstGeom>
            <a:noFill/>
            <a:ln w="9525">
              <a:noFill/>
              <a:miter lim="800000"/>
              <a:headEnd/>
              <a:tailEnd/>
            </a:ln>
          </p:spPr>
        </p:pic>
      </p:grpSp>
      <p:pic>
        <p:nvPicPr>
          <p:cNvPr id="51" name="图片 50">
            <a:extLst>
              <a:ext uri="{FF2B5EF4-FFF2-40B4-BE49-F238E27FC236}">
                <a16:creationId xmlns:a16="http://schemas.microsoft.com/office/drawing/2014/main" id="{EA11C817-7AD8-4FE5-9FDE-8B8425E4C33A}"/>
              </a:ext>
            </a:extLst>
          </p:cNvPr>
          <p:cNvPicPr>
            <a:picLocks noChangeAspect="1"/>
          </p:cNvPicPr>
          <p:nvPr/>
        </p:nvPicPr>
        <p:blipFill>
          <a:blip r:embed="rId4"/>
          <a:stretch>
            <a:fillRect/>
          </a:stretch>
        </p:blipFill>
        <p:spPr>
          <a:xfrm>
            <a:off x="2816717" y="5478907"/>
            <a:ext cx="3510565" cy="435112"/>
          </a:xfrm>
          <a:prstGeom prst="rect">
            <a:avLst/>
          </a:prstGeom>
        </p:spPr>
      </p:pic>
    </p:spTree>
    <p:extLst>
      <p:ext uri="{BB962C8B-B14F-4D97-AF65-F5344CB8AC3E}">
        <p14:creationId xmlns:p14="http://schemas.microsoft.com/office/powerpoint/2010/main" val="88590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down)">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down)">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2">
                    <a:lumMod val="10000"/>
                  </a:schemeClr>
                </a:solidFill>
              </a:rPr>
              <a:t>归约意味着什么？</a:t>
            </a:r>
          </a:p>
        </p:txBody>
      </p:sp>
      <p:grpSp>
        <p:nvGrpSpPr>
          <p:cNvPr id="12" name="组合 11">
            <a:extLst>
              <a:ext uri="{FF2B5EF4-FFF2-40B4-BE49-F238E27FC236}">
                <a16:creationId xmlns:a16="http://schemas.microsoft.com/office/drawing/2014/main" id="{009EB227-9A9B-4696-92D3-CF6EAF7DC5D1}"/>
              </a:ext>
            </a:extLst>
          </p:cNvPr>
          <p:cNvGrpSpPr/>
          <p:nvPr/>
        </p:nvGrpSpPr>
        <p:grpSpPr>
          <a:xfrm>
            <a:off x="287523" y="3536632"/>
            <a:ext cx="8568953" cy="2059588"/>
            <a:chOff x="323528" y="1292737"/>
            <a:chExt cx="8568953" cy="2059588"/>
          </a:xfrm>
        </p:grpSpPr>
        <p:grpSp>
          <p:nvGrpSpPr>
            <p:cNvPr id="6" name="组合 39"/>
            <p:cNvGrpSpPr/>
            <p:nvPr/>
          </p:nvGrpSpPr>
          <p:grpSpPr>
            <a:xfrm>
              <a:off x="323528" y="1292737"/>
              <a:ext cx="5433482" cy="424732"/>
              <a:chOff x="428026" y="2356950"/>
              <a:chExt cx="5433482" cy="424732"/>
            </a:xfrm>
          </p:grpSpPr>
          <p:pic>
            <p:nvPicPr>
              <p:cNvPr id="7" name="Picture 76" descr="IconTexto_WebDev_013"/>
              <p:cNvPicPr>
                <a:picLocks noChangeAspect="1" noChangeArrowheads="1"/>
              </p:cNvPicPr>
              <p:nvPr/>
            </p:nvPicPr>
            <p:blipFill>
              <a:blip r:embed="rId2" cstate="print"/>
              <a:srcRect/>
              <a:stretch>
                <a:fillRect/>
              </a:stretch>
            </p:blipFill>
            <p:spPr bwMode="auto">
              <a:xfrm>
                <a:off x="428026" y="2357429"/>
                <a:ext cx="395624" cy="396093"/>
              </a:xfrm>
              <a:prstGeom prst="rect">
                <a:avLst/>
              </a:prstGeom>
              <a:noFill/>
              <a:ln w="9525">
                <a:noFill/>
                <a:miter lim="800000"/>
                <a:headEnd/>
                <a:tailEnd/>
              </a:ln>
            </p:spPr>
          </p:pic>
          <p:sp>
            <p:nvSpPr>
              <p:cNvPr id="8" name="Text Box 33"/>
              <p:cNvSpPr txBox="1">
                <a:spLocks noChangeArrowheads="1"/>
              </p:cNvSpPr>
              <p:nvPr/>
            </p:nvSpPr>
            <p:spPr bwMode="black">
              <a:xfrm>
                <a:off x="752417" y="2356950"/>
                <a:ext cx="5109091" cy="424732"/>
              </a:xfrm>
              <a:prstGeom prst="rect">
                <a:avLst/>
              </a:prstGeom>
              <a:noFill/>
              <a:ln w="9525">
                <a:noFill/>
                <a:miter lim="800000"/>
                <a:headEnd/>
                <a:tailEnd/>
              </a:ln>
            </p:spPr>
            <p:txBody>
              <a:bodyPr wrap="none">
                <a:spAutoFit/>
              </a:bodyPr>
              <a:lstStyle/>
              <a:p>
                <a:pPr algn="l">
                  <a:lnSpc>
                    <a:spcPct val="90000"/>
                  </a:lnSpc>
                </a:pPr>
                <a:r>
                  <a:rPr lang="zh-CN" altLang="en-US" sz="2400" dirty="0">
                    <a:solidFill>
                      <a:schemeClr val="bg2">
                        <a:lumMod val="10000"/>
                      </a:schemeClr>
                    </a:solidFill>
                    <a:latin typeface="Arial" pitchFamily="34" charset="0"/>
                    <a:cs typeface="Arial" pitchFamily="34" charset="0"/>
                  </a:rPr>
                  <a:t>对我们的目的来说，这意味着什么？</a:t>
                </a:r>
                <a:endParaRPr lang="en-US" altLang="zh-CN" sz="2400" dirty="0">
                  <a:solidFill>
                    <a:schemeClr val="bg2">
                      <a:lumMod val="10000"/>
                    </a:schemeClr>
                  </a:solidFill>
                  <a:latin typeface="Arial" pitchFamily="34" charset="0"/>
                  <a:cs typeface="Arial" pitchFamily="34" charset="0"/>
                </a:endParaRPr>
              </a:p>
            </p:txBody>
          </p:sp>
        </p:grpSp>
        <p:grpSp>
          <p:nvGrpSpPr>
            <p:cNvPr id="3" name="组合 2">
              <a:extLst>
                <a:ext uri="{FF2B5EF4-FFF2-40B4-BE49-F238E27FC236}">
                  <a16:creationId xmlns:a16="http://schemas.microsoft.com/office/drawing/2014/main" id="{BEDD6DB5-D50F-40DB-9C80-0FCE774CF401}"/>
                </a:ext>
              </a:extLst>
            </p:cNvPr>
            <p:cNvGrpSpPr/>
            <p:nvPr/>
          </p:nvGrpSpPr>
          <p:grpSpPr>
            <a:xfrm>
              <a:off x="539552" y="1902716"/>
              <a:ext cx="8352929" cy="1449609"/>
              <a:chOff x="539552" y="1902716"/>
              <a:chExt cx="8352929" cy="1449609"/>
            </a:xfrm>
          </p:grpSpPr>
          <p:grpSp>
            <p:nvGrpSpPr>
              <p:cNvPr id="9" name="组合 62"/>
              <p:cNvGrpSpPr>
                <a:grpSpLocks/>
              </p:cNvGrpSpPr>
              <p:nvPr/>
            </p:nvGrpSpPr>
            <p:grpSpPr bwMode="auto">
              <a:xfrm>
                <a:off x="539552" y="1902716"/>
                <a:ext cx="8352929" cy="888311"/>
                <a:chOff x="3286116" y="1336849"/>
                <a:chExt cx="8351082" cy="888723"/>
              </a:xfrm>
            </p:grpSpPr>
            <p:sp>
              <p:nvSpPr>
                <p:cNvPr id="10" name="TextBox 37"/>
                <p:cNvSpPr txBox="1">
                  <a:spLocks noChangeArrowheads="1"/>
                </p:cNvSpPr>
                <p:nvPr/>
              </p:nvSpPr>
              <p:spPr bwMode="auto">
                <a:xfrm>
                  <a:off x="3857261" y="1336849"/>
                  <a:ext cx="7779937" cy="888723"/>
                </a:xfrm>
                <a:prstGeom prst="rect">
                  <a:avLst/>
                </a:prstGeom>
                <a:noFill/>
                <a:ln w="9525">
                  <a:noFill/>
                  <a:miter lim="800000"/>
                  <a:headEnd/>
                  <a:tailEnd/>
                </a:ln>
              </p:spPr>
              <p:txBody>
                <a:bodyPr wrap="square" lIns="36000" tIns="36000" rIns="36000" bIns="36000">
                  <a:spAutoFit/>
                </a:bodyPr>
                <a:lstStyle/>
                <a:p>
                  <a:pPr algn="l">
                    <a:spcBef>
                      <a:spcPts val="600"/>
                    </a:spcBef>
                  </a:pPr>
                  <a:r>
                    <a:rPr lang="en-US" altLang="zh-CN" sz="2400" dirty="0">
                      <a:solidFill>
                        <a:schemeClr val="bg2">
                          <a:lumMod val="10000"/>
                        </a:schemeClr>
                      </a:solidFill>
                      <a:latin typeface="Times New Roman" pitchFamily="18" charset="0"/>
                      <a:cs typeface="Times New Roman" pitchFamily="18" charset="0"/>
                    </a:rPr>
                    <a:t>Step1:</a:t>
                  </a:r>
                  <a:r>
                    <a:rPr lang="zh-CN" altLang="en-US" sz="2400" dirty="0">
                      <a:solidFill>
                        <a:schemeClr val="bg2">
                          <a:lumMod val="10000"/>
                        </a:schemeClr>
                      </a:solidFill>
                      <a:latin typeface="Times New Roman" pitchFamily="18" charset="0"/>
                      <a:cs typeface="Times New Roman" pitchFamily="18" charset="0"/>
                    </a:rPr>
                    <a:t> 去找到一个已知的</a:t>
                  </a:r>
                  <a:r>
                    <a:rPr lang="en-US" altLang="zh-CN" sz="2400" dirty="0">
                      <a:solidFill>
                        <a:schemeClr val="bg2">
                          <a:lumMod val="10000"/>
                        </a:schemeClr>
                      </a:solidFill>
                      <a:latin typeface="Times New Roman" pitchFamily="18" charset="0"/>
                      <a:cs typeface="Times New Roman" pitchFamily="18" charset="0"/>
                    </a:rPr>
                    <a:t>NP-C</a:t>
                  </a:r>
                  <a:r>
                    <a:rPr lang="zh-CN" altLang="en-US" sz="2400" dirty="0">
                      <a:solidFill>
                        <a:schemeClr val="bg2">
                          <a:lumMod val="10000"/>
                        </a:schemeClr>
                      </a:solidFill>
                      <a:latin typeface="Times New Roman" pitchFamily="18" charset="0"/>
                      <a:cs typeface="Times New Roman" pitchFamily="18" charset="0"/>
                    </a:rPr>
                    <a:t>问题</a:t>
                  </a:r>
                  <a:r>
                    <a:rPr lang="en-US" altLang="zh-CN" sz="2400" dirty="0">
                      <a:solidFill>
                        <a:schemeClr val="bg2">
                          <a:lumMod val="10000"/>
                        </a:schemeClr>
                      </a:solidFill>
                      <a:latin typeface="Times New Roman" pitchFamily="18" charset="0"/>
                      <a:cs typeface="Times New Roman" pitchFamily="18" charset="0"/>
                    </a:rPr>
                    <a:t>A</a:t>
                  </a:r>
                  <a:r>
                    <a:rPr lang="zh-CN" altLang="en-US" sz="2400" dirty="0">
                      <a:solidFill>
                        <a:schemeClr val="bg2">
                          <a:lumMod val="10000"/>
                        </a:schemeClr>
                      </a:solidFill>
                      <a:latin typeface="Times New Roman" pitchFamily="18" charset="0"/>
                      <a:cs typeface="Times New Roman" pitchFamily="18" charset="0"/>
                    </a:rPr>
                    <a:t>；</a:t>
                  </a:r>
                  <a:endParaRPr lang="en-US" altLang="zh-CN" sz="2400" dirty="0">
                    <a:solidFill>
                      <a:schemeClr val="bg2">
                        <a:lumMod val="10000"/>
                      </a:schemeClr>
                    </a:solidFill>
                    <a:latin typeface="Times New Roman" pitchFamily="18" charset="0"/>
                    <a:cs typeface="Times New Roman" pitchFamily="18" charset="0"/>
                  </a:endParaRPr>
                </a:p>
                <a:p>
                  <a:pPr algn="l">
                    <a:spcBef>
                      <a:spcPts val="600"/>
                    </a:spcBef>
                  </a:pPr>
                  <a:endParaRPr lang="en-US" altLang="zh-CN" sz="2400" dirty="0">
                    <a:solidFill>
                      <a:schemeClr val="bg2">
                        <a:lumMod val="10000"/>
                      </a:schemeClr>
                    </a:solidFill>
                    <a:latin typeface="Times New Roman" pitchFamily="18" charset="0"/>
                    <a:cs typeface="Times New Roman" pitchFamily="18" charset="0"/>
                  </a:endParaRPr>
                </a:p>
              </p:txBody>
            </p:sp>
            <p:pic>
              <p:nvPicPr>
                <p:cNvPr id="11" name="Picture 21" descr="coquette_035"/>
                <p:cNvPicPr>
                  <a:picLocks noChangeAspect="1" noChangeArrowheads="1"/>
                </p:cNvPicPr>
                <p:nvPr/>
              </p:nvPicPr>
              <p:blipFill>
                <a:blip r:embed="rId3" cstate="print"/>
                <a:srcRect/>
                <a:stretch>
                  <a:fillRect/>
                </a:stretch>
              </p:blipFill>
              <p:spPr bwMode="auto">
                <a:xfrm>
                  <a:off x="3286116" y="1357298"/>
                  <a:ext cx="566777" cy="324000"/>
                </a:xfrm>
                <a:prstGeom prst="rect">
                  <a:avLst/>
                </a:prstGeom>
                <a:noFill/>
                <a:ln w="9525">
                  <a:noFill/>
                  <a:miter lim="800000"/>
                  <a:headEnd/>
                  <a:tailEnd/>
                </a:ln>
              </p:spPr>
            </p:pic>
          </p:grpSp>
          <p:grpSp>
            <p:nvGrpSpPr>
              <p:cNvPr id="13" name="组合 62"/>
              <p:cNvGrpSpPr>
                <a:grpSpLocks/>
              </p:cNvGrpSpPr>
              <p:nvPr/>
            </p:nvGrpSpPr>
            <p:grpSpPr bwMode="auto">
              <a:xfrm>
                <a:off x="539552" y="2540958"/>
                <a:ext cx="7891236" cy="811367"/>
                <a:chOff x="3286116" y="901330"/>
                <a:chExt cx="7889491" cy="811743"/>
              </a:xfrm>
            </p:grpSpPr>
            <p:sp>
              <p:nvSpPr>
                <p:cNvPr id="25" name="TextBox 37">
                  <a:extLst>
                    <a:ext uri="{FF2B5EF4-FFF2-40B4-BE49-F238E27FC236}">
                      <a16:creationId xmlns:a16="http://schemas.microsoft.com/office/drawing/2014/main" id="{1B627C36-B568-48A8-9470-5A1272886216}"/>
                    </a:ext>
                  </a:extLst>
                </p:cNvPr>
                <p:cNvSpPr txBox="1">
                  <a:spLocks noChangeArrowheads="1"/>
                </p:cNvSpPr>
                <p:nvPr/>
              </p:nvSpPr>
              <p:spPr bwMode="auto">
                <a:xfrm>
                  <a:off x="3857261" y="901330"/>
                  <a:ext cx="7318346" cy="811743"/>
                </a:xfrm>
                <a:prstGeom prst="rect">
                  <a:avLst/>
                </a:prstGeom>
                <a:noFill/>
                <a:ln w="9525">
                  <a:noFill/>
                  <a:miter lim="800000"/>
                  <a:headEnd/>
                  <a:tailEnd/>
                </a:ln>
              </p:spPr>
              <p:txBody>
                <a:bodyPr wrap="square" lIns="36000" tIns="36000" rIns="36000" bIns="36000">
                  <a:spAutoFit/>
                </a:bodyPr>
                <a:lstStyle/>
                <a:p>
                  <a:pPr algn="l">
                    <a:spcBef>
                      <a:spcPts val="600"/>
                    </a:spcBef>
                  </a:pPr>
                  <a:r>
                    <a:rPr lang="en-US" altLang="zh-CN" sz="2400" dirty="0">
                      <a:solidFill>
                        <a:schemeClr val="bg2">
                          <a:lumMod val="10000"/>
                        </a:schemeClr>
                      </a:solidFill>
                      <a:latin typeface="Times New Roman" pitchFamily="18" charset="0"/>
                      <a:cs typeface="Times New Roman" pitchFamily="18" charset="0"/>
                    </a:rPr>
                    <a:t>Step2:</a:t>
                  </a:r>
                  <a:r>
                    <a:rPr lang="zh-CN" altLang="en-US" sz="2400" dirty="0">
                      <a:solidFill>
                        <a:schemeClr val="bg2">
                          <a:lumMod val="10000"/>
                        </a:schemeClr>
                      </a:solidFill>
                      <a:latin typeface="Times New Roman" pitchFamily="18" charset="0"/>
                      <a:cs typeface="Times New Roman" pitchFamily="18" charset="0"/>
                    </a:rPr>
                    <a:t> 证明该问题归约为你的问题 </a:t>
                  </a:r>
                  <a:r>
                    <a:rPr lang="en-US" altLang="zh-CN" sz="2400" dirty="0">
                      <a:solidFill>
                        <a:schemeClr val="bg2">
                          <a:lumMod val="10000"/>
                        </a:schemeClr>
                      </a:solidFill>
                      <a:latin typeface="Times New Roman" pitchFamily="18" charset="0"/>
                      <a:cs typeface="Times New Roman" pitchFamily="18" charset="0"/>
                    </a:rPr>
                    <a:t>B</a:t>
                  </a:r>
                  <a:r>
                    <a:rPr lang="zh-CN" altLang="en-US" sz="2400" dirty="0">
                      <a:solidFill>
                        <a:schemeClr val="bg2">
                          <a:lumMod val="10000"/>
                        </a:schemeClr>
                      </a:solidFill>
                      <a:latin typeface="Times New Roman" pitchFamily="18" charset="0"/>
                      <a:cs typeface="Times New Roman" pitchFamily="18" charset="0"/>
                    </a:rPr>
                    <a:t>。那么你的问题就是</a:t>
                  </a:r>
                  <a:r>
                    <a:rPr lang="en-US" altLang="zh-CN" sz="2400" dirty="0">
                      <a:solidFill>
                        <a:schemeClr val="bg2">
                          <a:lumMod val="10000"/>
                        </a:schemeClr>
                      </a:solidFill>
                      <a:latin typeface="Times New Roman" pitchFamily="18" charset="0"/>
                      <a:cs typeface="Times New Roman" pitchFamily="18" charset="0"/>
                    </a:rPr>
                    <a:t>NP-Hard</a:t>
                  </a:r>
                  <a:r>
                    <a:rPr lang="zh-CN" altLang="en-US" sz="2400" dirty="0">
                      <a:solidFill>
                        <a:schemeClr val="bg2">
                          <a:lumMod val="10000"/>
                        </a:schemeClr>
                      </a:solidFill>
                      <a:latin typeface="Times New Roman" pitchFamily="18" charset="0"/>
                      <a:cs typeface="Times New Roman" pitchFamily="18" charset="0"/>
                    </a:rPr>
                    <a:t>的</a:t>
                  </a:r>
                  <a:endParaRPr lang="en-US" altLang="zh-CN" sz="2400" dirty="0">
                    <a:solidFill>
                      <a:schemeClr val="bg2">
                        <a:lumMod val="10000"/>
                      </a:schemeClr>
                    </a:solidFill>
                    <a:latin typeface="Times New Roman" pitchFamily="18" charset="0"/>
                    <a:cs typeface="Times New Roman" pitchFamily="18" charset="0"/>
                  </a:endParaRPr>
                </a:p>
              </p:txBody>
            </p:sp>
            <p:pic>
              <p:nvPicPr>
                <p:cNvPr id="26" name="Picture 21" descr="coquette_035">
                  <a:extLst>
                    <a:ext uri="{FF2B5EF4-FFF2-40B4-BE49-F238E27FC236}">
                      <a16:creationId xmlns:a16="http://schemas.microsoft.com/office/drawing/2014/main" id="{E3FD9F9D-3FEC-4E6F-BFC1-9BC0EFCAEB1C}"/>
                    </a:ext>
                  </a:extLst>
                </p:cNvPr>
                <p:cNvPicPr>
                  <a:picLocks noChangeAspect="1" noChangeArrowheads="1"/>
                </p:cNvPicPr>
                <p:nvPr/>
              </p:nvPicPr>
              <p:blipFill>
                <a:blip r:embed="rId3" cstate="print"/>
                <a:srcRect/>
                <a:stretch>
                  <a:fillRect/>
                </a:stretch>
              </p:blipFill>
              <p:spPr bwMode="auto">
                <a:xfrm>
                  <a:off x="3286116" y="921780"/>
                  <a:ext cx="566777" cy="324000"/>
                </a:xfrm>
                <a:prstGeom prst="rect">
                  <a:avLst/>
                </a:prstGeom>
                <a:noFill/>
                <a:ln w="9525">
                  <a:noFill/>
                  <a:miter lim="800000"/>
                  <a:headEnd/>
                  <a:tailEnd/>
                </a:ln>
              </p:spPr>
            </p:pic>
          </p:grpSp>
        </p:grpSp>
      </p:grpSp>
      <p:sp>
        <p:nvSpPr>
          <p:cNvPr id="24" name="文本框 23">
            <a:extLst>
              <a:ext uri="{FF2B5EF4-FFF2-40B4-BE49-F238E27FC236}">
                <a16:creationId xmlns:a16="http://schemas.microsoft.com/office/drawing/2014/main" id="{0B9719A7-C345-4B14-9408-B63AE5C8F937}"/>
              </a:ext>
            </a:extLst>
          </p:cNvPr>
          <p:cNvSpPr txBox="1"/>
          <p:nvPr/>
        </p:nvSpPr>
        <p:spPr>
          <a:xfrm>
            <a:off x="611914" y="1092737"/>
            <a:ext cx="8142729" cy="1883080"/>
          </a:xfrm>
          <a:prstGeom prst="rect">
            <a:avLst/>
          </a:prstGeom>
          <a:noFill/>
          <a:ln w="12700">
            <a:noFill/>
          </a:ln>
        </p:spPr>
        <p:txBody>
          <a:bodyPr wrap="square">
            <a:spAutoFit/>
          </a:bodyPr>
          <a:lstStyle/>
          <a:p>
            <a:pPr>
              <a:lnSpc>
                <a:spcPct val="150000"/>
              </a:lnSpc>
            </a:pPr>
            <a:r>
              <a:rPr lang="zh-CN" altLang="en-US" sz="2000" dirty="0">
                <a:solidFill>
                  <a:schemeClr val="bg2">
                    <a:lumMod val="10000"/>
                  </a:schemeClr>
                </a:solidFill>
              </a:rPr>
              <a:t>假设</a:t>
            </a:r>
            <a:r>
              <a:rPr lang="en-US" altLang="zh-CN" sz="2000" dirty="0">
                <a:solidFill>
                  <a:schemeClr val="bg2">
                    <a:lumMod val="10000"/>
                  </a:schemeClr>
                </a:solidFill>
              </a:rPr>
              <a:t>A</a:t>
            </a:r>
            <a:r>
              <a:rPr lang="zh-CN" altLang="en-US" sz="2000" dirty="0">
                <a:solidFill>
                  <a:schemeClr val="bg2">
                    <a:lumMod val="10000"/>
                  </a:schemeClr>
                </a:solidFill>
              </a:rPr>
              <a:t>可归约为</a:t>
            </a:r>
            <a:r>
              <a:rPr lang="en-US" altLang="zh-CN" sz="2000" dirty="0">
                <a:solidFill>
                  <a:schemeClr val="bg2">
                    <a:lumMod val="10000"/>
                  </a:schemeClr>
                </a:solidFill>
              </a:rPr>
              <a:t>B</a:t>
            </a:r>
            <a:r>
              <a:rPr lang="zh-CN" altLang="en-US" sz="2000" dirty="0">
                <a:solidFill>
                  <a:schemeClr val="bg2">
                    <a:lumMod val="10000"/>
                  </a:schemeClr>
                </a:solidFill>
              </a:rPr>
              <a:t>，归约可以达到两个目标：</a:t>
            </a:r>
          </a:p>
          <a:p>
            <a:pPr>
              <a:lnSpc>
                <a:spcPct val="150000"/>
              </a:lnSpc>
            </a:pPr>
            <a:r>
              <a:rPr lang="en-US" altLang="zh-CN" sz="2000" dirty="0">
                <a:solidFill>
                  <a:schemeClr val="bg2">
                    <a:lumMod val="10000"/>
                  </a:schemeClr>
                </a:solidFill>
              </a:rPr>
              <a:t>(1)</a:t>
            </a:r>
            <a:r>
              <a:rPr lang="zh-CN" altLang="en-US" sz="2000" dirty="0">
                <a:solidFill>
                  <a:schemeClr val="bg2">
                    <a:lumMod val="10000"/>
                  </a:schemeClr>
                </a:solidFill>
              </a:rPr>
              <a:t>已知</a:t>
            </a:r>
            <a:r>
              <a:rPr lang="en-US" altLang="zh-CN" sz="2000" dirty="0">
                <a:solidFill>
                  <a:schemeClr val="bg2">
                    <a:lumMod val="10000"/>
                  </a:schemeClr>
                </a:solidFill>
              </a:rPr>
              <a:t>B</a:t>
            </a:r>
            <a:r>
              <a:rPr lang="zh-CN" altLang="en-US" sz="2000" dirty="0">
                <a:solidFill>
                  <a:schemeClr val="bg2">
                    <a:lumMod val="10000"/>
                  </a:schemeClr>
                </a:solidFill>
              </a:rPr>
              <a:t>的算法</a:t>
            </a:r>
            <a:r>
              <a:rPr lang="en-US" altLang="zh-CN" sz="2000" dirty="0">
                <a:solidFill>
                  <a:schemeClr val="bg2">
                    <a:lumMod val="10000"/>
                  </a:schemeClr>
                </a:solidFill>
              </a:rPr>
              <a:t>,</a:t>
            </a:r>
            <a:r>
              <a:rPr lang="zh-CN" altLang="en-US" sz="2000" dirty="0">
                <a:solidFill>
                  <a:schemeClr val="bg2">
                    <a:lumMod val="10000"/>
                  </a:schemeClr>
                </a:solidFill>
              </a:rPr>
              <a:t>那么就可以把</a:t>
            </a:r>
            <a:r>
              <a:rPr lang="en-US" altLang="zh-CN" sz="2000" dirty="0">
                <a:solidFill>
                  <a:schemeClr val="bg2">
                    <a:lumMod val="10000"/>
                  </a:schemeClr>
                </a:solidFill>
              </a:rPr>
              <a:t>B</a:t>
            </a:r>
            <a:r>
              <a:rPr lang="zh-CN" altLang="en-US" sz="2000" dirty="0">
                <a:solidFill>
                  <a:schemeClr val="bg2">
                    <a:lumMod val="10000"/>
                  </a:schemeClr>
                </a:solidFill>
              </a:rPr>
              <a:t>的解决方法转化成一个</a:t>
            </a:r>
            <a:r>
              <a:rPr lang="en-US" altLang="zh-CN" sz="2000" dirty="0">
                <a:solidFill>
                  <a:schemeClr val="bg2">
                    <a:lumMod val="10000"/>
                  </a:schemeClr>
                </a:solidFill>
              </a:rPr>
              <a:t>A</a:t>
            </a:r>
            <a:r>
              <a:rPr lang="zh-CN" altLang="en-US" sz="2000" dirty="0">
                <a:solidFill>
                  <a:schemeClr val="bg2">
                    <a:lumMod val="10000"/>
                  </a:schemeClr>
                </a:solidFill>
              </a:rPr>
              <a:t>的算法。</a:t>
            </a:r>
          </a:p>
          <a:p>
            <a:pPr>
              <a:lnSpc>
                <a:spcPct val="150000"/>
              </a:lnSpc>
            </a:pPr>
            <a:r>
              <a:rPr lang="en-US" altLang="zh-CN" sz="2000" dirty="0">
                <a:solidFill>
                  <a:schemeClr val="bg2">
                    <a:lumMod val="10000"/>
                  </a:schemeClr>
                </a:solidFill>
              </a:rPr>
              <a:t>(2)</a:t>
            </a:r>
            <a:r>
              <a:rPr lang="zh-CN" altLang="en-US" sz="2000" dirty="0">
                <a:solidFill>
                  <a:schemeClr val="bg2">
                    <a:lumMod val="10000"/>
                  </a:schemeClr>
                </a:solidFill>
              </a:rPr>
              <a:t>如果</a:t>
            </a:r>
            <a:r>
              <a:rPr lang="en-US" altLang="zh-CN" sz="2000" dirty="0">
                <a:solidFill>
                  <a:schemeClr val="bg2">
                    <a:lumMod val="10000"/>
                  </a:schemeClr>
                </a:solidFill>
              </a:rPr>
              <a:t>A</a:t>
            </a:r>
            <a:r>
              <a:rPr lang="zh-CN" altLang="en-US" sz="2000" dirty="0">
                <a:solidFill>
                  <a:schemeClr val="bg2">
                    <a:lumMod val="10000"/>
                  </a:schemeClr>
                </a:solidFill>
              </a:rPr>
              <a:t>是一个已知的难题，</a:t>
            </a:r>
            <a:r>
              <a:rPr lang="en-US" altLang="zh-CN" sz="2000" dirty="0">
                <a:solidFill>
                  <a:schemeClr val="bg2">
                    <a:lumMod val="10000"/>
                  </a:schemeClr>
                </a:solidFill>
              </a:rPr>
              <a:t>A</a:t>
            </a:r>
            <a:r>
              <a:rPr lang="zh-CN" altLang="en-US" sz="2000" dirty="0">
                <a:solidFill>
                  <a:schemeClr val="bg2">
                    <a:lumMod val="10000"/>
                  </a:schemeClr>
                </a:solidFill>
              </a:rPr>
              <a:t>的下限也适用于</a:t>
            </a:r>
            <a:r>
              <a:rPr lang="en-US" altLang="zh-CN" sz="2000" dirty="0">
                <a:solidFill>
                  <a:schemeClr val="bg2">
                    <a:lumMod val="10000"/>
                  </a:schemeClr>
                </a:solidFill>
              </a:rPr>
              <a:t>B</a:t>
            </a:r>
            <a:r>
              <a:rPr lang="zh-CN" altLang="en-US" sz="2000" dirty="0">
                <a:solidFill>
                  <a:schemeClr val="bg2">
                    <a:lumMod val="10000"/>
                  </a:schemeClr>
                </a:solidFill>
              </a:rPr>
              <a:t>。</a:t>
            </a:r>
            <a:endParaRPr lang="en-US" altLang="zh-CN" sz="2000" dirty="0">
              <a:solidFill>
                <a:schemeClr val="bg2">
                  <a:lumMod val="10000"/>
                </a:schemeClr>
              </a:solidFill>
            </a:endParaRPr>
          </a:p>
          <a:p>
            <a:pPr>
              <a:lnSpc>
                <a:spcPct val="150000"/>
              </a:lnSpc>
            </a:pPr>
            <a:r>
              <a:rPr lang="zh-CN" altLang="en-US" sz="2000" dirty="0">
                <a:solidFill>
                  <a:schemeClr val="bg2">
                    <a:lumMod val="10000"/>
                  </a:schemeClr>
                </a:solidFill>
              </a:rPr>
              <a:t>前一个是归约用于获取</a:t>
            </a:r>
            <a:r>
              <a:rPr lang="en-US" altLang="zh-CN" sz="2000" dirty="0">
                <a:solidFill>
                  <a:schemeClr val="bg2">
                    <a:lumMod val="10000"/>
                  </a:schemeClr>
                </a:solidFill>
              </a:rPr>
              <a:t>A</a:t>
            </a:r>
            <a:r>
              <a:rPr lang="zh-CN" altLang="en-US" sz="2000" dirty="0">
                <a:solidFill>
                  <a:schemeClr val="bg2">
                    <a:lumMod val="10000"/>
                  </a:schemeClr>
                </a:solidFill>
              </a:rPr>
              <a:t>的信息</a:t>
            </a:r>
            <a:r>
              <a:rPr lang="en-US" altLang="zh-CN" sz="2000" dirty="0">
                <a:solidFill>
                  <a:schemeClr val="bg2">
                    <a:lumMod val="10000"/>
                  </a:schemeClr>
                </a:solidFill>
              </a:rPr>
              <a:t>;</a:t>
            </a:r>
            <a:r>
              <a:rPr lang="zh-CN" altLang="en-US" sz="2000" dirty="0">
                <a:solidFill>
                  <a:schemeClr val="bg2">
                    <a:lumMod val="10000"/>
                  </a:schemeClr>
                </a:solidFill>
              </a:rPr>
              <a:t>而后者则是用于获取</a:t>
            </a:r>
            <a:r>
              <a:rPr lang="en-US" altLang="zh-CN" sz="2000" dirty="0">
                <a:solidFill>
                  <a:schemeClr val="bg2">
                    <a:lumMod val="10000"/>
                  </a:schemeClr>
                </a:solidFill>
              </a:rPr>
              <a:t>B</a:t>
            </a:r>
            <a:r>
              <a:rPr lang="zh-CN" altLang="en-US" sz="2000" dirty="0">
                <a:solidFill>
                  <a:schemeClr val="bg2">
                    <a:lumMod val="10000"/>
                  </a:schemeClr>
                </a:solidFill>
              </a:rPr>
              <a:t>的信息。</a:t>
            </a:r>
          </a:p>
        </p:txBody>
      </p:sp>
    </p:spTree>
    <p:extLst>
      <p:ext uri="{BB962C8B-B14F-4D97-AF65-F5344CB8AC3E}">
        <p14:creationId xmlns:p14="http://schemas.microsoft.com/office/powerpoint/2010/main" val="2039241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D0723A-FE97-41E6-85C7-2D1B2B81E71A}"/>
              </a:ext>
            </a:extLst>
          </p:cNvPr>
          <p:cNvSpPr>
            <a:spLocks noGrp="1"/>
          </p:cNvSpPr>
          <p:nvPr>
            <p:ph type="title"/>
          </p:nvPr>
        </p:nvSpPr>
        <p:spPr/>
        <p:txBody>
          <a:bodyPr/>
          <a:lstStyle/>
          <a:p>
            <a:r>
              <a:rPr lang="zh-CN" altLang="en-US" dirty="0"/>
              <a:t>实际论文中的例子</a:t>
            </a:r>
          </a:p>
        </p:txBody>
      </p:sp>
      <p:pic>
        <p:nvPicPr>
          <p:cNvPr id="9" name="图片 8">
            <a:extLst>
              <a:ext uri="{FF2B5EF4-FFF2-40B4-BE49-F238E27FC236}">
                <a16:creationId xmlns:a16="http://schemas.microsoft.com/office/drawing/2014/main" id="{B4CE95B3-F322-4947-B2B6-28B1ABC5758E}"/>
              </a:ext>
            </a:extLst>
          </p:cNvPr>
          <p:cNvPicPr>
            <a:picLocks noChangeAspect="1"/>
          </p:cNvPicPr>
          <p:nvPr/>
        </p:nvPicPr>
        <p:blipFill>
          <a:blip r:embed="rId2"/>
          <a:stretch>
            <a:fillRect/>
          </a:stretch>
        </p:blipFill>
        <p:spPr>
          <a:xfrm>
            <a:off x="2725900" y="925598"/>
            <a:ext cx="3692199" cy="529243"/>
          </a:xfrm>
          <a:prstGeom prst="rect">
            <a:avLst/>
          </a:prstGeom>
        </p:spPr>
      </p:pic>
      <p:grpSp>
        <p:nvGrpSpPr>
          <p:cNvPr id="16" name="组合 15">
            <a:extLst>
              <a:ext uri="{FF2B5EF4-FFF2-40B4-BE49-F238E27FC236}">
                <a16:creationId xmlns:a16="http://schemas.microsoft.com/office/drawing/2014/main" id="{EFB089F4-339A-4DCF-8290-070FD03DB509}"/>
              </a:ext>
            </a:extLst>
          </p:cNvPr>
          <p:cNvGrpSpPr/>
          <p:nvPr/>
        </p:nvGrpSpPr>
        <p:grpSpPr>
          <a:xfrm>
            <a:off x="685800" y="1518934"/>
            <a:ext cx="4959605" cy="4584181"/>
            <a:chOff x="685800" y="1518934"/>
            <a:chExt cx="4959605" cy="4584181"/>
          </a:xfrm>
        </p:grpSpPr>
        <p:pic>
          <p:nvPicPr>
            <p:cNvPr id="11" name="图片 10">
              <a:extLst>
                <a:ext uri="{FF2B5EF4-FFF2-40B4-BE49-F238E27FC236}">
                  <a16:creationId xmlns:a16="http://schemas.microsoft.com/office/drawing/2014/main" id="{8B3BB470-E56B-481C-8421-A4042F3FE12B}"/>
                </a:ext>
              </a:extLst>
            </p:cNvPr>
            <p:cNvPicPr>
              <a:picLocks noChangeAspect="1"/>
            </p:cNvPicPr>
            <p:nvPr/>
          </p:nvPicPr>
          <p:blipFill>
            <a:blip r:embed="rId3"/>
            <a:stretch>
              <a:fillRect/>
            </a:stretch>
          </p:blipFill>
          <p:spPr>
            <a:xfrm>
              <a:off x="685800" y="3614870"/>
              <a:ext cx="4037675" cy="2488245"/>
            </a:xfrm>
            <a:prstGeom prst="rect">
              <a:avLst/>
            </a:prstGeom>
          </p:spPr>
        </p:pic>
        <p:pic>
          <p:nvPicPr>
            <p:cNvPr id="13" name="图片 12">
              <a:extLst>
                <a:ext uri="{FF2B5EF4-FFF2-40B4-BE49-F238E27FC236}">
                  <a16:creationId xmlns:a16="http://schemas.microsoft.com/office/drawing/2014/main" id="{0B68A2F6-3597-48C7-A1BD-AD5B914AFB9D}"/>
                </a:ext>
              </a:extLst>
            </p:cNvPr>
            <p:cNvPicPr>
              <a:picLocks noChangeAspect="1"/>
            </p:cNvPicPr>
            <p:nvPr/>
          </p:nvPicPr>
          <p:blipFill>
            <a:blip r:embed="rId4"/>
            <a:stretch>
              <a:fillRect/>
            </a:stretch>
          </p:blipFill>
          <p:spPr>
            <a:xfrm>
              <a:off x="685800" y="1518934"/>
              <a:ext cx="4959605" cy="1822544"/>
            </a:xfrm>
            <a:prstGeom prst="rect">
              <a:avLst/>
            </a:prstGeom>
          </p:spPr>
        </p:pic>
      </p:grpSp>
      <p:pic>
        <p:nvPicPr>
          <p:cNvPr id="15" name="图片 14">
            <a:extLst>
              <a:ext uri="{FF2B5EF4-FFF2-40B4-BE49-F238E27FC236}">
                <a16:creationId xmlns:a16="http://schemas.microsoft.com/office/drawing/2014/main" id="{BB296181-264A-4DFB-8C14-36D24F18DA6F}"/>
              </a:ext>
            </a:extLst>
          </p:cNvPr>
          <p:cNvPicPr>
            <a:picLocks noChangeAspect="1"/>
          </p:cNvPicPr>
          <p:nvPr/>
        </p:nvPicPr>
        <p:blipFill rotWithShape="1">
          <a:blip r:embed="rId5"/>
          <a:srcRect r="9297"/>
          <a:stretch/>
        </p:blipFill>
        <p:spPr>
          <a:xfrm>
            <a:off x="4843371" y="3764185"/>
            <a:ext cx="4037676" cy="1574881"/>
          </a:xfrm>
          <a:prstGeom prst="rect">
            <a:avLst/>
          </a:prstGeom>
        </p:spPr>
      </p:pic>
    </p:spTree>
    <p:extLst>
      <p:ext uri="{BB962C8B-B14F-4D97-AF65-F5344CB8AC3E}">
        <p14:creationId xmlns:p14="http://schemas.microsoft.com/office/powerpoint/2010/main" val="13005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Hans" altLang="en-US" dirty="0"/>
              <a:t>背包问题</a:t>
            </a:r>
            <a:r>
              <a:rPr kumimoji="1" lang="en-US" altLang="zh-Hans" dirty="0"/>
              <a:t>(Knapsack)</a:t>
            </a:r>
            <a:endParaRPr kumimoji="1" lang="zh-CN" altLang="en-US" dirty="0"/>
          </a:p>
        </p:txBody>
      </p:sp>
      <p:grpSp>
        <p:nvGrpSpPr>
          <p:cNvPr id="9" name="Group 4">
            <a:extLst>
              <a:ext uri="{FF2B5EF4-FFF2-40B4-BE49-F238E27FC236}">
                <a16:creationId xmlns:a16="http://schemas.microsoft.com/office/drawing/2014/main" id="{43B581B1-CCD6-D945-9474-4FDD2D51BD32}"/>
              </a:ext>
            </a:extLst>
          </p:cNvPr>
          <p:cNvGrpSpPr>
            <a:grpSpLocks/>
          </p:cNvGrpSpPr>
          <p:nvPr/>
        </p:nvGrpSpPr>
        <p:grpSpPr bwMode="auto">
          <a:xfrm>
            <a:off x="323851" y="980728"/>
            <a:ext cx="8253411" cy="4072394"/>
            <a:chOff x="158" y="1345"/>
            <a:chExt cx="5199" cy="2075"/>
          </a:xfrm>
        </p:grpSpPr>
        <p:sp>
          <p:nvSpPr>
            <p:cNvPr id="10" name="AutoShape 5">
              <a:extLst>
                <a:ext uri="{FF2B5EF4-FFF2-40B4-BE49-F238E27FC236}">
                  <a16:creationId xmlns:a16="http://schemas.microsoft.com/office/drawing/2014/main" id="{15D3FBDB-BE8F-B64D-8508-D8B1DFF85977}"/>
                </a:ext>
              </a:extLst>
            </p:cNvPr>
            <p:cNvSpPr>
              <a:spLocks noChangeArrowheads="1"/>
            </p:cNvSpPr>
            <p:nvPr/>
          </p:nvSpPr>
          <p:spPr bwMode="invGray">
            <a:xfrm>
              <a:off x="158" y="1404"/>
              <a:ext cx="5199" cy="1958"/>
            </a:xfrm>
            <a:prstGeom prst="roundRect">
              <a:avLst>
                <a:gd name="adj" fmla="val 16667"/>
              </a:avLst>
            </a:prstGeom>
            <a:solidFill>
              <a:schemeClr val="accent5">
                <a:lumMod val="20000"/>
                <a:lumOff val="80000"/>
                <a:alpha val="70000"/>
              </a:schemeClr>
            </a:solidFill>
            <a:ln w="9525">
              <a:noFill/>
              <a:round/>
              <a:headEnd/>
              <a:tailEnd/>
            </a:ln>
            <a:effectLst/>
          </p:spPr>
          <p:txBody>
            <a:bodyPr wrap="none" anchor="ctr"/>
            <a:lstStyle/>
            <a:p>
              <a:endParaRPr lang="zh-CN" altLang="en-US" sz="2000"/>
            </a:p>
          </p:txBody>
        </p:sp>
        <p:grpSp>
          <p:nvGrpSpPr>
            <p:cNvPr id="11" name="Group 6">
              <a:extLst>
                <a:ext uri="{FF2B5EF4-FFF2-40B4-BE49-F238E27FC236}">
                  <a16:creationId xmlns:a16="http://schemas.microsoft.com/office/drawing/2014/main" id="{281665DB-B8DB-9740-989C-DE95E348B960}"/>
                </a:ext>
              </a:extLst>
            </p:cNvPr>
            <p:cNvGrpSpPr>
              <a:grpSpLocks/>
            </p:cNvGrpSpPr>
            <p:nvPr/>
          </p:nvGrpSpPr>
          <p:grpSpPr bwMode="auto">
            <a:xfrm>
              <a:off x="259" y="1345"/>
              <a:ext cx="2427" cy="292"/>
              <a:chOff x="720" y="1392"/>
              <a:chExt cx="4058" cy="563"/>
            </a:xfrm>
          </p:grpSpPr>
          <p:sp>
            <p:nvSpPr>
              <p:cNvPr id="14" name="AutoShape 7">
                <a:extLst>
                  <a:ext uri="{FF2B5EF4-FFF2-40B4-BE49-F238E27FC236}">
                    <a16:creationId xmlns:a16="http://schemas.microsoft.com/office/drawing/2014/main" id="{F2E60B7D-590A-6143-A4EC-647B23F17B6A}"/>
                  </a:ext>
                </a:extLst>
              </p:cNvPr>
              <p:cNvSpPr>
                <a:spLocks noChangeArrowheads="1"/>
              </p:cNvSpPr>
              <p:nvPr/>
            </p:nvSpPr>
            <p:spPr bwMode="gray">
              <a:xfrm>
                <a:off x="720" y="1392"/>
                <a:ext cx="4058" cy="549"/>
              </a:xfrm>
              <a:prstGeom prst="roundRect">
                <a:avLst>
                  <a:gd name="adj" fmla="val 17509"/>
                </a:avLst>
              </a:prstGeom>
              <a:gradFill rotWithShape="1">
                <a:gsLst>
                  <a:gs pos="0">
                    <a:schemeClr val="accent2"/>
                  </a:gs>
                  <a:gs pos="50000">
                    <a:schemeClr val="accent2">
                      <a:gamma/>
                      <a:shade val="92157"/>
                      <a:invGamma/>
                    </a:schemeClr>
                  </a:gs>
                  <a:gs pos="100000">
                    <a:schemeClr val="accent2"/>
                  </a:gs>
                </a:gsLst>
                <a:lin ang="5400000" scaled="1"/>
              </a:gradFill>
              <a:ln w="9525">
                <a:noFill/>
                <a:round/>
                <a:headEnd/>
                <a:tailEnd/>
              </a:ln>
              <a:effectLst/>
            </p:spPr>
            <p:txBody>
              <a:bodyPr wrap="none" anchor="ctr"/>
              <a:lstStyle/>
              <a:p>
                <a:endParaRPr lang="zh-CN" altLang="en-US" sz="2000"/>
              </a:p>
            </p:txBody>
          </p:sp>
          <p:grpSp>
            <p:nvGrpSpPr>
              <p:cNvPr id="15" name="Group 8">
                <a:extLst>
                  <a:ext uri="{FF2B5EF4-FFF2-40B4-BE49-F238E27FC236}">
                    <a16:creationId xmlns:a16="http://schemas.microsoft.com/office/drawing/2014/main" id="{21BC3AA5-D0ED-4A40-9636-60004D313F9B}"/>
                  </a:ext>
                </a:extLst>
              </p:cNvPr>
              <p:cNvGrpSpPr>
                <a:grpSpLocks/>
              </p:cNvGrpSpPr>
              <p:nvPr/>
            </p:nvGrpSpPr>
            <p:grpSpPr bwMode="auto">
              <a:xfrm>
                <a:off x="730" y="1417"/>
                <a:ext cx="4043" cy="538"/>
                <a:chOff x="744" y="1417"/>
                <a:chExt cx="3988" cy="538"/>
              </a:xfrm>
            </p:grpSpPr>
            <p:sp>
              <p:nvSpPr>
                <p:cNvPr id="16" name="AutoShape 9">
                  <a:extLst>
                    <a:ext uri="{FF2B5EF4-FFF2-40B4-BE49-F238E27FC236}">
                      <a16:creationId xmlns:a16="http://schemas.microsoft.com/office/drawing/2014/main" id="{2876E7F5-EF75-A94A-8493-EE59FB502F40}"/>
                    </a:ext>
                  </a:extLst>
                </p:cNvPr>
                <p:cNvSpPr>
                  <a:spLocks noChangeArrowheads="1"/>
                </p:cNvSpPr>
                <p:nvPr/>
              </p:nvSpPr>
              <p:spPr bwMode="gray">
                <a:xfrm>
                  <a:off x="744" y="1840"/>
                  <a:ext cx="3988" cy="115"/>
                </a:xfrm>
                <a:prstGeom prst="roundRect">
                  <a:avLst>
                    <a:gd name="adj" fmla="val 50000"/>
                  </a:avLst>
                </a:prstGeom>
                <a:gradFill rotWithShape="1">
                  <a:gsLst>
                    <a:gs pos="0">
                      <a:schemeClr val="accent2">
                        <a:alpha val="0"/>
                      </a:schemeClr>
                    </a:gs>
                    <a:gs pos="100000">
                      <a:schemeClr val="accent2">
                        <a:gamma/>
                        <a:tint val="19216"/>
                        <a:invGamma/>
                      </a:schemeClr>
                    </a:gs>
                  </a:gsLst>
                  <a:lin ang="5400000" scaled="1"/>
                </a:gradFill>
                <a:ln w="9525">
                  <a:noFill/>
                  <a:round/>
                  <a:headEnd/>
                  <a:tailEnd/>
                </a:ln>
                <a:effectLst/>
              </p:spPr>
              <p:txBody>
                <a:bodyPr wrap="none" anchor="ctr"/>
                <a:lstStyle/>
                <a:p>
                  <a:endParaRPr lang="zh-CN" altLang="en-US" sz="2000"/>
                </a:p>
              </p:txBody>
            </p:sp>
            <p:sp>
              <p:nvSpPr>
                <p:cNvPr id="17" name="AutoShape 10">
                  <a:extLst>
                    <a:ext uri="{FF2B5EF4-FFF2-40B4-BE49-F238E27FC236}">
                      <a16:creationId xmlns:a16="http://schemas.microsoft.com/office/drawing/2014/main" id="{78AB13C5-8AD9-394A-8A7E-B92C1E6AB985}"/>
                    </a:ext>
                  </a:extLst>
                </p:cNvPr>
                <p:cNvSpPr>
                  <a:spLocks noChangeArrowheads="1"/>
                </p:cNvSpPr>
                <p:nvPr/>
              </p:nvSpPr>
              <p:spPr bwMode="gray">
                <a:xfrm>
                  <a:off x="744" y="1417"/>
                  <a:ext cx="3988" cy="115"/>
                </a:xfrm>
                <a:prstGeom prst="roundRect">
                  <a:avLst>
                    <a:gd name="adj" fmla="val 50000"/>
                  </a:avLst>
                </a:prstGeom>
                <a:gradFill rotWithShape="1">
                  <a:gsLst>
                    <a:gs pos="0">
                      <a:schemeClr val="accent2">
                        <a:gamma/>
                        <a:tint val="15686"/>
                        <a:invGamma/>
                      </a:schemeClr>
                    </a:gs>
                    <a:gs pos="100000">
                      <a:schemeClr val="accent2">
                        <a:alpha val="0"/>
                      </a:schemeClr>
                    </a:gs>
                  </a:gsLst>
                  <a:lin ang="5400000" scaled="1"/>
                </a:gradFill>
                <a:ln w="9525">
                  <a:noFill/>
                  <a:round/>
                  <a:headEnd/>
                  <a:tailEnd/>
                </a:ln>
                <a:effectLst/>
              </p:spPr>
              <p:txBody>
                <a:bodyPr wrap="none" anchor="ctr"/>
                <a:lstStyle/>
                <a:p>
                  <a:endParaRPr lang="zh-CN" altLang="en-US" sz="2000"/>
                </a:p>
              </p:txBody>
            </p:sp>
          </p:grpSp>
        </p:grpSp>
        <p:sp>
          <p:nvSpPr>
            <p:cNvPr id="12" name="Rectangle 11">
              <a:extLst>
                <a:ext uri="{FF2B5EF4-FFF2-40B4-BE49-F238E27FC236}">
                  <a16:creationId xmlns:a16="http://schemas.microsoft.com/office/drawing/2014/main" id="{5B012B2F-9602-7D40-B87E-942326A2777B}"/>
                </a:ext>
              </a:extLst>
            </p:cNvPr>
            <p:cNvSpPr>
              <a:spLocks noChangeArrowheads="1"/>
            </p:cNvSpPr>
            <p:nvPr/>
          </p:nvSpPr>
          <p:spPr bwMode="gray">
            <a:xfrm>
              <a:off x="413" y="1361"/>
              <a:ext cx="2016" cy="235"/>
            </a:xfrm>
            <a:prstGeom prst="rect">
              <a:avLst/>
            </a:prstGeom>
            <a:noFill/>
            <a:ln w="9525">
              <a:noFill/>
              <a:miter lim="800000"/>
              <a:headEnd/>
              <a:tailEnd/>
            </a:ln>
            <a:effectLst/>
          </p:spPr>
          <p:txBody>
            <a:bodyPr>
              <a:spAutoFit/>
            </a:bodyPr>
            <a:lstStyle/>
            <a:p>
              <a:pPr>
                <a:spcBef>
                  <a:spcPct val="50000"/>
                </a:spcBef>
                <a:buClr>
                  <a:srgbClr val="1F3F5F"/>
                </a:buClr>
              </a:pPr>
              <a:r>
                <a:rPr lang="zh-CN" altLang="en-US" sz="2400" dirty="0">
                  <a:solidFill>
                    <a:srgbClr val="FFFFFF"/>
                  </a:solidFill>
                  <a:cs typeface="Arial" charset="0"/>
                </a:rPr>
                <a:t> 背包问题</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4F0A5F-FD72-5047-ABD6-13272B75D047}"/>
                    </a:ext>
                  </a:extLst>
                </p:cNvPr>
                <p:cNvSpPr>
                  <a:spLocks noChangeArrowheads="1"/>
                </p:cNvSpPr>
                <p:nvPr/>
              </p:nvSpPr>
              <p:spPr bwMode="white">
                <a:xfrm>
                  <a:off x="521" y="1629"/>
                  <a:ext cx="4642" cy="1791"/>
                </a:xfrm>
                <a:prstGeom prst="rect">
                  <a:avLst/>
                </a:prstGeom>
                <a:noFill/>
                <a:ln w="9525">
                  <a:noFill/>
                  <a:miter lim="800000"/>
                  <a:headEnd/>
                  <a:tailEnd/>
                </a:ln>
                <a:effectLst/>
              </p:spPr>
              <p:txBody>
                <a:bodyPr wrap="square">
                  <a:spAutoFit/>
                </a:bodyPr>
                <a:lstStyle/>
                <a:p>
                  <a:pPr algn="l" eaLnBrk="0" hangingPunct="0">
                    <a:lnSpc>
                      <a:spcPct val="110000"/>
                    </a:lnSpc>
                  </a:pPr>
                  <a:r>
                    <a:rPr lang="zh-CN" altLang="en-US" sz="2400" dirty="0">
                      <a:solidFill>
                        <a:srgbClr val="000000"/>
                      </a:solidFill>
                      <a:cs typeface="Arial" charset="0"/>
                    </a:rPr>
                    <a:t>输入：给定</a:t>
                  </a:r>
                  <a:r>
                    <a:rPr lang="en-US" altLang="zh-CN" sz="2400" i="1" dirty="0">
                      <a:solidFill>
                        <a:srgbClr val="000000"/>
                      </a:solidFill>
                      <a:latin typeface="Times New Roman" charset="0"/>
                      <a:ea typeface="Times New Roman" charset="0"/>
                      <a:cs typeface="Times New Roman" charset="0"/>
                    </a:rPr>
                    <a:t>n</a:t>
                  </a:r>
                  <a:r>
                    <a:rPr lang="zh-CN" altLang="en-US" sz="2400" dirty="0">
                      <a:solidFill>
                        <a:srgbClr val="000000"/>
                      </a:solidFill>
                      <a:cs typeface="Arial" charset="0"/>
                    </a:rPr>
                    <a:t>件物品；</a:t>
                  </a:r>
                  <a:endParaRPr lang="en-US" altLang="zh-CN" sz="2400" dirty="0">
                    <a:solidFill>
                      <a:srgbClr val="000000"/>
                    </a:solidFill>
                    <a:cs typeface="Arial" charset="0"/>
                  </a:endParaRPr>
                </a:p>
                <a:p>
                  <a:pPr algn="l" eaLnBrk="0" hangingPunct="0">
                    <a:lnSpc>
                      <a:spcPct val="110000"/>
                    </a:lnSpc>
                  </a:pPr>
                  <a:r>
                    <a:rPr lang="en-US" altLang="zh-CN" sz="2400" dirty="0">
                      <a:solidFill>
                        <a:srgbClr val="000000"/>
                      </a:solidFill>
                      <a:cs typeface="Arial" charset="0"/>
                    </a:rPr>
                    <a:t>	</a:t>
                  </a:r>
                  <a:r>
                    <a:rPr lang="en-US" altLang="zh-CN" sz="2400" i="1" dirty="0">
                      <a:solidFill>
                        <a:srgbClr val="000000"/>
                      </a:solidFill>
                      <a:latin typeface="Times New Roman" charset="0"/>
                      <a:ea typeface="Times New Roman" charset="0"/>
                      <a:cs typeface="Times New Roman" charset="0"/>
                    </a:rPr>
                    <a:t>v</a:t>
                  </a:r>
                  <a:r>
                    <a:rPr lang="en-US" altLang="zh-CN" sz="2400" i="1" baseline="-25000" dirty="0">
                      <a:solidFill>
                        <a:srgbClr val="000000"/>
                      </a:solidFill>
                      <a:latin typeface="Times New Roman" charset="0"/>
                      <a:ea typeface="Times New Roman" charset="0"/>
                      <a:cs typeface="Times New Roman" charset="0"/>
                    </a:rPr>
                    <a:t>i</a:t>
                  </a:r>
                  <a:r>
                    <a:rPr lang="zh-CN" altLang="en-US" sz="2400" dirty="0">
                      <a:solidFill>
                        <a:srgbClr val="000000"/>
                      </a:solidFill>
                      <a:cs typeface="Arial" charset="0"/>
                    </a:rPr>
                    <a:t>表示物品</a:t>
                  </a:r>
                  <a:r>
                    <a:rPr lang="en-US" altLang="zh-CN" sz="2400" i="1" dirty="0" err="1">
                      <a:solidFill>
                        <a:srgbClr val="000000"/>
                      </a:solidFill>
                      <a:latin typeface="Times New Roman" charset="0"/>
                      <a:ea typeface="Times New Roman" charset="0"/>
                      <a:cs typeface="Times New Roman" charset="0"/>
                    </a:rPr>
                    <a:t>i</a:t>
                  </a:r>
                  <a:r>
                    <a:rPr lang="zh-CN" altLang="en-US" sz="2400" dirty="0">
                      <a:solidFill>
                        <a:srgbClr val="000000"/>
                      </a:solidFill>
                      <a:cs typeface="Arial" charset="0"/>
                    </a:rPr>
                    <a:t>的价值</a:t>
                  </a:r>
                  <a:r>
                    <a:rPr lang="en-US" altLang="zh-CN" sz="2400" dirty="0">
                      <a:solidFill>
                        <a:srgbClr val="000000"/>
                      </a:solidFill>
                      <a:cs typeface="Arial" charset="0"/>
                    </a:rPr>
                    <a:t>【</a:t>
                  </a:r>
                  <a:r>
                    <a:rPr lang="zh-CN" altLang="en-US" sz="2400" dirty="0">
                      <a:solidFill>
                        <a:srgbClr val="000000"/>
                      </a:solidFill>
                      <a:cs typeface="Arial" charset="0"/>
                    </a:rPr>
                    <a:t>非负</a:t>
                  </a:r>
                  <a:r>
                    <a:rPr lang="en-US" altLang="zh-CN" sz="2400" dirty="0">
                      <a:solidFill>
                        <a:srgbClr val="000000"/>
                      </a:solidFill>
                      <a:cs typeface="Arial" charset="0"/>
                    </a:rPr>
                    <a:t>】</a:t>
                  </a:r>
                  <a:r>
                    <a:rPr lang="zh-CN" altLang="en-US" sz="2400" dirty="0">
                      <a:solidFill>
                        <a:srgbClr val="000000"/>
                      </a:solidFill>
                      <a:cs typeface="Arial" charset="0"/>
                    </a:rPr>
                    <a:t>；</a:t>
                  </a:r>
                  <a:endParaRPr lang="en-US" altLang="zh-CN" sz="2400" dirty="0">
                    <a:solidFill>
                      <a:srgbClr val="000000"/>
                    </a:solidFill>
                    <a:cs typeface="Arial" charset="0"/>
                  </a:endParaRPr>
                </a:p>
                <a:p>
                  <a:pPr algn="l" eaLnBrk="0" hangingPunct="0">
                    <a:lnSpc>
                      <a:spcPct val="110000"/>
                    </a:lnSpc>
                  </a:pPr>
                  <a:r>
                    <a:rPr lang="en-US" altLang="zh-CN" sz="2400" dirty="0">
                      <a:solidFill>
                        <a:srgbClr val="000000"/>
                      </a:solidFill>
                      <a:cs typeface="Arial" charset="0"/>
                    </a:rPr>
                    <a:t>	</a:t>
                  </a:r>
                  <a:r>
                    <a:rPr lang="en-US" altLang="zh-CN" sz="2400" i="1" dirty="0" err="1">
                      <a:solidFill>
                        <a:srgbClr val="000000"/>
                      </a:solidFill>
                      <a:latin typeface="Times New Roman" charset="0"/>
                      <a:ea typeface="Times New Roman" charset="0"/>
                      <a:cs typeface="Times New Roman" charset="0"/>
                    </a:rPr>
                    <a:t>w</a:t>
                  </a:r>
                  <a:r>
                    <a:rPr lang="en-US" altLang="zh-CN" sz="2400" i="1" baseline="-25000" dirty="0" err="1">
                      <a:solidFill>
                        <a:srgbClr val="000000"/>
                      </a:solidFill>
                      <a:latin typeface="Times New Roman" charset="0"/>
                      <a:ea typeface="Times New Roman" charset="0"/>
                      <a:cs typeface="Times New Roman" charset="0"/>
                    </a:rPr>
                    <a:t>i</a:t>
                  </a:r>
                  <a:r>
                    <a:rPr lang="zh-CN" altLang="en-US" sz="2400" dirty="0">
                      <a:solidFill>
                        <a:srgbClr val="000000"/>
                      </a:solidFill>
                      <a:cs typeface="Arial" charset="0"/>
                    </a:rPr>
                    <a:t>表示物品</a:t>
                  </a:r>
                  <a:r>
                    <a:rPr lang="en-US" altLang="zh-CN" sz="2400" i="1" dirty="0" err="1">
                      <a:solidFill>
                        <a:srgbClr val="000000"/>
                      </a:solidFill>
                      <a:latin typeface="Times New Roman" charset="0"/>
                      <a:ea typeface="Times New Roman" charset="0"/>
                      <a:cs typeface="Times New Roman" charset="0"/>
                    </a:rPr>
                    <a:t>i</a:t>
                  </a:r>
                  <a:r>
                    <a:rPr lang="zh-CN" altLang="en-US" sz="2400" dirty="0">
                      <a:solidFill>
                        <a:srgbClr val="000000"/>
                      </a:solidFill>
                      <a:cs typeface="Arial" charset="0"/>
                    </a:rPr>
                    <a:t>的体积</a:t>
                  </a:r>
                  <a:r>
                    <a:rPr lang="en-US" altLang="zh-CN" sz="2400" dirty="0">
                      <a:solidFill>
                        <a:srgbClr val="000000"/>
                      </a:solidFill>
                      <a:cs typeface="Arial" charset="0"/>
                    </a:rPr>
                    <a:t>【</a:t>
                  </a:r>
                  <a:r>
                    <a:rPr lang="zh-CN" altLang="en-US" sz="2400" dirty="0">
                      <a:solidFill>
                        <a:srgbClr val="000000"/>
                      </a:solidFill>
                      <a:cs typeface="Arial" charset="0"/>
                    </a:rPr>
                    <a:t>非负</a:t>
                  </a:r>
                  <a:r>
                    <a:rPr lang="en-US" altLang="zh-CN" sz="2400" dirty="0">
                      <a:solidFill>
                        <a:srgbClr val="000000"/>
                      </a:solidFill>
                      <a:cs typeface="Arial" charset="0"/>
                    </a:rPr>
                    <a:t>】</a:t>
                  </a:r>
                  <a:r>
                    <a:rPr lang="zh-CN" altLang="en-US" sz="2400" dirty="0">
                      <a:solidFill>
                        <a:srgbClr val="000000"/>
                      </a:solidFill>
                      <a:cs typeface="Arial" charset="0"/>
                    </a:rPr>
                    <a:t>；</a:t>
                  </a:r>
                  <a:endParaRPr lang="en-US" altLang="zh-CN" sz="2400" dirty="0">
                    <a:solidFill>
                      <a:srgbClr val="000000"/>
                    </a:solidFill>
                    <a:cs typeface="Arial" charset="0"/>
                  </a:endParaRPr>
                </a:p>
                <a:p>
                  <a:pPr algn="l" eaLnBrk="0" hangingPunct="0">
                    <a:lnSpc>
                      <a:spcPct val="110000"/>
                    </a:lnSpc>
                  </a:pPr>
                  <a:r>
                    <a:rPr lang="en-US" altLang="zh-CN" sz="2400" dirty="0">
                      <a:solidFill>
                        <a:srgbClr val="000000"/>
                      </a:solidFill>
                      <a:cs typeface="Arial" charset="0"/>
                    </a:rPr>
                    <a:t>	</a:t>
                  </a:r>
                  <a:r>
                    <a:rPr lang="zh-CN" altLang="en-US" sz="2400" dirty="0">
                      <a:solidFill>
                        <a:srgbClr val="000000"/>
                      </a:solidFill>
                      <a:cs typeface="Arial" charset="0"/>
                    </a:rPr>
                    <a:t>背包容积</a:t>
                  </a:r>
                  <a:r>
                    <a:rPr lang="en-US" altLang="zh-CN" sz="2400" i="1" dirty="0">
                      <a:solidFill>
                        <a:srgbClr val="000000"/>
                      </a:solidFill>
                      <a:latin typeface="Times New Roman" charset="0"/>
                      <a:ea typeface="Times New Roman" charset="0"/>
                      <a:cs typeface="Times New Roman" charset="0"/>
                    </a:rPr>
                    <a:t>W</a:t>
                  </a:r>
                  <a:r>
                    <a:rPr lang="en-US" altLang="zh-CN" sz="2400" dirty="0">
                      <a:solidFill>
                        <a:srgbClr val="000000"/>
                      </a:solidFill>
                      <a:cs typeface="Arial" charset="0"/>
                    </a:rPr>
                    <a:t>【</a:t>
                  </a:r>
                  <a:r>
                    <a:rPr lang="zh-CN" altLang="en-US" sz="2400" dirty="0">
                      <a:solidFill>
                        <a:srgbClr val="000000"/>
                      </a:solidFill>
                      <a:cs typeface="Arial" charset="0"/>
                    </a:rPr>
                    <a:t>非负</a:t>
                  </a:r>
                  <a:r>
                    <a:rPr lang="en-US" altLang="zh-CN" sz="2400" dirty="0">
                      <a:solidFill>
                        <a:srgbClr val="000000"/>
                      </a:solidFill>
                      <a:cs typeface="Arial" charset="0"/>
                    </a:rPr>
                    <a:t>】</a:t>
                  </a:r>
                  <a:r>
                    <a:rPr lang="zh-CN" altLang="en-US" sz="2400" dirty="0">
                      <a:solidFill>
                        <a:srgbClr val="000000"/>
                      </a:solidFill>
                      <a:cs typeface="Arial" charset="0"/>
                    </a:rPr>
                    <a:t>。</a:t>
                  </a:r>
                  <a:endParaRPr lang="en-US" altLang="zh-CN" sz="2400" dirty="0">
                    <a:solidFill>
                      <a:srgbClr val="000000"/>
                    </a:solidFill>
                    <a:cs typeface="Arial" charset="0"/>
                  </a:endParaRPr>
                </a:p>
                <a:p>
                  <a:pPr algn="l" eaLnBrk="0" hangingPunct="0">
                    <a:lnSpc>
                      <a:spcPct val="110000"/>
                    </a:lnSpc>
                  </a:pPr>
                  <a:r>
                    <a:rPr lang="zh-CN" altLang="en-US" sz="2400" dirty="0">
                      <a:solidFill>
                        <a:srgbClr val="000000"/>
                      </a:solidFill>
                      <a:cs typeface="Arial" charset="0"/>
                    </a:rPr>
                    <a:t>输出：物品子集</a:t>
                  </a:r>
                  <a14:m>
                    <m:oMath xmlns:m="http://schemas.openxmlformats.org/officeDocument/2006/math">
                      <m:r>
                        <a:rPr lang="en-US" altLang="zh-CN" sz="2400" b="1" i="1" smtClean="0">
                          <a:solidFill>
                            <a:srgbClr val="000000"/>
                          </a:solidFill>
                          <a:latin typeface="Cambria Math" charset="0"/>
                          <a:cs typeface="Arial" charset="0"/>
                        </a:rPr>
                        <m:t>𝑺</m:t>
                      </m:r>
                      <m:r>
                        <a:rPr lang="en-US" altLang="zh-CN" sz="2400" b="1" i="1" smtClean="0">
                          <a:solidFill>
                            <a:srgbClr val="000000"/>
                          </a:solidFill>
                          <a:latin typeface="Cambria Math" charset="0"/>
                          <a:cs typeface="Arial" charset="0"/>
                        </a:rPr>
                        <m:t>⊆</m:t>
                      </m:r>
                      <m:d>
                        <m:dPr>
                          <m:begChr m:val="{"/>
                          <m:endChr m:val="}"/>
                          <m:ctrlPr>
                            <a:rPr lang="en-US" altLang="zh-CN" sz="2400" b="1" i="1" smtClean="0">
                              <a:solidFill>
                                <a:srgbClr val="000000"/>
                              </a:solidFill>
                              <a:latin typeface="Cambria Math" panose="02040503050406030204" pitchFamily="18" charset="0"/>
                              <a:cs typeface="Arial" charset="0"/>
                            </a:rPr>
                          </m:ctrlPr>
                        </m:dPr>
                        <m:e>
                          <m:r>
                            <a:rPr lang="en-US" altLang="zh-CN" sz="2400" b="1" i="1" smtClean="0">
                              <a:solidFill>
                                <a:srgbClr val="000000"/>
                              </a:solidFill>
                              <a:latin typeface="Cambria Math" charset="0"/>
                              <a:cs typeface="Arial" charset="0"/>
                            </a:rPr>
                            <m:t>𝟏</m:t>
                          </m:r>
                          <m:r>
                            <a:rPr lang="en-US" altLang="zh-CN" sz="2400" b="1" i="1" smtClean="0">
                              <a:solidFill>
                                <a:srgbClr val="000000"/>
                              </a:solidFill>
                              <a:latin typeface="Cambria Math" charset="0"/>
                              <a:cs typeface="Arial" charset="0"/>
                            </a:rPr>
                            <m:t>,</m:t>
                          </m:r>
                          <m:r>
                            <a:rPr lang="en-US" altLang="zh-CN" sz="2400" b="1" i="1" smtClean="0">
                              <a:solidFill>
                                <a:srgbClr val="000000"/>
                              </a:solidFill>
                              <a:latin typeface="Cambria Math" charset="0"/>
                              <a:cs typeface="Arial" charset="0"/>
                            </a:rPr>
                            <m:t>𝟐</m:t>
                          </m:r>
                          <m:r>
                            <a:rPr lang="en-US" altLang="zh-CN" sz="2400" b="1" i="1" smtClean="0">
                              <a:solidFill>
                                <a:srgbClr val="000000"/>
                              </a:solidFill>
                              <a:latin typeface="Cambria Math" charset="0"/>
                              <a:cs typeface="Arial" charset="0"/>
                            </a:rPr>
                            <m:t>,…,</m:t>
                          </m:r>
                          <m:r>
                            <a:rPr lang="en-US" altLang="zh-CN" sz="2400" b="1" i="1" smtClean="0">
                              <a:solidFill>
                                <a:srgbClr val="000000"/>
                              </a:solidFill>
                              <a:latin typeface="Cambria Math" charset="0"/>
                              <a:cs typeface="Arial" charset="0"/>
                            </a:rPr>
                            <m:t>𝒏</m:t>
                          </m:r>
                        </m:e>
                      </m:d>
                    </m:oMath>
                  </a14:m>
                  <a:r>
                    <a:rPr lang="zh-CN" altLang="en-US" sz="2400" dirty="0">
                      <a:solidFill>
                        <a:srgbClr val="000000"/>
                      </a:solidFill>
                      <a:cs typeface="Arial" charset="0"/>
                    </a:rPr>
                    <a:t>，使得价值最大化，即</a:t>
                  </a:r>
                  <a:endParaRPr lang="en-US" altLang="zh-CN" sz="2400" dirty="0">
                    <a:solidFill>
                      <a:srgbClr val="000000"/>
                    </a:solidFill>
                    <a:cs typeface="Arial" charset="0"/>
                  </a:endParaRPr>
                </a:p>
                <a:p>
                  <a:pPr algn="l" eaLnBrk="0" hangingPunct="0">
                    <a:lnSpc>
                      <a:spcPct val="110000"/>
                    </a:lnSpc>
                  </a:pPr>
                  <a14:m>
                    <m:oMathPara xmlns:m="http://schemas.openxmlformats.org/officeDocument/2006/math">
                      <m:oMathParaPr>
                        <m:jc m:val="centerGroup"/>
                      </m:oMathParaPr>
                      <m:oMath xmlns:m="http://schemas.openxmlformats.org/officeDocument/2006/math">
                        <m:r>
                          <a:rPr lang="en-US" altLang="zh-CN" sz="2400" b="1" i="1" smtClean="0">
                            <a:solidFill>
                              <a:srgbClr val="000000"/>
                            </a:solidFill>
                            <a:latin typeface="Cambria Math" charset="0"/>
                            <a:cs typeface="Arial" charset="0"/>
                          </a:rPr>
                          <m:t>𝒎𝒂𝒙</m:t>
                        </m:r>
                        <m:r>
                          <a:rPr lang="en-US" altLang="zh-CN" sz="2400" b="1" i="1" smtClean="0">
                            <a:solidFill>
                              <a:srgbClr val="000000"/>
                            </a:solidFill>
                            <a:latin typeface="Cambria Math" charset="0"/>
                            <a:cs typeface="Arial" charset="0"/>
                          </a:rPr>
                          <m:t> </m:t>
                        </m:r>
                        <m:nary>
                          <m:naryPr>
                            <m:chr m:val="∑"/>
                            <m:supHide m:val="on"/>
                            <m:ctrlPr>
                              <a:rPr lang="en-US" altLang="zh-CN" sz="2400" b="1" i="1" smtClean="0">
                                <a:solidFill>
                                  <a:srgbClr val="000000"/>
                                </a:solidFill>
                                <a:latin typeface="Cambria Math" panose="02040503050406030204" pitchFamily="18" charset="0"/>
                                <a:cs typeface="Arial" charset="0"/>
                              </a:rPr>
                            </m:ctrlPr>
                          </m:naryPr>
                          <m:sub>
                            <m:r>
                              <a:rPr lang="en-US" altLang="zh-CN" sz="2400" b="1" i="1" smtClean="0">
                                <a:solidFill>
                                  <a:srgbClr val="000000"/>
                                </a:solidFill>
                                <a:latin typeface="Cambria Math" charset="0"/>
                                <a:cs typeface="Arial" charset="0"/>
                              </a:rPr>
                              <m:t>𝒊</m:t>
                            </m:r>
                            <m:r>
                              <a:rPr lang="en-US" altLang="zh-CN" sz="2400" b="1" i="1" smtClean="0">
                                <a:solidFill>
                                  <a:srgbClr val="000000"/>
                                </a:solidFill>
                                <a:latin typeface="Cambria Math" charset="0"/>
                                <a:cs typeface="Arial" charset="0"/>
                              </a:rPr>
                              <m:t>∈</m:t>
                            </m:r>
                            <m:r>
                              <a:rPr lang="en-US" altLang="zh-CN" sz="2400" b="1" i="1" smtClean="0">
                                <a:solidFill>
                                  <a:srgbClr val="000000"/>
                                </a:solidFill>
                                <a:latin typeface="Cambria Math" charset="0"/>
                                <a:cs typeface="Arial" charset="0"/>
                              </a:rPr>
                              <m:t>𝑺</m:t>
                            </m:r>
                          </m:sub>
                          <m:sup/>
                          <m:e>
                            <m:sSub>
                              <m:sSubPr>
                                <m:ctrlPr>
                                  <a:rPr lang="en-US" altLang="zh-CN" sz="2400" b="1" i="1" smtClean="0">
                                    <a:solidFill>
                                      <a:srgbClr val="000000"/>
                                    </a:solidFill>
                                    <a:latin typeface="Cambria Math" panose="02040503050406030204" pitchFamily="18" charset="0"/>
                                    <a:cs typeface="Arial" charset="0"/>
                                  </a:rPr>
                                </m:ctrlPr>
                              </m:sSubPr>
                              <m:e>
                                <m:r>
                                  <a:rPr lang="en-US" altLang="zh-CN" sz="2400" b="1" i="1" smtClean="0">
                                    <a:solidFill>
                                      <a:srgbClr val="000000"/>
                                    </a:solidFill>
                                    <a:latin typeface="Cambria Math" charset="0"/>
                                    <a:cs typeface="Arial" charset="0"/>
                                  </a:rPr>
                                  <m:t>𝒗</m:t>
                                </m:r>
                              </m:e>
                              <m:sub>
                                <m:r>
                                  <a:rPr lang="en-US" altLang="zh-CN" sz="2400" b="1" i="1" smtClean="0">
                                    <a:solidFill>
                                      <a:srgbClr val="000000"/>
                                    </a:solidFill>
                                    <a:latin typeface="Cambria Math" charset="0"/>
                                    <a:cs typeface="Arial" charset="0"/>
                                  </a:rPr>
                                  <m:t>𝒊</m:t>
                                </m:r>
                              </m:sub>
                            </m:sSub>
                          </m:e>
                        </m:nary>
                        <m:r>
                          <a:rPr lang="en-US" altLang="zh-CN" sz="2400" b="1" i="1" smtClean="0">
                            <a:solidFill>
                              <a:srgbClr val="000000"/>
                            </a:solidFill>
                            <a:latin typeface="Cambria Math" charset="0"/>
                            <a:cs typeface="Arial" charset="0"/>
                          </a:rPr>
                          <m:t>,   </m:t>
                        </m:r>
                        <m:r>
                          <a:rPr lang="en-US" altLang="zh-CN" sz="2400" b="1" i="1" smtClean="0">
                            <a:solidFill>
                              <a:srgbClr val="000000"/>
                            </a:solidFill>
                            <a:latin typeface="Cambria Math" charset="0"/>
                            <a:cs typeface="Arial" charset="0"/>
                          </a:rPr>
                          <m:t>𝒔</m:t>
                        </m:r>
                        <m:r>
                          <a:rPr lang="en-US" altLang="zh-CN" sz="2400" b="1" i="1" smtClean="0">
                            <a:solidFill>
                              <a:srgbClr val="000000"/>
                            </a:solidFill>
                            <a:latin typeface="Cambria Math" charset="0"/>
                            <a:cs typeface="Arial" charset="0"/>
                          </a:rPr>
                          <m:t>.</m:t>
                        </m:r>
                        <m:r>
                          <a:rPr lang="en-US" altLang="zh-CN" sz="2400" b="1" i="1" smtClean="0">
                            <a:solidFill>
                              <a:srgbClr val="000000"/>
                            </a:solidFill>
                            <a:latin typeface="Cambria Math" charset="0"/>
                            <a:cs typeface="Arial" charset="0"/>
                          </a:rPr>
                          <m:t>𝒕</m:t>
                        </m:r>
                        <m:r>
                          <a:rPr lang="en-US" altLang="zh-CN" sz="2400" b="1" i="1" smtClean="0">
                            <a:solidFill>
                              <a:srgbClr val="000000"/>
                            </a:solidFill>
                            <a:latin typeface="Cambria Math" charset="0"/>
                            <a:cs typeface="Arial" charset="0"/>
                          </a:rPr>
                          <m:t>.  </m:t>
                        </m:r>
                        <m:nary>
                          <m:naryPr>
                            <m:chr m:val="∑"/>
                            <m:supHide m:val="on"/>
                            <m:ctrlPr>
                              <a:rPr lang="en-US" altLang="zh-CN" sz="2400" b="1" i="1" smtClean="0">
                                <a:solidFill>
                                  <a:srgbClr val="000000"/>
                                </a:solidFill>
                                <a:latin typeface="Cambria Math" panose="02040503050406030204" pitchFamily="18" charset="0"/>
                                <a:cs typeface="Arial" charset="0"/>
                              </a:rPr>
                            </m:ctrlPr>
                          </m:naryPr>
                          <m:sub>
                            <m:r>
                              <a:rPr lang="en-US" altLang="zh-CN" sz="2400" b="1" i="1" smtClean="0">
                                <a:solidFill>
                                  <a:srgbClr val="000000"/>
                                </a:solidFill>
                                <a:latin typeface="Cambria Math" charset="0"/>
                                <a:cs typeface="Arial" charset="0"/>
                              </a:rPr>
                              <m:t>𝒊</m:t>
                            </m:r>
                            <m:r>
                              <a:rPr lang="en-US" altLang="zh-CN" sz="2400" b="1" i="1" smtClean="0">
                                <a:solidFill>
                                  <a:srgbClr val="000000"/>
                                </a:solidFill>
                                <a:latin typeface="Cambria Math" charset="0"/>
                                <a:cs typeface="Arial" charset="0"/>
                              </a:rPr>
                              <m:t>∈</m:t>
                            </m:r>
                            <m:r>
                              <a:rPr lang="en-US" altLang="zh-CN" sz="2400" b="1" i="1" smtClean="0">
                                <a:solidFill>
                                  <a:srgbClr val="000000"/>
                                </a:solidFill>
                                <a:latin typeface="Cambria Math" charset="0"/>
                                <a:cs typeface="Arial" charset="0"/>
                              </a:rPr>
                              <m:t>𝑺</m:t>
                            </m:r>
                          </m:sub>
                          <m:sup/>
                          <m:e>
                            <m:sSub>
                              <m:sSubPr>
                                <m:ctrlPr>
                                  <a:rPr lang="en-US" altLang="zh-CN" sz="2400" b="1" i="1" smtClean="0">
                                    <a:solidFill>
                                      <a:srgbClr val="000000"/>
                                    </a:solidFill>
                                    <a:latin typeface="Cambria Math" panose="02040503050406030204" pitchFamily="18" charset="0"/>
                                    <a:cs typeface="Arial" charset="0"/>
                                  </a:rPr>
                                </m:ctrlPr>
                              </m:sSubPr>
                              <m:e>
                                <m:r>
                                  <a:rPr lang="en-US" altLang="zh-CN" sz="2400" b="1" i="1" smtClean="0">
                                    <a:solidFill>
                                      <a:srgbClr val="000000"/>
                                    </a:solidFill>
                                    <a:latin typeface="Cambria Math" charset="0"/>
                                    <a:cs typeface="Arial" charset="0"/>
                                  </a:rPr>
                                  <m:t>𝒘</m:t>
                                </m:r>
                              </m:e>
                              <m:sub>
                                <m:r>
                                  <a:rPr lang="en-US" altLang="zh-CN" sz="2400" b="1" i="1" smtClean="0">
                                    <a:solidFill>
                                      <a:srgbClr val="000000"/>
                                    </a:solidFill>
                                    <a:latin typeface="Cambria Math" charset="0"/>
                                    <a:cs typeface="Arial" charset="0"/>
                                  </a:rPr>
                                  <m:t>𝒊</m:t>
                                </m:r>
                              </m:sub>
                            </m:sSub>
                          </m:e>
                        </m:nary>
                        <m:r>
                          <a:rPr lang="en-US" altLang="zh-CN" sz="2400" b="1" i="1" smtClean="0">
                            <a:solidFill>
                              <a:srgbClr val="000000"/>
                            </a:solidFill>
                            <a:latin typeface="Cambria Math" charset="0"/>
                            <a:cs typeface="Arial" charset="0"/>
                          </a:rPr>
                          <m:t>≤</m:t>
                        </m:r>
                        <m:r>
                          <a:rPr lang="en-US" altLang="zh-CN" sz="2400" b="1" i="1" smtClean="0">
                            <a:solidFill>
                              <a:srgbClr val="000000"/>
                            </a:solidFill>
                            <a:latin typeface="Cambria Math" charset="0"/>
                            <a:cs typeface="Arial" charset="0"/>
                          </a:rPr>
                          <m:t>𝑾</m:t>
                        </m:r>
                      </m:oMath>
                    </m:oMathPara>
                  </a14:m>
                  <a:endParaRPr lang="zh-CN" altLang="en-US" sz="2400" dirty="0">
                    <a:solidFill>
                      <a:srgbClr val="000000"/>
                    </a:solidFill>
                    <a:cs typeface="Arial" charset="0"/>
                  </a:endParaRPr>
                </a:p>
              </p:txBody>
            </p:sp>
          </mc:Choice>
          <mc:Fallback xmlns="">
            <p:sp>
              <p:nvSpPr>
                <p:cNvPr id="13" name="Rectangle 12">
                  <a:extLst>
                    <a:ext uri="{FF2B5EF4-FFF2-40B4-BE49-F238E27FC236}">
                      <a16:creationId xmlns:a16="http://schemas.microsoft.com/office/drawing/2014/main" id="{7D4F0A5F-FD72-5047-ABD6-13272B75D047}"/>
                    </a:ext>
                  </a:extLst>
                </p:cNvPr>
                <p:cNvSpPr>
                  <a:spLocks noRot="1" noChangeAspect="1" noMove="1" noResize="1" noEditPoints="1" noAdjustHandles="1" noChangeArrowheads="1" noChangeShapeType="1" noTextEdit="1"/>
                </p:cNvSpPr>
                <p:nvPr/>
              </p:nvSpPr>
              <p:spPr bwMode="white">
                <a:xfrm>
                  <a:off x="521" y="1629"/>
                  <a:ext cx="4642" cy="1791"/>
                </a:xfrm>
                <a:prstGeom prst="rect">
                  <a:avLst/>
                </a:prstGeom>
                <a:blipFill>
                  <a:blip r:embed="rId2"/>
                  <a:stretch>
                    <a:fillRect l="-1205" t="-1439" b="-50360"/>
                  </a:stretch>
                </a:blipFill>
                <a:ln w="9525">
                  <a:noFill/>
                  <a:miter lim="800000"/>
                  <a:headEnd/>
                  <a:tailEnd/>
                </a:ln>
                <a:effectLst/>
              </p:spPr>
              <p:txBody>
                <a:bodyPr/>
                <a:lstStyle/>
                <a:p>
                  <a:r>
                    <a:rPr lang="zh-CN" altLang="en-US">
                      <a:noFill/>
                    </a:rPr>
                    <a:t> </a:t>
                  </a:r>
                </a:p>
              </p:txBody>
            </p:sp>
          </mc:Fallback>
        </mc:AlternateContent>
      </p:grpSp>
      <p:grpSp>
        <p:nvGrpSpPr>
          <p:cNvPr id="18" name="组合 62">
            <a:extLst>
              <a:ext uri="{FF2B5EF4-FFF2-40B4-BE49-F238E27FC236}">
                <a16:creationId xmlns:a16="http://schemas.microsoft.com/office/drawing/2014/main" id="{F124DF0B-32E5-304C-8B33-CD7A1164F5E8}"/>
              </a:ext>
            </a:extLst>
          </p:cNvPr>
          <p:cNvGrpSpPr>
            <a:grpSpLocks/>
          </p:cNvGrpSpPr>
          <p:nvPr/>
        </p:nvGrpSpPr>
        <p:grpSpPr bwMode="auto">
          <a:xfrm>
            <a:off x="755581" y="5349001"/>
            <a:ext cx="6799505" cy="888311"/>
            <a:chOff x="3286116" y="1264808"/>
            <a:chExt cx="6797999" cy="888723"/>
          </a:xfrm>
        </p:grpSpPr>
        <p:sp>
          <p:nvSpPr>
            <p:cNvPr id="19" name="TextBox 37">
              <a:extLst>
                <a:ext uri="{FF2B5EF4-FFF2-40B4-BE49-F238E27FC236}">
                  <a16:creationId xmlns:a16="http://schemas.microsoft.com/office/drawing/2014/main" id="{552A8410-083C-9F49-82F3-4234C6BE66ED}"/>
                </a:ext>
              </a:extLst>
            </p:cNvPr>
            <p:cNvSpPr txBox="1">
              <a:spLocks noChangeArrowheads="1"/>
            </p:cNvSpPr>
            <p:nvPr/>
          </p:nvSpPr>
          <p:spPr bwMode="auto">
            <a:xfrm>
              <a:off x="3857260" y="1264808"/>
              <a:ext cx="6226855" cy="888723"/>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400" dirty="0">
                  <a:solidFill>
                    <a:schemeClr val="tx1">
                      <a:lumMod val="50000"/>
                    </a:schemeClr>
                  </a:solidFill>
                  <a:latin typeface="Times New Roman" pitchFamily="18" charset="0"/>
                  <a:cs typeface="Times New Roman" pitchFamily="18" charset="0"/>
                </a:rPr>
                <a:t>只要涉及到“资源约束下的利益最大化”这类</a:t>
              </a:r>
              <a:endParaRPr lang="en-US" altLang="zh-CN" sz="2400" dirty="0">
                <a:solidFill>
                  <a:schemeClr val="tx1">
                    <a:lumMod val="50000"/>
                  </a:schemeClr>
                </a:solidFill>
                <a:latin typeface="Times New Roman" pitchFamily="18" charset="0"/>
                <a:cs typeface="Times New Roman" pitchFamily="18" charset="0"/>
              </a:endParaRPr>
            </a:p>
            <a:p>
              <a:pPr algn="l">
                <a:spcBef>
                  <a:spcPts val="600"/>
                </a:spcBef>
              </a:pPr>
              <a:r>
                <a:rPr lang="zh-CN" altLang="en-US" sz="2400" dirty="0">
                  <a:solidFill>
                    <a:schemeClr val="tx1">
                      <a:lumMod val="50000"/>
                    </a:schemeClr>
                  </a:solidFill>
                  <a:latin typeface="Times New Roman" pitchFamily="18" charset="0"/>
                  <a:cs typeface="Times New Roman" pitchFamily="18" charset="0"/>
                </a:rPr>
                <a:t>资源分配问题，几乎都可以归结为背包问题。</a:t>
              </a:r>
              <a:endParaRPr lang="en-US" altLang="zh-CN" sz="2400" dirty="0">
                <a:solidFill>
                  <a:schemeClr val="tx1">
                    <a:lumMod val="50000"/>
                  </a:schemeClr>
                </a:solidFill>
                <a:latin typeface="Times New Roman" pitchFamily="18" charset="0"/>
                <a:cs typeface="Times New Roman" pitchFamily="18" charset="0"/>
              </a:endParaRPr>
            </a:p>
          </p:txBody>
        </p:sp>
        <p:pic>
          <p:nvPicPr>
            <p:cNvPr id="20" name="Picture 21" descr="coquette_035">
              <a:extLst>
                <a:ext uri="{FF2B5EF4-FFF2-40B4-BE49-F238E27FC236}">
                  <a16:creationId xmlns:a16="http://schemas.microsoft.com/office/drawing/2014/main" id="{1BF399E5-1E21-CC4C-8022-8CE75CF3CF02}"/>
                </a:ext>
              </a:extLst>
            </p:cNvPr>
            <p:cNvPicPr>
              <a:picLocks noChangeAspect="1" noChangeArrowheads="1"/>
            </p:cNvPicPr>
            <p:nvPr/>
          </p:nvPicPr>
          <p:blipFill>
            <a:blip r:embed="rId3" cstate="print"/>
            <a:srcRect/>
            <a:stretch>
              <a:fillRect/>
            </a:stretch>
          </p:blipFill>
          <p:spPr bwMode="auto">
            <a:xfrm>
              <a:off x="3286116" y="1357298"/>
              <a:ext cx="566777" cy="324000"/>
            </a:xfrm>
            <a:prstGeom prst="rect">
              <a:avLst/>
            </a:prstGeom>
            <a:noFill/>
            <a:ln w="9525">
              <a:noFill/>
              <a:miter lim="800000"/>
              <a:headEnd/>
              <a:tailEnd/>
            </a:ln>
          </p:spPr>
        </p:pic>
      </p:grpSp>
    </p:spTree>
    <p:extLst>
      <p:ext uri="{BB962C8B-B14F-4D97-AF65-F5344CB8AC3E}">
        <p14:creationId xmlns:p14="http://schemas.microsoft.com/office/powerpoint/2010/main" val="132421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8900CB-DD6B-4058-8B07-F0DC054882AA}"/>
              </a:ext>
            </a:extLst>
          </p:cNvPr>
          <p:cNvSpPr>
            <a:spLocks noGrp="1"/>
          </p:cNvSpPr>
          <p:nvPr>
            <p:ph type="title"/>
          </p:nvPr>
        </p:nvSpPr>
        <p:spPr/>
        <p:txBody>
          <a:bodyPr/>
          <a:lstStyle/>
          <a:p>
            <a:r>
              <a:rPr lang="zh-CN" altLang="en-US" dirty="0"/>
              <a:t>实际论文中的例子</a:t>
            </a:r>
          </a:p>
        </p:txBody>
      </p:sp>
      <p:pic>
        <p:nvPicPr>
          <p:cNvPr id="11" name="图片 10">
            <a:extLst>
              <a:ext uri="{FF2B5EF4-FFF2-40B4-BE49-F238E27FC236}">
                <a16:creationId xmlns:a16="http://schemas.microsoft.com/office/drawing/2014/main" id="{05D693D3-2C51-46F9-92A1-080AAD5E7CA8}"/>
              </a:ext>
            </a:extLst>
          </p:cNvPr>
          <p:cNvPicPr>
            <a:picLocks noChangeAspect="1"/>
          </p:cNvPicPr>
          <p:nvPr/>
        </p:nvPicPr>
        <p:blipFill>
          <a:blip r:embed="rId2"/>
          <a:stretch>
            <a:fillRect/>
          </a:stretch>
        </p:blipFill>
        <p:spPr>
          <a:xfrm>
            <a:off x="582104" y="1059482"/>
            <a:ext cx="4921503" cy="5010407"/>
          </a:xfrm>
          <a:prstGeom prst="rect">
            <a:avLst/>
          </a:prstGeom>
        </p:spPr>
      </p:pic>
      <p:sp>
        <p:nvSpPr>
          <p:cNvPr id="13" name="文本框 12">
            <a:extLst>
              <a:ext uri="{FF2B5EF4-FFF2-40B4-BE49-F238E27FC236}">
                <a16:creationId xmlns:a16="http://schemas.microsoft.com/office/drawing/2014/main" id="{79210B83-5CEA-4AB8-8984-8976EDB5D714}"/>
              </a:ext>
            </a:extLst>
          </p:cNvPr>
          <p:cNvSpPr txBox="1"/>
          <p:nvPr/>
        </p:nvSpPr>
        <p:spPr>
          <a:xfrm>
            <a:off x="5584951" y="1839584"/>
            <a:ext cx="3271192" cy="1615827"/>
          </a:xfrm>
          <a:prstGeom prst="rect">
            <a:avLst/>
          </a:prstGeom>
          <a:noFill/>
          <a:ln w="12700">
            <a:noFill/>
          </a:ln>
        </p:spPr>
        <p:txBody>
          <a:bodyPr wrap="square">
            <a:spAutoFit/>
          </a:bodyPr>
          <a:lstStyle/>
          <a:p>
            <a:pPr>
              <a:lnSpc>
                <a:spcPct val="150000"/>
              </a:lnSpc>
            </a:pPr>
            <a:r>
              <a:rPr lang="en-US" altLang="zh-CN" b="1" dirty="0">
                <a:solidFill>
                  <a:schemeClr val="bg2">
                    <a:lumMod val="10000"/>
                  </a:schemeClr>
                </a:solidFill>
              </a:rPr>
              <a:t>Subset-Sum Problem</a:t>
            </a:r>
            <a:r>
              <a:rPr lang="en-US" altLang="zh-CN" dirty="0">
                <a:solidFill>
                  <a:schemeClr val="bg2">
                    <a:lumMod val="10000"/>
                  </a:schemeClr>
                </a:solidFill>
              </a:rPr>
              <a:t>:</a:t>
            </a:r>
          </a:p>
          <a:p>
            <a:r>
              <a:rPr lang="zh-CN" altLang="en-US" dirty="0">
                <a:solidFill>
                  <a:schemeClr val="bg2">
                    <a:lumMod val="10000"/>
                  </a:schemeClr>
                </a:solidFill>
              </a:rPr>
              <a:t>假设有一个非负整数的集合 </a:t>
            </a:r>
            <a:r>
              <a:rPr lang="en-US" altLang="zh-CN" dirty="0">
                <a:solidFill>
                  <a:schemeClr val="bg2">
                    <a:lumMod val="10000"/>
                  </a:schemeClr>
                </a:solidFill>
              </a:rPr>
              <a:t>Set ,</a:t>
            </a:r>
            <a:r>
              <a:rPr lang="zh-CN" altLang="en-US" dirty="0">
                <a:solidFill>
                  <a:schemeClr val="bg2">
                    <a:lumMod val="10000"/>
                  </a:schemeClr>
                </a:solidFill>
              </a:rPr>
              <a:t>求是否存在一个组合使得其中任意元素之和为一个给定的整数 </a:t>
            </a:r>
            <a:r>
              <a:rPr lang="en-US" altLang="zh-CN" dirty="0">
                <a:solidFill>
                  <a:schemeClr val="bg2">
                    <a:lumMod val="10000"/>
                  </a:schemeClr>
                </a:solidFill>
              </a:rPr>
              <a:t>sum </a:t>
            </a:r>
            <a:r>
              <a:rPr lang="zh-CN" altLang="en-US" dirty="0">
                <a:solidFill>
                  <a:schemeClr val="bg2">
                    <a:lumMod val="10000"/>
                  </a:schemeClr>
                </a:solidFill>
              </a:rPr>
              <a:t>？</a:t>
            </a:r>
          </a:p>
        </p:txBody>
      </p:sp>
      <p:pic>
        <p:nvPicPr>
          <p:cNvPr id="14" name="Picture 76" descr="IconTexto_WebDev_013">
            <a:extLst>
              <a:ext uri="{FF2B5EF4-FFF2-40B4-BE49-F238E27FC236}">
                <a16:creationId xmlns:a16="http://schemas.microsoft.com/office/drawing/2014/main" id="{D4108637-1C2B-4E0B-B985-4320468E5F35}"/>
              </a:ext>
            </a:extLst>
          </p:cNvPr>
          <p:cNvPicPr>
            <a:picLocks noChangeAspect="1" noChangeArrowheads="1"/>
          </p:cNvPicPr>
          <p:nvPr/>
        </p:nvPicPr>
        <p:blipFill>
          <a:blip r:embed="rId3" cstate="print"/>
          <a:srcRect/>
          <a:stretch>
            <a:fillRect/>
          </a:stretch>
        </p:blipFill>
        <p:spPr bwMode="auto">
          <a:xfrm>
            <a:off x="5644746" y="4058251"/>
            <a:ext cx="395624" cy="396093"/>
          </a:xfrm>
          <a:prstGeom prst="rect">
            <a:avLst/>
          </a:prstGeom>
          <a:noFill/>
          <a:ln w="9525">
            <a:noFill/>
            <a:miter lim="800000"/>
            <a:headEnd/>
            <a:tailEnd/>
          </a:ln>
        </p:spPr>
      </p:pic>
      <p:sp>
        <p:nvSpPr>
          <p:cNvPr id="16" name="文本框 15">
            <a:extLst>
              <a:ext uri="{FF2B5EF4-FFF2-40B4-BE49-F238E27FC236}">
                <a16:creationId xmlns:a16="http://schemas.microsoft.com/office/drawing/2014/main" id="{DD3B3E38-CB60-4727-95BB-F887327A9727}"/>
              </a:ext>
            </a:extLst>
          </p:cNvPr>
          <p:cNvSpPr txBox="1"/>
          <p:nvPr/>
        </p:nvSpPr>
        <p:spPr>
          <a:xfrm>
            <a:off x="5644746" y="4517256"/>
            <a:ext cx="3127595" cy="646331"/>
          </a:xfrm>
          <a:prstGeom prst="rect">
            <a:avLst/>
          </a:prstGeom>
          <a:noFill/>
          <a:ln w="12700">
            <a:noFill/>
          </a:ln>
        </p:spPr>
        <p:txBody>
          <a:bodyPr wrap="square">
            <a:spAutoFit/>
          </a:bodyPr>
          <a:lstStyle/>
          <a:p>
            <a:r>
              <a:rPr lang="zh-CN" altLang="en-US" dirty="0">
                <a:solidFill>
                  <a:schemeClr val="bg2">
                    <a:lumMod val="10000"/>
                  </a:schemeClr>
                </a:solidFill>
              </a:rPr>
              <a:t>如何使用动态规划求解？时间复杂度为多少？</a:t>
            </a:r>
            <a:endParaRPr lang="zh-CN" altLang="en-US" dirty="0"/>
          </a:p>
        </p:txBody>
      </p:sp>
    </p:spTree>
    <p:extLst>
      <p:ext uri="{BB962C8B-B14F-4D97-AF65-F5344CB8AC3E}">
        <p14:creationId xmlns:p14="http://schemas.microsoft.com/office/powerpoint/2010/main" val="304617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par>
                                <p:cTn id="13" presetID="2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怎么办？</a:t>
            </a:r>
          </a:p>
        </p:txBody>
      </p:sp>
      <p:grpSp>
        <p:nvGrpSpPr>
          <p:cNvPr id="6" name="组合 39"/>
          <p:cNvGrpSpPr/>
          <p:nvPr/>
        </p:nvGrpSpPr>
        <p:grpSpPr>
          <a:xfrm>
            <a:off x="323528" y="980728"/>
            <a:ext cx="5983312" cy="424732"/>
            <a:chOff x="428026" y="2356950"/>
            <a:chExt cx="5983312" cy="424732"/>
          </a:xfrm>
        </p:grpSpPr>
        <p:pic>
          <p:nvPicPr>
            <p:cNvPr id="7" name="Picture 76" descr="IconTexto_WebDev_013"/>
            <p:cNvPicPr>
              <a:picLocks noChangeAspect="1" noChangeArrowheads="1"/>
            </p:cNvPicPr>
            <p:nvPr/>
          </p:nvPicPr>
          <p:blipFill>
            <a:blip r:embed="rId2" cstate="print"/>
            <a:srcRect/>
            <a:stretch>
              <a:fillRect/>
            </a:stretch>
          </p:blipFill>
          <p:spPr bwMode="auto">
            <a:xfrm>
              <a:off x="428026" y="2357429"/>
              <a:ext cx="395624" cy="396093"/>
            </a:xfrm>
            <a:prstGeom prst="rect">
              <a:avLst/>
            </a:prstGeom>
            <a:noFill/>
            <a:ln w="9525">
              <a:noFill/>
              <a:miter lim="800000"/>
              <a:headEnd/>
              <a:tailEnd/>
            </a:ln>
          </p:spPr>
        </p:pic>
        <p:sp>
          <p:nvSpPr>
            <p:cNvPr id="8" name="Text Box 33"/>
            <p:cNvSpPr txBox="1">
              <a:spLocks noChangeArrowheads="1"/>
            </p:cNvSpPr>
            <p:nvPr/>
          </p:nvSpPr>
          <p:spPr bwMode="black">
            <a:xfrm>
              <a:off x="752417" y="2356950"/>
              <a:ext cx="5658921" cy="424732"/>
            </a:xfrm>
            <a:prstGeom prst="rect">
              <a:avLst/>
            </a:prstGeom>
            <a:noFill/>
            <a:ln w="9525">
              <a:noFill/>
              <a:miter lim="800000"/>
              <a:headEnd/>
              <a:tailEnd/>
            </a:ln>
          </p:spPr>
          <p:txBody>
            <a:bodyPr wrap="none">
              <a:spAutoFit/>
            </a:bodyPr>
            <a:lstStyle/>
            <a:p>
              <a:pPr algn="l">
                <a:lnSpc>
                  <a:spcPct val="90000"/>
                </a:lnSpc>
              </a:pPr>
              <a:r>
                <a:rPr lang="zh-CN" altLang="en-US" sz="2400" dirty="0">
                  <a:latin typeface="Arial" pitchFamily="34" charset="0"/>
                  <a:cs typeface="Arial" pitchFamily="34" charset="0"/>
                </a:rPr>
                <a:t>如果</a:t>
              </a:r>
              <a:r>
                <a:rPr lang="en-US" altLang="zh-CN" sz="2400" dirty="0">
                  <a:latin typeface="Arial" pitchFamily="34" charset="0"/>
                  <a:cs typeface="Arial" pitchFamily="34" charset="0"/>
                </a:rPr>
                <a:t>Leader</a:t>
              </a:r>
              <a:r>
                <a:rPr lang="zh-CN" altLang="en-US" sz="2400" dirty="0">
                  <a:latin typeface="Arial" pitchFamily="34" charset="0"/>
                  <a:cs typeface="Arial" pitchFamily="34" charset="0"/>
                </a:rPr>
                <a:t>反问“怎么办？”，如何回答？</a:t>
              </a:r>
              <a:endParaRPr lang="en-US" altLang="zh-CN" sz="2400" dirty="0">
                <a:latin typeface="Arial" pitchFamily="34" charset="0"/>
                <a:cs typeface="Arial" pitchFamily="34" charset="0"/>
              </a:endParaRPr>
            </a:p>
          </p:txBody>
        </p:sp>
      </p:grpSp>
      <p:grpSp>
        <p:nvGrpSpPr>
          <p:cNvPr id="9" name="组合 62"/>
          <p:cNvGrpSpPr>
            <a:grpSpLocks/>
          </p:cNvGrpSpPr>
          <p:nvPr/>
        </p:nvGrpSpPr>
        <p:grpSpPr bwMode="auto">
          <a:xfrm>
            <a:off x="683567" y="1489564"/>
            <a:ext cx="6120681" cy="442035"/>
            <a:chOff x="3286116" y="1289034"/>
            <a:chExt cx="6119328" cy="442240"/>
          </a:xfrm>
        </p:grpSpPr>
        <p:sp>
          <p:nvSpPr>
            <p:cNvPr id="10" name="TextBox 37"/>
            <p:cNvSpPr txBox="1">
              <a:spLocks noChangeArrowheads="1"/>
            </p:cNvSpPr>
            <p:nvPr/>
          </p:nvSpPr>
          <p:spPr bwMode="auto">
            <a:xfrm>
              <a:off x="3857261" y="1289034"/>
              <a:ext cx="5548183" cy="442240"/>
            </a:xfrm>
            <a:prstGeom prst="rect">
              <a:avLst/>
            </a:prstGeom>
            <a:noFill/>
            <a:ln w="9525">
              <a:noFill/>
              <a:miter lim="800000"/>
              <a:headEnd/>
              <a:tailEnd/>
            </a:ln>
          </p:spPr>
          <p:txBody>
            <a:bodyPr wrap="square" lIns="36000" tIns="36000" rIns="36000" bIns="36000">
              <a:spAutoFit/>
            </a:bodyPr>
            <a:lstStyle/>
            <a:p>
              <a:pPr algn="l">
                <a:spcBef>
                  <a:spcPts val="600"/>
                </a:spcBef>
              </a:pPr>
              <a:r>
                <a:rPr lang="zh-CN" altLang="en-US" sz="2400" dirty="0">
                  <a:solidFill>
                    <a:schemeClr val="tx1"/>
                  </a:solidFill>
                  <a:latin typeface="Times New Roman" pitchFamily="18" charset="0"/>
                  <a:cs typeface="Times New Roman" pitchFamily="18" charset="0"/>
                </a:rPr>
                <a:t>你有五种选择：</a:t>
              </a:r>
              <a:endParaRPr lang="en-US" altLang="zh-CN" sz="2400" dirty="0">
                <a:solidFill>
                  <a:schemeClr val="tx1"/>
                </a:solidFill>
                <a:latin typeface="Times New Roman" pitchFamily="18" charset="0"/>
                <a:cs typeface="Times New Roman" pitchFamily="18" charset="0"/>
              </a:endParaRPr>
            </a:p>
          </p:txBody>
        </p:sp>
        <p:pic>
          <p:nvPicPr>
            <p:cNvPr id="11" name="Picture 21" descr="coquette_035"/>
            <p:cNvPicPr>
              <a:picLocks noChangeAspect="1" noChangeArrowheads="1"/>
            </p:cNvPicPr>
            <p:nvPr/>
          </p:nvPicPr>
          <p:blipFill>
            <a:blip r:embed="rId3" cstate="print"/>
            <a:srcRect/>
            <a:stretch>
              <a:fillRect/>
            </a:stretch>
          </p:blipFill>
          <p:spPr bwMode="auto">
            <a:xfrm>
              <a:off x="3286116" y="1357298"/>
              <a:ext cx="566777" cy="324000"/>
            </a:xfrm>
            <a:prstGeom prst="rect">
              <a:avLst/>
            </a:prstGeom>
            <a:noFill/>
            <a:ln w="9525">
              <a:noFill/>
              <a:miter lim="800000"/>
              <a:headEnd/>
              <a:tailEnd/>
            </a:ln>
          </p:spPr>
        </p:pic>
      </p:grpSp>
      <p:grpSp>
        <p:nvGrpSpPr>
          <p:cNvPr id="3" name="组合 2">
            <a:extLst>
              <a:ext uri="{FF2B5EF4-FFF2-40B4-BE49-F238E27FC236}">
                <a16:creationId xmlns:a16="http://schemas.microsoft.com/office/drawing/2014/main" id="{15540A75-F566-4138-AB24-8076A0C281A5}"/>
              </a:ext>
            </a:extLst>
          </p:cNvPr>
          <p:cNvGrpSpPr/>
          <p:nvPr/>
        </p:nvGrpSpPr>
        <p:grpSpPr>
          <a:xfrm>
            <a:off x="1043608" y="1988840"/>
            <a:ext cx="2424118" cy="859297"/>
            <a:chOff x="1043608" y="1988840"/>
            <a:chExt cx="2424118" cy="859297"/>
          </a:xfrm>
        </p:grpSpPr>
        <p:grpSp>
          <p:nvGrpSpPr>
            <p:cNvPr id="12" name="组合 42"/>
            <p:cNvGrpSpPr>
              <a:grpSpLocks/>
            </p:cNvGrpSpPr>
            <p:nvPr/>
          </p:nvGrpSpPr>
          <p:grpSpPr bwMode="auto">
            <a:xfrm>
              <a:off x="1043608" y="1988840"/>
              <a:ext cx="1042113" cy="380480"/>
              <a:chOff x="428596" y="2825969"/>
              <a:chExt cx="1041629" cy="381055"/>
            </a:xfrm>
          </p:grpSpPr>
          <p:sp>
            <p:nvSpPr>
              <p:cNvPr id="13" name="TextBox 18"/>
              <p:cNvSpPr txBox="1">
                <a:spLocks noChangeArrowheads="1"/>
              </p:cNvSpPr>
              <p:nvPr/>
            </p:nvSpPr>
            <p:spPr bwMode="auto">
              <a:xfrm>
                <a:off x="628471" y="2825969"/>
                <a:ext cx="841754" cy="381055"/>
              </a:xfrm>
              <a:prstGeom prst="rect">
                <a:avLst/>
              </a:prstGeom>
              <a:noFill/>
              <a:ln w="9525">
                <a:noFill/>
                <a:miter lim="800000"/>
                <a:headEnd/>
                <a:tailEnd/>
              </a:ln>
            </p:spPr>
            <p:txBody>
              <a:bodyPr wrap="none" lIns="36000" tIns="36000" rIns="36000" bIns="36000">
                <a:spAutoFit/>
              </a:bodyPr>
              <a:lstStyle/>
              <a:p>
                <a:pPr algn="l"/>
                <a:r>
                  <a:rPr lang="zh-CN" altLang="en-US" sz="2000" dirty="0"/>
                  <a:t>放弃。</a:t>
                </a:r>
                <a:endParaRPr lang="en-US" altLang="zh-CN" sz="2000" dirty="0"/>
              </a:p>
            </p:txBody>
          </p:sp>
          <p:grpSp>
            <p:nvGrpSpPr>
              <p:cNvPr id="14" name="Group 20"/>
              <p:cNvGrpSpPr>
                <a:grpSpLocks/>
              </p:cNvGrpSpPr>
              <p:nvPr/>
            </p:nvGrpSpPr>
            <p:grpSpPr bwMode="auto">
              <a:xfrm>
                <a:off x="428596" y="2928934"/>
                <a:ext cx="128588" cy="128588"/>
                <a:chOff x="2995" y="1525"/>
                <a:chExt cx="112" cy="112"/>
              </a:xfrm>
            </p:grpSpPr>
            <p:sp>
              <p:nvSpPr>
                <p:cNvPr id="15"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latin typeface="Times New Roman" pitchFamily="18" charset="0"/>
                    <a:cs typeface="Times New Roman" pitchFamily="18" charset="0"/>
                  </a:endParaRPr>
                </a:p>
              </p:txBody>
            </p:sp>
            <p:sp>
              <p:nvSpPr>
                <p:cNvPr id="16"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latin typeface="Times New Roman" pitchFamily="18" charset="0"/>
                    <a:cs typeface="Times New Roman" pitchFamily="18" charset="0"/>
                  </a:endParaRPr>
                </a:p>
              </p:txBody>
            </p:sp>
          </p:grpSp>
        </p:grpSp>
        <p:grpSp>
          <p:nvGrpSpPr>
            <p:cNvPr id="17" name="组合 62"/>
            <p:cNvGrpSpPr>
              <a:grpSpLocks/>
            </p:cNvGrpSpPr>
            <p:nvPr/>
          </p:nvGrpSpPr>
          <p:grpSpPr bwMode="auto">
            <a:xfrm>
              <a:off x="1284866" y="2467657"/>
              <a:ext cx="2182860" cy="380480"/>
              <a:chOff x="3286116" y="1336849"/>
              <a:chExt cx="2182366" cy="380656"/>
            </a:xfrm>
          </p:grpSpPr>
          <p:sp>
            <p:nvSpPr>
              <p:cNvPr id="18" name="TextBox 37"/>
              <p:cNvSpPr txBox="1">
                <a:spLocks noChangeArrowheads="1"/>
              </p:cNvSpPr>
              <p:nvPr/>
            </p:nvSpPr>
            <p:spPr bwMode="auto">
              <a:xfrm>
                <a:off x="3857261" y="1336849"/>
                <a:ext cx="1611221" cy="380656"/>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000" dirty="0">
                    <a:solidFill>
                      <a:schemeClr val="tx1"/>
                    </a:solidFill>
                    <a:latin typeface="Times New Roman" pitchFamily="18" charset="0"/>
                    <a:cs typeface="Times New Roman" pitchFamily="18" charset="0"/>
                  </a:rPr>
                  <a:t>懦夫的选择。</a:t>
                </a:r>
                <a:endParaRPr lang="en-US" altLang="zh-CN" sz="2000" dirty="0">
                  <a:solidFill>
                    <a:schemeClr val="tx1"/>
                  </a:solidFill>
                  <a:latin typeface="Times New Roman" pitchFamily="18" charset="0"/>
                  <a:cs typeface="Times New Roman" pitchFamily="18" charset="0"/>
                </a:endParaRPr>
              </a:p>
            </p:txBody>
          </p:sp>
          <p:pic>
            <p:nvPicPr>
              <p:cNvPr id="19" name="Picture 21" descr="coquette_035"/>
              <p:cNvPicPr>
                <a:picLocks noChangeAspect="1" noChangeArrowheads="1"/>
              </p:cNvPicPr>
              <p:nvPr/>
            </p:nvPicPr>
            <p:blipFill>
              <a:blip r:embed="rId3" cstate="print"/>
              <a:srcRect/>
              <a:stretch>
                <a:fillRect/>
              </a:stretch>
            </p:blipFill>
            <p:spPr bwMode="auto">
              <a:xfrm>
                <a:off x="3286116" y="1357298"/>
                <a:ext cx="566777" cy="324000"/>
              </a:xfrm>
              <a:prstGeom prst="rect">
                <a:avLst/>
              </a:prstGeom>
              <a:noFill/>
              <a:ln w="9525">
                <a:noFill/>
                <a:miter lim="800000"/>
                <a:headEnd/>
                <a:tailEnd/>
              </a:ln>
            </p:spPr>
          </p:pic>
        </p:grpSp>
      </p:grpSp>
      <p:grpSp>
        <p:nvGrpSpPr>
          <p:cNvPr id="52" name="组合 51">
            <a:extLst>
              <a:ext uri="{FF2B5EF4-FFF2-40B4-BE49-F238E27FC236}">
                <a16:creationId xmlns:a16="http://schemas.microsoft.com/office/drawing/2014/main" id="{A680FDAC-A4FE-4E87-BB77-38D3A037C22D}"/>
              </a:ext>
            </a:extLst>
          </p:cNvPr>
          <p:cNvGrpSpPr/>
          <p:nvPr/>
        </p:nvGrpSpPr>
        <p:grpSpPr>
          <a:xfrm>
            <a:off x="1043608" y="2857735"/>
            <a:ext cx="4632839" cy="859297"/>
            <a:chOff x="1043608" y="2857735"/>
            <a:chExt cx="4632839" cy="859297"/>
          </a:xfrm>
        </p:grpSpPr>
        <p:grpSp>
          <p:nvGrpSpPr>
            <p:cNvPr id="20" name="组合 42"/>
            <p:cNvGrpSpPr>
              <a:grpSpLocks/>
            </p:cNvGrpSpPr>
            <p:nvPr/>
          </p:nvGrpSpPr>
          <p:grpSpPr bwMode="auto">
            <a:xfrm>
              <a:off x="1043608" y="2857735"/>
              <a:ext cx="4632839" cy="380480"/>
              <a:chOff x="428596" y="2825969"/>
              <a:chExt cx="4630686" cy="381055"/>
            </a:xfrm>
          </p:grpSpPr>
          <p:sp>
            <p:nvSpPr>
              <p:cNvPr id="21" name="TextBox 18"/>
              <p:cNvSpPr txBox="1">
                <a:spLocks noChangeArrowheads="1"/>
              </p:cNvSpPr>
              <p:nvPr/>
            </p:nvSpPr>
            <p:spPr bwMode="auto">
              <a:xfrm>
                <a:off x="628471" y="2825969"/>
                <a:ext cx="4430811" cy="381055"/>
              </a:xfrm>
              <a:prstGeom prst="rect">
                <a:avLst/>
              </a:prstGeom>
              <a:noFill/>
              <a:ln w="9525">
                <a:noFill/>
                <a:miter lim="800000"/>
                <a:headEnd/>
                <a:tailEnd/>
              </a:ln>
            </p:spPr>
            <p:txBody>
              <a:bodyPr wrap="none" lIns="36000" tIns="36000" rIns="36000" bIns="36000">
                <a:spAutoFit/>
              </a:bodyPr>
              <a:lstStyle/>
              <a:p>
                <a:pPr algn="l"/>
                <a:r>
                  <a:rPr lang="zh-CN" altLang="en-US" sz="2000" dirty="0"/>
                  <a:t>随便想个启发式算法，有个结果就行。</a:t>
                </a:r>
                <a:endParaRPr lang="en-US" altLang="zh-CN" sz="2000" dirty="0"/>
              </a:p>
            </p:txBody>
          </p:sp>
          <p:grpSp>
            <p:nvGrpSpPr>
              <p:cNvPr id="22" name="Group 20"/>
              <p:cNvGrpSpPr>
                <a:grpSpLocks/>
              </p:cNvGrpSpPr>
              <p:nvPr/>
            </p:nvGrpSpPr>
            <p:grpSpPr bwMode="auto">
              <a:xfrm>
                <a:off x="428596" y="2928934"/>
                <a:ext cx="128588" cy="128588"/>
                <a:chOff x="2995" y="1525"/>
                <a:chExt cx="112" cy="112"/>
              </a:xfrm>
            </p:grpSpPr>
            <p:sp>
              <p:nvSpPr>
                <p:cNvPr id="23"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latin typeface="Times New Roman" pitchFamily="18" charset="0"/>
                    <a:cs typeface="Times New Roman" pitchFamily="18" charset="0"/>
                  </a:endParaRPr>
                </a:p>
              </p:txBody>
            </p:sp>
            <p:sp>
              <p:nvSpPr>
                <p:cNvPr id="24"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latin typeface="Times New Roman" pitchFamily="18" charset="0"/>
                    <a:cs typeface="Times New Roman" pitchFamily="18" charset="0"/>
                  </a:endParaRPr>
                </a:p>
              </p:txBody>
            </p:sp>
          </p:grpSp>
        </p:grpSp>
        <p:grpSp>
          <p:nvGrpSpPr>
            <p:cNvPr id="25" name="组合 62"/>
            <p:cNvGrpSpPr>
              <a:grpSpLocks/>
            </p:cNvGrpSpPr>
            <p:nvPr/>
          </p:nvGrpSpPr>
          <p:grpSpPr bwMode="auto">
            <a:xfrm>
              <a:off x="1284864" y="3336552"/>
              <a:ext cx="2182860" cy="380480"/>
              <a:chOff x="3286116" y="1336849"/>
              <a:chExt cx="2182368" cy="380656"/>
            </a:xfrm>
          </p:grpSpPr>
          <p:sp>
            <p:nvSpPr>
              <p:cNvPr id="26" name="TextBox 37"/>
              <p:cNvSpPr txBox="1">
                <a:spLocks noChangeArrowheads="1"/>
              </p:cNvSpPr>
              <p:nvPr/>
            </p:nvSpPr>
            <p:spPr bwMode="auto">
              <a:xfrm>
                <a:off x="3857261" y="1336849"/>
                <a:ext cx="1611223" cy="380656"/>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000" dirty="0">
                    <a:solidFill>
                      <a:schemeClr val="tx1"/>
                    </a:solidFill>
                    <a:latin typeface="Times New Roman" pitchFamily="18" charset="0"/>
                    <a:cs typeface="Times New Roman" pitchFamily="18" charset="0"/>
                  </a:rPr>
                  <a:t>粗鲁的选择。</a:t>
                </a:r>
                <a:endParaRPr lang="en-US" altLang="zh-CN" sz="2000" dirty="0">
                  <a:solidFill>
                    <a:schemeClr val="tx1"/>
                  </a:solidFill>
                  <a:latin typeface="Times New Roman" pitchFamily="18" charset="0"/>
                  <a:cs typeface="Times New Roman" pitchFamily="18" charset="0"/>
                </a:endParaRPr>
              </a:p>
            </p:txBody>
          </p:sp>
          <p:pic>
            <p:nvPicPr>
              <p:cNvPr id="27" name="Picture 21" descr="coquette_035"/>
              <p:cNvPicPr>
                <a:picLocks noChangeAspect="1" noChangeArrowheads="1"/>
              </p:cNvPicPr>
              <p:nvPr/>
            </p:nvPicPr>
            <p:blipFill>
              <a:blip r:embed="rId3" cstate="print"/>
              <a:srcRect/>
              <a:stretch>
                <a:fillRect/>
              </a:stretch>
            </p:blipFill>
            <p:spPr bwMode="auto">
              <a:xfrm>
                <a:off x="3286116" y="1357298"/>
                <a:ext cx="566777" cy="324000"/>
              </a:xfrm>
              <a:prstGeom prst="rect">
                <a:avLst/>
              </a:prstGeom>
              <a:noFill/>
              <a:ln w="9525">
                <a:noFill/>
                <a:miter lim="800000"/>
                <a:headEnd/>
                <a:tailEnd/>
              </a:ln>
            </p:spPr>
          </p:pic>
        </p:grpSp>
      </p:grpSp>
      <p:grpSp>
        <p:nvGrpSpPr>
          <p:cNvPr id="53" name="组合 52">
            <a:extLst>
              <a:ext uri="{FF2B5EF4-FFF2-40B4-BE49-F238E27FC236}">
                <a16:creationId xmlns:a16="http://schemas.microsoft.com/office/drawing/2014/main" id="{415DF772-ECDD-4B15-B549-19C37F9B51B4}"/>
              </a:ext>
            </a:extLst>
          </p:cNvPr>
          <p:cNvGrpSpPr/>
          <p:nvPr/>
        </p:nvGrpSpPr>
        <p:grpSpPr>
          <a:xfrm>
            <a:off x="1043608" y="3726630"/>
            <a:ext cx="7454124" cy="859297"/>
            <a:chOff x="1043608" y="3726630"/>
            <a:chExt cx="7454124" cy="859297"/>
          </a:xfrm>
        </p:grpSpPr>
        <p:grpSp>
          <p:nvGrpSpPr>
            <p:cNvPr id="28" name="组合 42"/>
            <p:cNvGrpSpPr>
              <a:grpSpLocks/>
            </p:cNvGrpSpPr>
            <p:nvPr/>
          </p:nvGrpSpPr>
          <p:grpSpPr bwMode="auto">
            <a:xfrm>
              <a:off x="1043608" y="3726630"/>
              <a:ext cx="7454124" cy="380480"/>
              <a:chOff x="428596" y="2825969"/>
              <a:chExt cx="7450659" cy="381055"/>
            </a:xfrm>
          </p:grpSpPr>
          <p:sp>
            <p:nvSpPr>
              <p:cNvPr id="29" name="TextBox 18"/>
              <p:cNvSpPr txBox="1">
                <a:spLocks noChangeArrowheads="1"/>
              </p:cNvSpPr>
              <p:nvPr/>
            </p:nvSpPr>
            <p:spPr bwMode="auto">
              <a:xfrm>
                <a:off x="628471" y="2825969"/>
                <a:ext cx="7250784" cy="381055"/>
              </a:xfrm>
              <a:prstGeom prst="rect">
                <a:avLst/>
              </a:prstGeom>
              <a:noFill/>
              <a:ln w="9525">
                <a:noFill/>
                <a:miter lim="800000"/>
                <a:headEnd/>
                <a:tailEnd/>
              </a:ln>
            </p:spPr>
            <p:txBody>
              <a:bodyPr wrap="none" lIns="36000" tIns="36000" rIns="36000" bIns="36000">
                <a:spAutoFit/>
              </a:bodyPr>
              <a:lstStyle/>
              <a:p>
                <a:pPr algn="l"/>
                <a:r>
                  <a:rPr lang="zh-CN" altLang="en-US" sz="2000" dirty="0"/>
                  <a:t>放弃精确求解的希望，追求高效，但给出性能界。（近似算法）</a:t>
                </a:r>
                <a:endParaRPr lang="en-US" altLang="zh-CN" sz="2000" dirty="0"/>
              </a:p>
            </p:txBody>
          </p:sp>
          <p:grpSp>
            <p:nvGrpSpPr>
              <p:cNvPr id="30" name="Group 20"/>
              <p:cNvGrpSpPr>
                <a:grpSpLocks/>
              </p:cNvGrpSpPr>
              <p:nvPr/>
            </p:nvGrpSpPr>
            <p:grpSpPr bwMode="auto">
              <a:xfrm>
                <a:off x="428596" y="2928934"/>
                <a:ext cx="128588" cy="128588"/>
                <a:chOff x="2995" y="1525"/>
                <a:chExt cx="112" cy="112"/>
              </a:xfrm>
            </p:grpSpPr>
            <p:sp>
              <p:nvSpPr>
                <p:cNvPr id="31"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latin typeface="Times New Roman" pitchFamily="18" charset="0"/>
                    <a:cs typeface="Times New Roman" pitchFamily="18" charset="0"/>
                  </a:endParaRPr>
                </a:p>
              </p:txBody>
            </p:sp>
            <p:sp>
              <p:nvSpPr>
                <p:cNvPr id="32"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latin typeface="Times New Roman" pitchFamily="18" charset="0"/>
                    <a:cs typeface="Times New Roman" pitchFamily="18" charset="0"/>
                  </a:endParaRPr>
                </a:p>
              </p:txBody>
            </p:sp>
          </p:grpSp>
        </p:grpSp>
        <p:grpSp>
          <p:nvGrpSpPr>
            <p:cNvPr id="33" name="组合 62"/>
            <p:cNvGrpSpPr>
              <a:grpSpLocks/>
            </p:cNvGrpSpPr>
            <p:nvPr/>
          </p:nvGrpSpPr>
          <p:grpSpPr bwMode="auto">
            <a:xfrm>
              <a:off x="1284864" y="4205447"/>
              <a:ext cx="2182860" cy="380480"/>
              <a:chOff x="3286116" y="1336849"/>
              <a:chExt cx="2182367" cy="380656"/>
            </a:xfrm>
          </p:grpSpPr>
          <p:sp>
            <p:nvSpPr>
              <p:cNvPr id="34" name="TextBox 37"/>
              <p:cNvSpPr txBox="1">
                <a:spLocks noChangeArrowheads="1"/>
              </p:cNvSpPr>
              <p:nvPr/>
            </p:nvSpPr>
            <p:spPr bwMode="auto">
              <a:xfrm>
                <a:off x="3857261" y="1336849"/>
                <a:ext cx="1611222" cy="380656"/>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000" dirty="0">
                    <a:solidFill>
                      <a:schemeClr val="tx1"/>
                    </a:solidFill>
                    <a:latin typeface="Times New Roman" pitchFamily="18" charset="0"/>
                    <a:cs typeface="Times New Roman" pitchFamily="18" charset="0"/>
                  </a:rPr>
                  <a:t>现实的选择。</a:t>
                </a:r>
                <a:endParaRPr lang="en-US" altLang="zh-CN" sz="2000" dirty="0">
                  <a:solidFill>
                    <a:schemeClr val="tx1"/>
                  </a:solidFill>
                  <a:latin typeface="Times New Roman" pitchFamily="18" charset="0"/>
                  <a:cs typeface="Times New Roman" pitchFamily="18" charset="0"/>
                </a:endParaRPr>
              </a:p>
            </p:txBody>
          </p:sp>
          <p:pic>
            <p:nvPicPr>
              <p:cNvPr id="35" name="Picture 21" descr="coquette_035"/>
              <p:cNvPicPr>
                <a:picLocks noChangeAspect="1" noChangeArrowheads="1"/>
              </p:cNvPicPr>
              <p:nvPr/>
            </p:nvPicPr>
            <p:blipFill>
              <a:blip r:embed="rId3" cstate="print"/>
              <a:srcRect/>
              <a:stretch>
                <a:fillRect/>
              </a:stretch>
            </p:blipFill>
            <p:spPr bwMode="auto">
              <a:xfrm>
                <a:off x="3286116" y="1357298"/>
                <a:ext cx="566777" cy="324000"/>
              </a:xfrm>
              <a:prstGeom prst="rect">
                <a:avLst/>
              </a:prstGeom>
              <a:noFill/>
              <a:ln w="9525">
                <a:noFill/>
                <a:miter lim="800000"/>
                <a:headEnd/>
                <a:tailEnd/>
              </a:ln>
            </p:spPr>
          </p:pic>
        </p:grpSp>
      </p:grpSp>
      <p:grpSp>
        <p:nvGrpSpPr>
          <p:cNvPr id="54" name="组合 53">
            <a:extLst>
              <a:ext uri="{FF2B5EF4-FFF2-40B4-BE49-F238E27FC236}">
                <a16:creationId xmlns:a16="http://schemas.microsoft.com/office/drawing/2014/main" id="{83143BF7-0AC2-4AAE-8861-9BEFABDF1264}"/>
              </a:ext>
            </a:extLst>
          </p:cNvPr>
          <p:cNvGrpSpPr/>
          <p:nvPr/>
        </p:nvGrpSpPr>
        <p:grpSpPr>
          <a:xfrm>
            <a:off x="1043608" y="4595525"/>
            <a:ext cx="6923531" cy="859297"/>
            <a:chOff x="1043608" y="4595525"/>
            <a:chExt cx="6923531" cy="859297"/>
          </a:xfrm>
        </p:grpSpPr>
        <p:grpSp>
          <p:nvGrpSpPr>
            <p:cNvPr id="36" name="组合 42"/>
            <p:cNvGrpSpPr>
              <a:grpSpLocks/>
            </p:cNvGrpSpPr>
            <p:nvPr/>
          </p:nvGrpSpPr>
          <p:grpSpPr bwMode="auto">
            <a:xfrm>
              <a:off x="1043608" y="4595525"/>
              <a:ext cx="6923531" cy="380480"/>
              <a:chOff x="428596" y="2825969"/>
              <a:chExt cx="6920312" cy="381055"/>
            </a:xfrm>
          </p:grpSpPr>
          <p:sp>
            <p:nvSpPr>
              <p:cNvPr id="37" name="TextBox 18"/>
              <p:cNvSpPr txBox="1">
                <a:spLocks noChangeArrowheads="1"/>
              </p:cNvSpPr>
              <p:nvPr/>
            </p:nvSpPr>
            <p:spPr bwMode="auto">
              <a:xfrm>
                <a:off x="628471" y="2825969"/>
                <a:ext cx="6720437" cy="381055"/>
              </a:xfrm>
              <a:prstGeom prst="rect">
                <a:avLst/>
              </a:prstGeom>
              <a:noFill/>
              <a:ln w="9525">
                <a:noFill/>
                <a:miter lim="800000"/>
                <a:headEnd/>
                <a:tailEnd/>
              </a:ln>
            </p:spPr>
            <p:txBody>
              <a:bodyPr wrap="none" lIns="36000" tIns="36000" rIns="36000" bIns="36000">
                <a:spAutoFit/>
              </a:bodyPr>
              <a:lstStyle/>
              <a:p>
                <a:pPr algn="l"/>
                <a:r>
                  <a:rPr lang="zh-CN" altLang="en-US" sz="2000" dirty="0"/>
                  <a:t>放弃高效求解的期望，务求精确，但一定比蛮力求解</a:t>
                </a:r>
                <a:r>
                  <a:rPr lang="zh-Hans" altLang="en-US" sz="2000" dirty="0"/>
                  <a:t>好</a:t>
                </a:r>
                <a:r>
                  <a:rPr lang="zh-CN" altLang="en-US" sz="2000" dirty="0"/>
                  <a:t>。</a:t>
                </a:r>
                <a:endParaRPr lang="en-US" altLang="zh-CN" sz="2000" dirty="0"/>
              </a:p>
            </p:txBody>
          </p:sp>
          <p:grpSp>
            <p:nvGrpSpPr>
              <p:cNvPr id="38" name="Group 20"/>
              <p:cNvGrpSpPr>
                <a:grpSpLocks/>
              </p:cNvGrpSpPr>
              <p:nvPr/>
            </p:nvGrpSpPr>
            <p:grpSpPr bwMode="auto">
              <a:xfrm>
                <a:off x="428596" y="2928934"/>
                <a:ext cx="128588" cy="128588"/>
                <a:chOff x="2995" y="1525"/>
                <a:chExt cx="112" cy="112"/>
              </a:xfrm>
            </p:grpSpPr>
            <p:sp>
              <p:nvSpPr>
                <p:cNvPr id="39"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latin typeface="Times New Roman" pitchFamily="18" charset="0"/>
                    <a:cs typeface="Times New Roman" pitchFamily="18" charset="0"/>
                  </a:endParaRPr>
                </a:p>
              </p:txBody>
            </p:sp>
            <p:sp>
              <p:nvSpPr>
                <p:cNvPr id="40"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latin typeface="Times New Roman" pitchFamily="18" charset="0"/>
                    <a:cs typeface="Times New Roman" pitchFamily="18" charset="0"/>
                  </a:endParaRPr>
                </a:p>
              </p:txBody>
            </p:sp>
          </p:grpSp>
        </p:grpSp>
        <p:grpSp>
          <p:nvGrpSpPr>
            <p:cNvPr id="41" name="组合 62"/>
            <p:cNvGrpSpPr>
              <a:grpSpLocks/>
            </p:cNvGrpSpPr>
            <p:nvPr/>
          </p:nvGrpSpPr>
          <p:grpSpPr bwMode="auto">
            <a:xfrm>
              <a:off x="1284866" y="5074342"/>
              <a:ext cx="2182860" cy="380480"/>
              <a:chOff x="3286116" y="1336849"/>
              <a:chExt cx="2182366" cy="380656"/>
            </a:xfrm>
          </p:grpSpPr>
          <p:sp>
            <p:nvSpPr>
              <p:cNvPr id="42" name="TextBox 37"/>
              <p:cNvSpPr txBox="1">
                <a:spLocks noChangeArrowheads="1"/>
              </p:cNvSpPr>
              <p:nvPr/>
            </p:nvSpPr>
            <p:spPr bwMode="auto">
              <a:xfrm>
                <a:off x="3857261" y="1336849"/>
                <a:ext cx="1611221" cy="380656"/>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000" dirty="0">
                    <a:solidFill>
                      <a:schemeClr val="tx1"/>
                    </a:solidFill>
                    <a:latin typeface="Times New Roman" pitchFamily="18" charset="0"/>
                    <a:cs typeface="Times New Roman" pitchFamily="18" charset="0"/>
                  </a:rPr>
                  <a:t>无奈的选择。</a:t>
                </a:r>
                <a:endParaRPr lang="en-US" altLang="zh-CN" sz="2000" dirty="0">
                  <a:solidFill>
                    <a:schemeClr val="tx1"/>
                  </a:solidFill>
                  <a:latin typeface="Times New Roman" pitchFamily="18" charset="0"/>
                  <a:cs typeface="Times New Roman" pitchFamily="18" charset="0"/>
                </a:endParaRPr>
              </a:p>
            </p:txBody>
          </p:sp>
          <p:pic>
            <p:nvPicPr>
              <p:cNvPr id="43" name="Picture 21" descr="coquette_035"/>
              <p:cNvPicPr>
                <a:picLocks noChangeAspect="1" noChangeArrowheads="1"/>
              </p:cNvPicPr>
              <p:nvPr/>
            </p:nvPicPr>
            <p:blipFill>
              <a:blip r:embed="rId3" cstate="print"/>
              <a:srcRect/>
              <a:stretch>
                <a:fillRect/>
              </a:stretch>
            </p:blipFill>
            <p:spPr bwMode="auto">
              <a:xfrm>
                <a:off x="3286116" y="1357298"/>
                <a:ext cx="566777" cy="324000"/>
              </a:xfrm>
              <a:prstGeom prst="rect">
                <a:avLst/>
              </a:prstGeom>
              <a:noFill/>
              <a:ln w="9525">
                <a:noFill/>
                <a:miter lim="800000"/>
                <a:headEnd/>
                <a:tailEnd/>
              </a:ln>
            </p:spPr>
          </p:pic>
        </p:grpSp>
      </p:grpSp>
      <p:grpSp>
        <p:nvGrpSpPr>
          <p:cNvPr id="55" name="组合 54">
            <a:extLst>
              <a:ext uri="{FF2B5EF4-FFF2-40B4-BE49-F238E27FC236}">
                <a16:creationId xmlns:a16="http://schemas.microsoft.com/office/drawing/2014/main" id="{3F520A1A-4FC3-4111-99B1-F15D6292C47E}"/>
              </a:ext>
            </a:extLst>
          </p:cNvPr>
          <p:cNvGrpSpPr/>
          <p:nvPr/>
        </p:nvGrpSpPr>
        <p:grpSpPr>
          <a:xfrm>
            <a:off x="1043608" y="5464420"/>
            <a:ext cx="2580995" cy="859297"/>
            <a:chOff x="1043608" y="5464420"/>
            <a:chExt cx="2580995" cy="859297"/>
          </a:xfrm>
        </p:grpSpPr>
        <p:grpSp>
          <p:nvGrpSpPr>
            <p:cNvPr id="44" name="组合 42"/>
            <p:cNvGrpSpPr>
              <a:grpSpLocks/>
            </p:cNvGrpSpPr>
            <p:nvPr/>
          </p:nvGrpSpPr>
          <p:grpSpPr bwMode="auto">
            <a:xfrm>
              <a:off x="1043608" y="5464420"/>
              <a:ext cx="2580995" cy="380480"/>
              <a:chOff x="428596" y="2825969"/>
              <a:chExt cx="2579799" cy="381055"/>
            </a:xfrm>
          </p:grpSpPr>
          <p:sp>
            <p:nvSpPr>
              <p:cNvPr id="45" name="TextBox 18"/>
              <p:cNvSpPr txBox="1">
                <a:spLocks noChangeArrowheads="1"/>
              </p:cNvSpPr>
              <p:nvPr/>
            </p:nvSpPr>
            <p:spPr bwMode="auto">
              <a:xfrm>
                <a:off x="628471" y="2825969"/>
                <a:ext cx="2379924" cy="381055"/>
              </a:xfrm>
              <a:prstGeom prst="rect">
                <a:avLst/>
              </a:prstGeom>
              <a:noFill/>
              <a:ln w="9525">
                <a:noFill/>
                <a:miter lim="800000"/>
                <a:headEnd/>
                <a:tailEnd/>
              </a:ln>
            </p:spPr>
            <p:txBody>
              <a:bodyPr wrap="none" lIns="36000" tIns="36000" rIns="36000" bIns="36000">
                <a:spAutoFit/>
              </a:bodyPr>
              <a:lstStyle/>
              <a:p>
                <a:pPr algn="l"/>
                <a:r>
                  <a:rPr lang="zh-CN" altLang="en-US" sz="2000" dirty="0"/>
                  <a:t>挖掘问题中的特例。</a:t>
                </a:r>
                <a:endParaRPr lang="en-US" altLang="zh-CN" sz="2000" dirty="0"/>
              </a:p>
            </p:txBody>
          </p:sp>
          <p:grpSp>
            <p:nvGrpSpPr>
              <p:cNvPr id="46" name="Group 20"/>
              <p:cNvGrpSpPr>
                <a:grpSpLocks/>
              </p:cNvGrpSpPr>
              <p:nvPr/>
            </p:nvGrpSpPr>
            <p:grpSpPr bwMode="auto">
              <a:xfrm>
                <a:off x="428596" y="2928934"/>
                <a:ext cx="128588" cy="128588"/>
                <a:chOff x="2995" y="1525"/>
                <a:chExt cx="112" cy="112"/>
              </a:xfrm>
            </p:grpSpPr>
            <p:sp>
              <p:nvSpPr>
                <p:cNvPr id="47"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latin typeface="Times New Roman" pitchFamily="18" charset="0"/>
                    <a:cs typeface="Times New Roman" pitchFamily="18" charset="0"/>
                  </a:endParaRPr>
                </a:p>
              </p:txBody>
            </p:sp>
            <p:sp>
              <p:nvSpPr>
                <p:cNvPr id="48"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latin typeface="Times New Roman" pitchFamily="18" charset="0"/>
                    <a:cs typeface="Times New Roman" pitchFamily="18" charset="0"/>
                  </a:endParaRPr>
                </a:p>
              </p:txBody>
            </p:sp>
          </p:grpSp>
        </p:grpSp>
        <p:grpSp>
          <p:nvGrpSpPr>
            <p:cNvPr id="49" name="组合 62"/>
            <p:cNvGrpSpPr>
              <a:grpSpLocks/>
            </p:cNvGrpSpPr>
            <p:nvPr/>
          </p:nvGrpSpPr>
          <p:grpSpPr bwMode="auto">
            <a:xfrm>
              <a:off x="1284863" y="5943237"/>
              <a:ext cx="2182860" cy="380480"/>
              <a:chOff x="3286116" y="1336849"/>
              <a:chExt cx="2182368" cy="380656"/>
            </a:xfrm>
          </p:grpSpPr>
          <p:sp>
            <p:nvSpPr>
              <p:cNvPr id="50" name="TextBox 37"/>
              <p:cNvSpPr txBox="1">
                <a:spLocks noChangeArrowheads="1"/>
              </p:cNvSpPr>
              <p:nvPr/>
            </p:nvSpPr>
            <p:spPr bwMode="auto">
              <a:xfrm>
                <a:off x="3857261" y="1336849"/>
                <a:ext cx="1611223" cy="380656"/>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000" dirty="0">
                    <a:solidFill>
                      <a:schemeClr val="tx1"/>
                    </a:solidFill>
                    <a:latin typeface="Times New Roman" pitchFamily="18" charset="0"/>
                    <a:cs typeface="Times New Roman" pitchFamily="18" charset="0"/>
                  </a:rPr>
                  <a:t>幸运的选择。</a:t>
                </a:r>
                <a:endParaRPr lang="en-US" altLang="zh-CN" sz="2000" dirty="0">
                  <a:solidFill>
                    <a:schemeClr val="tx1"/>
                  </a:solidFill>
                  <a:latin typeface="Times New Roman" pitchFamily="18" charset="0"/>
                  <a:cs typeface="Times New Roman" pitchFamily="18" charset="0"/>
                </a:endParaRPr>
              </a:p>
            </p:txBody>
          </p:sp>
          <p:pic>
            <p:nvPicPr>
              <p:cNvPr id="51" name="Picture 21" descr="coquette_035"/>
              <p:cNvPicPr>
                <a:picLocks noChangeAspect="1" noChangeArrowheads="1"/>
              </p:cNvPicPr>
              <p:nvPr/>
            </p:nvPicPr>
            <p:blipFill>
              <a:blip r:embed="rId3" cstate="print"/>
              <a:srcRect/>
              <a:stretch>
                <a:fillRect/>
              </a:stretch>
            </p:blipFill>
            <p:spPr bwMode="auto">
              <a:xfrm>
                <a:off x="3286116" y="1357298"/>
                <a:ext cx="566777" cy="324000"/>
              </a:xfrm>
              <a:prstGeom prst="rect">
                <a:avLst/>
              </a:prstGeom>
              <a:noFill/>
              <a:ln w="9525">
                <a:noFill/>
                <a:miter lim="800000"/>
                <a:headEnd/>
                <a:tailEnd/>
              </a:ln>
            </p:spPr>
          </p:pic>
        </p:grpSp>
      </p:grpSp>
    </p:spTree>
    <p:extLst>
      <p:ext uri="{BB962C8B-B14F-4D97-AF65-F5344CB8AC3E}">
        <p14:creationId xmlns:p14="http://schemas.microsoft.com/office/powerpoint/2010/main" val="176420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wipe(down)">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wipe(down)">
                                      <p:cBhvr>
                                        <p:cTn id="22" dur="5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wipe(down)">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down)">
                                      <p:cBhvr>
                                        <p:cTn id="3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5A64F-B27B-464C-9288-5373B8B728F9}"/>
              </a:ext>
            </a:extLst>
          </p:cNvPr>
          <p:cNvSpPr>
            <a:spLocks noGrp="1"/>
          </p:cNvSpPr>
          <p:nvPr>
            <p:ph type="title"/>
          </p:nvPr>
        </p:nvSpPr>
        <p:spPr/>
        <p:txBody>
          <a:bodyPr/>
          <a:lstStyle/>
          <a:p>
            <a:r>
              <a:rPr lang="zh-CN" altLang="en-US" dirty="0"/>
              <a:t>启发式算法</a:t>
            </a:r>
          </a:p>
        </p:txBody>
      </p:sp>
      <p:sp>
        <p:nvSpPr>
          <p:cNvPr id="7" name="文本框 6">
            <a:extLst>
              <a:ext uri="{FF2B5EF4-FFF2-40B4-BE49-F238E27FC236}">
                <a16:creationId xmlns:a16="http://schemas.microsoft.com/office/drawing/2014/main" id="{43F737F2-FD62-4F10-A1F1-78526DBD8857}"/>
              </a:ext>
            </a:extLst>
          </p:cNvPr>
          <p:cNvSpPr txBox="1"/>
          <p:nvPr/>
        </p:nvSpPr>
        <p:spPr>
          <a:xfrm>
            <a:off x="522830" y="1403057"/>
            <a:ext cx="8098339" cy="1704056"/>
          </a:xfrm>
          <a:prstGeom prst="rect">
            <a:avLst/>
          </a:prstGeom>
          <a:noFill/>
          <a:ln w="12700">
            <a:noFill/>
          </a:ln>
        </p:spPr>
        <p:txBody>
          <a:bodyPr wrap="square">
            <a:spAutoFit/>
          </a:bodyPr>
          <a:lstStyle/>
          <a:p>
            <a:pPr>
              <a:lnSpc>
                <a:spcPct val="150000"/>
              </a:lnSpc>
            </a:pPr>
            <a:r>
              <a:rPr lang="zh-CN" altLang="en-US" dirty="0">
                <a:solidFill>
                  <a:schemeClr val="bg2">
                    <a:lumMod val="10000"/>
                  </a:schemeClr>
                </a:solidFill>
              </a:rPr>
              <a:t>启发式算法（</a:t>
            </a:r>
            <a:r>
              <a:rPr lang="en-US" altLang="zh-CN" dirty="0">
                <a:solidFill>
                  <a:schemeClr val="bg2">
                    <a:lumMod val="10000"/>
                  </a:schemeClr>
                </a:solidFill>
              </a:rPr>
              <a:t>heuristic algorithm)</a:t>
            </a:r>
            <a:r>
              <a:rPr lang="zh-CN" altLang="en-US" dirty="0">
                <a:solidFill>
                  <a:schemeClr val="bg2">
                    <a:lumMod val="10000"/>
                  </a:schemeClr>
                </a:solidFill>
              </a:rPr>
              <a:t>是相对于最优化算法提出的。一个问题的最优算法求得该问题每个实例的最优解。启发式算法可以这样定义：一个基于直观或经验构造的算法，在可接受的花费下给出待解决优化问题的一个可行解，该可行解与最优解的偏离程度</a:t>
            </a:r>
            <a:r>
              <a:rPr lang="zh-CN" altLang="en-US" dirty="0">
                <a:solidFill>
                  <a:srgbClr val="FF0000"/>
                </a:solidFill>
              </a:rPr>
              <a:t>一般不能被预计</a:t>
            </a:r>
            <a:r>
              <a:rPr lang="zh-CN" altLang="en-US" dirty="0"/>
              <a:t>。</a:t>
            </a:r>
          </a:p>
        </p:txBody>
      </p:sp>
      <p:grpSp>
        <p:nvGrpSpPr>
          <p:cNvPr id="13" name="组合 12">
            <a:extLst>
              <a:ext uri="{FF2B5EF4-FFF2-40B4-BE49-F238E27FC236}">
                <a16:creationId xmlns:a16="http://schemas.microsoft.com/office/drawing/2014/main" id="{B1250ED0-747E-44D9-985B-8EDA996F872F}"/>
              </a:ext>
            </a:extLst>
          </p:cNvPr>
          <p:cNvGrpSpPr/>
          <p:nvPr/>
        </p:nvGrpSpPr>
        <p:grpSpPr>
          <a:xfrm>
            <a:off x="522830" y="3830277"/>
            <a:ext cx="7122761" cy="468298"/>
            <a:chOff x="524549" y="2881802"/>
            <a:chExt cx="7122761" cy="468298"/>
          </a:xfrm>
        </p:grpSpPr>
        <p:pic>
          <p:nvPicPr>
            <p:cNvPr id="8" name="Picture 28" descr="02_icon">
              <a:extLst>
                <a:ext uri="{FF2B5EF4-FFF2-40B4-BE49-F238E27FC236}">
                  <a16:creationId xmlns:a16="http://schemas.microsoft.com/office/drawing/2014/main" id="{ABF9DA73-EF04-4CF2-82F8-32AB6C10808D}"/>
                </a:ext>
              </a:extLst>
            </p:cNvPr>
            <p:cNvPicPr>
              <a:picLocks noChangeAspect="1" noChangeArrowheads="1"/>
            </p:cNvPicPr>
            <p:nvPr/>
          </p:nvPicPr>
          <p:blipFill>
            <a:blip r:embed="rId2" cstate="print"/>
            <a:srcRect/>
            <a:stretch>
              <a:fillRect/>
            </a:stretch>
          </p:blipFill>
          <p:spPr bwMode="auto">
            <a:xfrm>
              <a:off x="524549" y="2951391"/>
              <a:ext cx="322501" cy="398709"/>
            </a:xfrm>
            <a:prstGeom prst="rect">
              <a:avLst/>
            </a:prstGeom>
            <a:noFill/>
            <a:ln w="9525">
              <a:noFill/>
              <a:miter lim="800000"/>
              <a:headEnd/>
              <a:tailEnd/>
            </a:ln>
          </p:spPr>
        </p:pic>
        <p:sp>
          <p:nvSpPr>
            <p:cNvPr id="9" name="Text Box 33">
              <a:extLst>
                <a:ext uri="{FF2B5EF4-FFF2-40B4-BE49-F238E27FC236}">
                  <a16:creationId xmlns:a16="http://schemas.microsoft.com/office/drawing/2014/main" id="{DE5C1BE0-3BA1-436E-A946-521BFA8266A6}"/>
                </a:ext>
              </a:extLst>
            </p:cNvPr>
            <p:cNvSpPr txBox="1">
              <a:spLocks noChangeArrowheads="1"/>
            </p:cNvSpPr>
            <p:nvPr/>
          </p:nvSpPr>
          <p:spPr bwMode="black">
            <a:xfrm>
              <a:off x="847050" y="2881802"/>
              <a:ext cx="6800260" cy="461665"/>
            </a:xfrm>
            <a:prstGeom prst="rect">
              <a:avLst/>
            </a:prstGeom>
            <a:noFill/>
            <a:ln w="9525">
              <a:noFill/>
              <a:miter lim="800000"/>
              <a:headEnd/>
              <a:tailEnd/>
            </a:ln>
          </p:spPr>
          <p:txBody>
            <a:bodyPr wrap="none">
              <a:spAutoFit/>
            </a:bodyPr>
            <a:lstStyle/>
            <a:p>
              <a:pPr algn="l">
                <a:spcBef>
                  <a:spcPts val="0"/>
                </a:spcBef>
              </a:pPr>
              <a:r>
                <a:rPr lang="en-US" altLang="zh-CN" sz="2400" dirty="0">
                  <a:solidFill>
                    <a:schemeClr val="bg2">
                      <a:lumMod val="10000"/>
                    </a:schemeClr>
                  </a:solidFill>
                  <a:latin typeface="Times New Roman" pitchFamily="18" charset="0"/>
                  <a:cs typeface="Times New Roman" pitchFamily="18" charset="0"/>
                </a:rPr>
                <a:t>Example</a:t>
              </a:r>
              <a:r>
                <a:rPr lang="zh-CN" altLang="en-US" sz="2400" dirty="0">
                  <a:solidFill>
                    <a:schemeClr val="bg2">
                      <a:lumMod val="10000"/>
                    </a:schemeClr>
                  </a:solidFill>
                  <a:latin typeface="Times New Roman" pitchFamily="18" charset="0"/>
                  <a:cs typeface="Times New Roman" pitchFamily="18" charset="0"/>
                </a:rPr>
                <a:t>：启发式算法求解三维装箱问题（</a:t>
              </a:r>
              <a:r>
                <a:rPr lang="en-US" altLang="zh-CN" sz="2400" dirty="0">
                  <a:solidFill>
                    <a:schemeClr val="bg2">
                      <a:lumMod val="10000"/>
                    </a:schemeClr>
                  </a:solidFill>
                  <a:latin typeface="Times New Roman" pitchFamily="18" charset="0"/>
                  <a:cs typeface="Times New Roman" pitchFamily="18" charset="0"/>
                </a:rPr>
                <a:t>NPC</a:t>
              </a:r>
              <a:r>
                <a:rPr lang="zh-CN" altLang="en-US" sz="2400" dirty="0">
                  <a:solidFill>
                    <a:schemeClr val="bg2">
                      <a:lumMod val="10000"/>
                    </a:schemeClr>
                  </a:solidFill>
                  <a:latin typeface="Times New Roman" pitchFamily="18" charset="0"/>
                  <a:cs typeface="Times New Roman" pitchFamily="18" charset="0"/>
                </a:rPr>
                <a:t>）</a:t>
              </a:r>
              <a:endParaRPr lang="en-US" altLang="zh-CN" sz="2400" dirty="0">
                <a:solidFill>
                  <a:schemeClr val="bg2">
                    <a:lumMod val="10000"/>
                  </a:schemeClr>
                </a:solidFill>
                <a:latin typeface="Times New Roman" pitchFamily="18" charset="0"/>
                <a:cs typeface="Times New Roman" pitchFamily="18" charset="0"/>
              </a:endParaRPr>
            </a:p>
          </p:txBody>
        </p:sp>
      </p:grpSp>
      <p:grpSp>
        <p:nvGrpSpPr>
          <p:cNvPr id="12" name="组合 11">
            <a:extLst>
              <a:ext uri="{FF2B5EF4-FFF2-40B4-BE49-F238E27FC236}">
                <a16:creationId xmlns:a16="http://schemas.microsoft.com/office/drawing/2014/main" id="{9663193D-95D5-4E83-9D7B-8BBAB4821D66}"/>
              </a:ext>
            </a:extLst>
          </p:cNvPr>
          <p:cNvGrpSpPr/>
          <p:nvPr/>
        </p:nvGrpSpPr>
        <p:grpSpPr>
          <a:xfrm>
            <a:off x="522830" y="4758026"/>
            <a:ext cx="7913248" cy="830997"/>
            <a:chOff x="522830" y="3501464"/>
            <a:chExt cx="7913248" cy="830997"/>
          </a:xfrm>
        </p:grpSpPr>
        <p:pic>
          <p:nvPicPr>
            <p:cNvPr id="10" name="Picture 28" descr="02_icon">
              <a:extLst>
                <a:ext uri="{FF2B5EF4-FFF2-40B4-BE49-F238E27FC236}">
                  <a16:creationId xmlns:a16="http://schemas.microsoft.com/office/drawing/2014/main" id="{3D9BEC7D-3D38-4A70-B87D-A72264BD54A1}"/>
                </a:ext>
              </a:extLst>
            </p:cNvPr>
            <p:cNvPicPr>
              <a:picLocks noChangeAspect="1" noChangeArrowheads="1"/>
            </p:cNvPicPr>
            <p:nvPr/>
          </p:nvPicPr>
          <p:blipFill>
            <a:blip r:embed="rId2" cstate="print"/>
            <a:srcRect/>
            <a:stretch>
              <a:fillRect/>
            </a:stretch>
          </p:blipFill>
          <p:spPr bwMode="auto">
            <a:xfrm>
              <a:off x="522830" y="3571053"/>
              <a:ext cx="322501" cy="398709"/>
            </a:xfrm>
            <a:prstGeom prst="rect">
              <a:avLst/>
            </a:prstGeom>
            <a:noFill/>
            <a:ln w="9525">
              <a:noFill/>
              <a:miter lim="800000"/>
              <a:headEnd/>
              <a:tailEnd/>
            </a:ln>
          </p:spPr>
        </p:pic>
        <p:sp>
          <p:nvSpPr>
            <p:cNvPr id="11" name="Text Box 33">
              <a:extLst>
                <a:ext uri="{FF2B5EF4-FFF2-40B4-BE49-F238E27FC236}">
                  <a16:creationId xmlns:a16="http://schemas.microsoft.com/office/drawing/2014/main" id="{CB63E66D-7D33-4A83-BC78-64A0A811253A}"/>
                </a:ext>
              </a:extLst>
            </p:cNvPr>
            <p:cNvSpPr txBox="1">
              <a:spLocks noChangeArrowheads="1"/>
            </p:cNvSpPr>
            <p:nvPr/>
          </p:nvSpPr>
          <p:spPr bwMode="black">
            <a:xfrm>
              <a:off x="845332" y="3501464"/>
              <a:ext cx="7590746" cy="830997"/>
            </a:xfrm>
            <a:prstGeom prst="rect">
              <a:avLst/>
            </a:prstGeom>
            <a:noFill/>
            <a:ln w="9525">
              <a:noFill/>
              <a:miter lim="800000"/>
              <a:headEnd/>
              <a:tailEnd/>
            </a:ln>
          </p:spPr>
          <p:txBody>
            <a:bodyPr wrap="square">
              <a:spAutoFit/>
            </a:bodyPr>
            <a:lstStyle/>
            <a:p>
              <a:pPr algn="l">
                <a:spcBef>
                  <a:spcPts val="0"/>
                </a:spcBef>
              </a:pPr>
              <a:r>
                <a:rPr lang="zh-CN" altLang="en-US" sz="2400" dirty="0">
                  <a:solidFill>
                    <a:schemeClr val="bg2">
                      <a:lumMod val="10000"/>
                    </a:schemeClr>
                  </a:solidFill>
                  <a:latin typeface="Times New Roman" pitchFamily="18" charset="0"/>
                  <a:cs typeface="Times New Roman" pitchFamily="18" charset="0"/>
                </a:rPr>
                <a:t>元启发式算法：遗传算法，粒子群优化算法，模拟退火算法，免疫算法。。。</a:t>
              </a:r>
              <a:endParaRPr lang="en-US" altLang="zh-CN" sz="2400" dirty="0">
                <a:solidFill>
                  <a:schemeClr val="bg2">
                    <a:lumMod val="10000"/>
                  </a:schemeClr>
                </a:solidFill>
                <a:latin typeface="Times New Roman" pitchFamily="18" charset="0"/>
                <a:cs typeface="Times New Roman" pitchFamily="18" charset="0"/>
              </a:endParaRPr>
            </a:p>
          </p:txBody>
        </p:sp>
      </p:grpSp>
    </p:spTree>
    <p:extLst>
      <p:ext uri="{BB962C8B-B14F-4D97-AF65-F5344CB8AC3E}">
        <p14:creationId xmlns:p14="http://schemas.microsoft.com/office/powerpoint/2010/main" val="330031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2">
                    <a:lumMod val="10000"/>
                  </a:schemeClr>
                </a:solidFill>
              </a:rPr>
              <a:t>近似算法：描述</a:t>
            </a:r>
          </a:p>
        </p:txBody>
      </p:sp>
      <p:grpSp>
        <p:nvGrpSpPr>
          <p:cNvPr id="3" name="组合 2">
            <a:extLst>
              <a:ext uri="{FF2B5EF4-FFF2-40B4-BE49-F238E27FC236}">
                <a16:creationId xmlns:a16="http://schemas.microsoft.com/office/drawing/2014/main" id="{C2F1516A-6DD3-47FD-B8CF-F6BE200AD7DC}"/>
              </a:ext>
            </a:extLst>
          </p:cNvPr>
          <p:cNvGrpSpPr/>
          <p:nvPr/>
        </p:nvGrpSpPr>
        <p:grpSpPr>
          <a:xfrm>
            <a:off x="323526" y="908720"/>
            <a:ext cx="8012559" cy="3057661"/>
            <a:chOff x="323526" y="908720"/>
            <a:chExt cx="8012559" cy="3057661"/>
          </a:xfrm>
        </p:grpSpPr>
        <p:grpSp>
          <p:nvGrpSpPr>
            <p:cNvPr id="6" name="组合 16"/>
            <p:cNvGrpSpPr>
              <a:grpSpLocks/>
            </p:cNvGrpSpPr>
            <p:nvPr/>
          </p:nvGrpSpPr>
          <p:grpSpPr bwMode="auto">
            <a:xfrm>
              <a:off x="323526" y="908720"/>
              <a:ext cx="5408141" cy="504056"/>
              <a:chOff x="5082972" y="1785322"/>
              <a:chExt cx="5407123" cy="504294"/>
            </a:xfrm>
          </p:grpSpPr>
          <p:pic>
            <p:nvPicPr>
              <p:cNvPr id="7" name="Picture 28" descr="02_icon"/>
              <p:cNvPicPr>
                <a:picLocks noChangeAspect="1" noChangeArrowheads="1"/>
              </p:cNvPicPr>
              <p:nvPr/>
            </p:nvPicPr>
            <p:blipFill>
              <a:blip r:embed="rId2" cstate="print"/>
              <a:srcRect/>
              <a:stretch>
                <a:fillRect/>
              </a:stretch>
            </p:blipFill>
            <p:spPr bwMode="auto">
              <a:xfrm>
                <a:off x="5082972" y="1890719"/>
                <a:ext cx="322441" cy="398897"/>
              </a:xfrm>
              <a:prstGeom prst="rect">
                <a:avLst/>
              </a:prstGeom>
              <a:noFill/>
              <a:ln w="9525">
                <a:noFill/>
                <a:miter lim="800000"/>
                <a:headEnd/>
                <a:tailEnd/>
              </a:ln>
            </p:spPr>
          </p:pic>
          <p:sp>
            <p:nvSpPr>
              <p:cNvPr id="8" name="Text Box 33"/>
              <p:cNvSpPr txBox="1">
                <a:spLocks noChangeArrowheads="1"/>
              </p:cNvSpPr>
              <p:nvPr/>
            </p:nvSpPr>
            <p:spPr bwMode="black">
              <a:xfrm>
                <a:off x="5381966" y="1785322"/>
                <a:ext cx="5108129" cy="461883"/>
              </a:xfrm>
              <a:prstGeom prst="rect">
                <a:avLst/>
              </a:prstGeom>
              <a:noFill/>
              <a:ln w="9525">
                <a:noFill/>
                <a:miter lim="800000"/>
                <a:headEnd/>
                <a:tailEnd/>
              </a:ln>
            </p:spPr>
            <p:txBody>
              <a:bodyPr wrap="none">
                <a:spAutoFit/>
              </a:bodyPr>
              <a:lstStyle/>
              <a:p>
                <a:pPr algn="l">
                  <a:spcBef>
                    <a:spcPct val="50000"/>
                  </a:spcBef>
                </a:pPr>
                <a:r>
                  <a:rPr lang="zh-CN" altLang="en-US" sz="2400" dirty="0">
                    <a:solidFill>
                      <a:schemeClr val="bg2">
                        <a:lumMod val="10000"/>
                      </a:schemeClr>
                    </a:solidFill>
                    <a:latin typeface="Times New Roman" pitchFamily="18" charset="0"/>
                    <a:cs typeface="Times New Roman" pitchFamily="18" charset="0"/>
                  </a:rPr>
                  <a:t>近似算法难以定义，但有以下特点：</a:t>
                </a:r>
                <a:endParaRPr lang="en-US" altLang="zh-CN" sz="2400" dirty="0">
                  <a:solidFill>
                    <a:schemeClr val="bg2">
                      <a:lumMod val="10000"/>
                    </a:schemeClr>
                  </a:solidFill>
                  <a:latin typeface="Times New Roman" pitchFamily="18" charset="0"/>
                  <a:cs typeface="Times New Roman" pitchFamily="18" charset="0"/>
                </a:endParaRPr>
              </a:p>
            </p:txBody>
          </p:sp>
        </p:grpSp>
        <p:grpSp>
          <p:nvGrpSpPr>
            <p:cNvPr id="9" name="组合 42"/>
            <p:cNvGrpSpPr>
              <a:grpSpLocks/>
            </p:cNvGrpSpPr>
            <p:nvPr/>
          </p:nvGrpSpPr>
          <p:grpSpPr bwMode="auto">
            <a:xfrm>
              <a:off x="899592" y="1556792"/>
              <a:ext cx="7436493" cy="442035"/>
              <a:chOff x="428596" y="2825969"/>
              <a:chExt cx="7433008" cy="442703"/>
            </a:xfrm>
          </p:grpSpPr>
          <p:sp>
            <p:nvSpPr>
              <p:cNvPr id="10" name="TextBox 18"/>
              <p:cNvSpPr txBox="1">
                <a:spLocks noChangeArrowheads="1"/>
              </p:cNvSpPr>
              <p:nvPr/>
            </p:nvSpPr>
            <p:spPr bwMode="auto">
              <a:xfrm>
                <a:off x="628471" y="2825969"/>
                <a:ext cx="7233133" cy="442703"/>
              </a:xfrm>
              <a:prstGeom prst="rect">
                <a:avLst/>
              </a:prstGeom>
              <a:noFill/>
              <a:ln w="9525">
                <a:noFill/>
                <a:miter lim="800000"/>
                <a:headEnd/>
                <a:tailEnd/>
              </a:ln>
            </p:spPr>
            <p:txBody>
              <a:bodyPr wrap="none" lIns="36000" tIns="36000" rIns="36000" bIns="36000">
                <a:spAutoFit/>
              </a:bodyPr>
              <a:lstStyle/>
              <a:p>
                <a:pPr algn="l"/>
                <a:r>
                  <a:rPr lang="zh-CN" altLang="en-US" sz="2400" dirty="0">
                    <a:solidFill>
                      <a:schemeClr val="bg2">
                        <a:lumMod val="10000"/>
                      </a:schemeClr>
                    </a:solidFill>
                  </a:rPr>
                  <a:t>针对的是优化问题。</a:t>
                </a:r>
                <a:r>
                  <a:rPr lang="en-US" altLang="zh-CN" sz="2400" dirty="0">
                    <a:solidFill>
                      <a:schemeClr val="bg2">
                        <a:lumMod val="10000"/>
                      </a:schemeClr>
                    </a:solidFill>
                  </a:rPr>
                  <a:t>【</a:t>
                </a:r>
                <a:r>
                  <a:rPr lang="zh-CN" altLang="en-US" sz="2400" dirty="0">
                    <a:solidFill>
                      <a:schemeClr val="bg2">
                        <a:lumMod val="10000"/>
                      </a:schemeClr>
                    </a:solidFill>
                  </a:rPr>
                  <a:t>最大化</a:t>
                </a:r>
                <a:r>
                  <a:rPr lang="en-US" altLang="zh-CN" sz="2400" dirty="0">
                    <a:solidFill>
                      <a:schemeClr val="bg2">
                        <a:lumMod val="10000"/>
                      </a:schemeClr>
                    </a:solidFill>
                  </a:rPr>
                  <a:t>/</a:t>
                </a:r>
                <a:r>
                  <a:rPr lang="zh-CN" altLang="en-US" sz="2400" dirty="0">
                    <a:solidFill>
                      <a:schemeClr val="bg2">
                        <a:lumMod val="10000"/>
                      </a:schemeClr>
                    </a:solidFill>
                  </a:rPr>
                  <a:t>最小化某个目标函数</a:t>
                </a:r>
                <a:r>
                  <a:rPr lang="en-US" altLang="zh-CN" sz="2400" dirty="0">
                    <a:solidFill>
                      <a:schemeClr val="bg2">
                        <a:lumMod val="10000"/>
                      </a:schemeClr>
                    </a:solidFill>
                  </a:rPr>
                  <a:t>】</a:t>
                </a:r>
                <a:endParaRPr lang="zh-CN" altLang="zh-CN" sz="2400" dirty="0">
                  <a:solidFill>
                    <a:schemeClr val="bg2">
                      <a:lumMod val="10000"/>
                    </a:schemeClr>
                  </a:solidFill>
                </a:endParaRPr>
              </a:p>
            </p:txBody>
          </p:sp>
          <p:grpSp>
            <p:nvGrpSpPr>
              <p:cNvPr id="11" name="Group 20"/>
              <p:cNvGrpSpPr>
                <a:grpSpLocks/>
              </p:cNvGrpSpPr>
              <p:nvPr/>
            </p:nvGrpSpPr>
            <p:grpSpPr bwMode="auto">
              <a:xfrm>
                <a:off x="428596" y="2928934"/>
                <a:ext cx="128588" cy="128588"/>
                <a:chOff x="2995" y="1525"/>
                <a:chExt cx="112" cy="112"/>
              </a:xfrm>
            </p:grpSpPr>
            <p:sp>
              <p:nvSpPr>
                <p:cNvPr id="12"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13"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17" name="组合 42"/>
            <p:cNvGrpSpPr>
              <a:grpSpLocks/>
            </p:cNvGrpSpPr>
            <p:nvPr/>
          </p:nvGrpSpPr>
          <p:grpSpPr bwMode="auto">
            <a:xfrm>
              <a:off x="899590" y="2231102"/>
              <a:ext cx="3722333" cy="442035"/>
              <a:chOff x="428596" y="2825969"/>
              <a:chExt cx="3720590" cy="442703"/>
            </a:xfrm>
          </p:grpSpPr>
          <p:sp>
            <p:nvSpPr>
              <p:cNvPr id="18" name="TextBox 18"/>
              <p:cNvSpPr txBox="1">
                <a:spLocks noChangeArrowheads="1"/>
              </p:cNvSpPr>
              <p:nvPr/>
            </p:nvSpPr>
            <p:spPr bwMode="auto">
              <a:xfrm>
                <a:off x="628471" y="2825969"/>
                <a:ext cx="3520715" cy="442703"/>
              </a:xfrm>
              <a:prstGeom prst="rect">
                <a:avLst/>
              </a:prstGeom>
              <a:noFill/>
              <a:ln w="9525">
                <a:noFill/>
                <a:miter lim="800000"/>
                <a:headEnd/>
                <a:tailEnd/>
              </a:ln>
            </p:spPr>
            <p:txBody>
              <a:bodyPr wrap="none" lIns="36000" tIns="36000" rIns="36000" bIns="36000">
                <a:spAutoFit/>
              </a:bodyPr>
              <a:lstStyle/>
              <a:p>
                <a:pPr algn="l"/>
                <a:r>
                  <a:rPr lang="zh-CN" altLang="en-US" sz="2400" dirty="0">
                    <a:solidFill>
                      <a:schemeClr val="bg2">
                        <a:lumMod val="10000"/>
                      </a:schemeClr>
                    </a:solidFill>
                  </a:rPr>
                  <a:t>一般针对</a:t>
                </a:r>
                <a:r>
                  <a:rPr lang="en-US" altLang="zh-CN" sz="2400" dirty="0">
                    <a:solidFill>
                      <a:schemeClr val="bg2">
                        <a:lumMod val="10000"/>
                      </a:schemeClr>
                    </a:solidFill>
                  </a:rPr>
                  <a:t>NP-Hard</a:t>
                </a:r>
                <a:r>
                  <a:rPr lang="zh-CN" altLang="en-US" sz="2400" dirty="0">
                    <a:solidFill>
                      <a:schemeClr val="bg2">
                        <a:lumMod val="10000"/>
                      </a:schemeClr>
                    </a:solidFill>
                  </a:rPr>
                  <a:t>问题。</a:t>
                </a:r>
                <a:endParaRPr lang="zh-CN" altLang="zh-CN" sz="2400" dirty="0">
                  <a:solidFill>
                    <a:schemeClr val="bg2">
                      <a:lumMod val="10000"/>
                    </a:schemeClr>
                  </a:solidFill>
                </a:endParaRPr>
              </a:p>
            </p:txBody>
          </p:sp>
          <p:grpSp>
            <p:nvGrpSpPr>
              <p:cNvPr id="19" name="Group 20"/>
              <p:cNvGrpSpPr>
                <a:grpSpLocks/>
              </p:cNvGrpSpPr>
              <p:nvPr/>
            </p:nvGrpSpPr>
            <p:grpSpPr bwMode="auto">
              <a:xfrm>
                <a:off x="428596" y="2928934"/>
                <a:ext cx="128588" cy="128588"/>
                <a:chOff x="2995" y="1525"/>
                <a:chExt cx="112" cy="112"/>
              </a:xfrm>
            </p:grpSpPr>
            <p:sp>
              <p:nvSpPr>
                <p:cNvPr id="20"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21"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25" name="组合 42"/>
            <p:cNvGrpSpPr>
              <a:grpSpLocks/>
            </p:cNvGrpSpPr>
            <p:nvPr/>
          </p:nvGrpSpPr>
          <p:grpSpPr bwMode="auto">
            <a:xfrm>
              <a:off x="899590" y="2903650"/>
              <a:ext cx="4889320" cy="442035"/>
              <a:chOff x="428596" y="2825969"/>
              <a:chExt cx="4887029" cy="442703"/>
            </a:xfrm>
          </p:grpSpPr>
          <p:sp>
            <p:nvSpPr>
              <p:cNvPr id="26" name="TextBox 18"/>
              <p:cNvSpPr txBox="1">
                <a:spLocks noChangeArrowheads="1"/>
              </p:cNvSpPr>
              <p:nvPr/>
            </p:nvSpPr>
            <p:spPr bwMode="auto">
              <a:xfrm>
                <a:off x="628471" y="2825969"/>
                <a:ext cx="4687154" cy="442703"/>
              </a:xfrm>
              <a:prstGeom prst="rect">
                <a:avLst/>
              </a:prstGeom>
              <a:noFill/>
              <a:ln w="9525">
                <a:noFill/>
                <a:miter lim="800000"/>
                <a:headEnd/>
                <a:tailEnd/>
              </a:ln>
            </p:spPr>
            <p:txBody>
              <a:bodyPr wrap="none" lIns="36000" tIns="36000" rIns="36000" bIns="36000">
                <a:spAutoFit/>
              </a:bodyPr>
              <a:lstStyle/>
              <a:p>
                <a:pPr algn="l"/>
                <a:r>
                  <a:rPr lang="zh-CN" altLang="en-US" sz="2400" dirty="0">
                    <a:solidFill>
                      <a:schemeClr val="bg2">
                        <a:lumMod val="10000"/>
                      </a:schemeClr>
                    </a:solidFill>
                  </a:rPr>
                  <a:t>一般都要求算法是多项式时间的。</a:t>
                </a:r>
                <a:endParaRPr lang="zh-CN" altLang="zh-CN" sz="2400" dirty="0">
                  <a:solidFill>
                    <a:schemeClr val="bg2">
                      <a:lumMod val="10000"/>
                    </a:schemeClr>
                  </a:solidFill>
                </a:endParaRPr>
              </a:p>
            </p:txBody>
          </p:sp>
          <p:grpSp>
            <p:nvGrpSpPr>
              <p:cNvPr id="27" name="Group 20"/>
              <p:cNvGrpSpPr>
                <a:grpSpLocks/>
              </p:cNvGrpSpPr>
              <p:nvPr/>
            </p:nvGrpSpPr>
            <p:grpSpPr bwMode="auto">
              <a:xfrm>
                <a:off x="428596" y="2928934"/>
                <a:ext cx="128588" cy="128588"/>
                <a:chOff x="2995" y="1525"/>
                <a:chExt cx="112" cy="112"/>
              </a:xfrm>
            </p:grpSpPr>
            <p:sp>
              <p:nvSpPr>
                <p:cNvPr id="28"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29"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33" name="组合 42"/>
            <p:cNvGrpSpPr>
              <a:grpSpLocks/>
            </p:cNvGrpSpPr>
            <p:nvPr/>
          </p:nvGrpSpPr>
          <p:grpSpPr bwMode="auto">
            <a:xfrm>
              <a:off x="899590" y="3524346"/>
              <a:ext cx="6735980" cy="442035"/>
              <a:chOff x="428596" y="2825969"/>
              <a:chExt cx="6732822" cy="442703"/>
            </a:xfrm>
          </p:grpSpPr>
          <p:sp>
            <p:nvSpPr>
              <p:cNvPr id="34" name="TextBox 18"/>
              <p:cNvSpPr txBox="1">
                <a:spLocks noChangeArrowheads="1"/>
              </p:cNvSpPr>
              <p:nvPr/>
            </p:nvSpPr>
            <p:spPr bwMode="auto">
              <a:xfrm>
                <a:off x="628471" y="2825969"/>
                <a:ext cx="6532947" cy="442703"/>
              </a:xfrm>
              <a:prstGeom prst="rect">
                <a:avLst/>
              </a:prstGeom>
              <a:noFill/>
              <a:ln w="9525">
                <a:noFill/>
                <a:miter lim="800000"/>
                <a:headEnd/>
                <a:tailEnd/>
              </a:ln>
            </p:spPr>
            <p:txBody>
              <a:bodyPr wrap="none" lIns="36000" tIns="36000" rIns="36000" bIns="36000">
                <a:spAutoFit/>
              </a:bodyPr>
              <a:lstStyle/>
              <a:p>
                <a:pPr algn="l"/>
                <a:r>
                  <a:rPr lang="zh-CN" altLang="en-US" sz="2400" dirty="0">
                    <a:solidFill>
                      <a:schemeClr val="bg2">
                        <a:lumMod val="10000"/>
                      </a:schemeClr>
                    </a:solidFill>
                  </a:rPr>
                  <a:t>一般都要求能给出近似比。</a:t>
                </a:r>
                <a:r>
                  <a:rPr lang="en-US" altLang="zh-CN" sz="2400" dirty="0">
                    <a:solidFill>
                      <a:schemeClr val="bg2">
                        <a:lumMod val="10000"/>
                      </a:schemeClr>
                    </a:solidFill>
                  </a:rPr>
                  <a:t>【</a:t>
                </a:r>
                <a:r>
                  <a:rPr lang="zh-CN" altLang="en-US" sz="2400" dirty="0">
                    <a:solidFill>
                      <a:schemeClr val="bg2">
                        <a:lumMod val="10000"/>
                      </a:schemeClr>
                    </a:solidFill>
                  </a:rPr>
                  <a:t>最坏情况性能界</a:t>
                </a:r>
                <a:r>
                  <a:rPr lang="en-US" altLang="zh-CN" sz="2400" dirty="0">
                    <a:solidFill>
                      <a:schemeClr val="bg2">
                        <a:lumMod val="10000"/>
                      </a:schemeClr>
                    </a:solidFill>
                  </a:rPr>
                  <a:t>】</a:t>
                </a:r>
                <a:endParaRPr lang="zh-CN" altLang="zh-CN" sz="2400" dirty="0">
                  <a:solidFill>
                    <a:schemeClr val="bg2">
                      <a:lumMod val="10000"/>
                    </a:schemeClr>
                  </a:solidFill>
                </a:endParaRPr>
              </a:p>
            </p:txBody>
          </p:sp>
          <p:grpSp>
            <p:nvGrpSpPr>
              <p:cNvPr id="35" name="Group 20"/>
              <p:cNvGrpSpPr>
                <a:grpSpLocks/>
              </p:cNvGrpSpPr>
              <p:nvPr/>
            </p:nvGrpSpPr>
            <p:grpSpPr bwMode="auto">
              <a:xfrm>
                <a:off x="428596" y="2928934"/>
                <a:ext cx="128588" cy="128588"/>
                <a:chOff x="2995" y="1525"/>
                <a:chExt cx="112" cy="112"/>
              </a:xfrm>
            </p:grpSpPr>
            <p:sp>
              <p:nvSpPr>
                <p:cNvPr id="36"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37"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grpSp>
        <p:nvGrpSpPr>
          <p:cNvPr id="38" name="组合 62"/>
          <p:cNvGrpSpPr>
            <a:grpSpLocks/>
          </p:cNvGrpSpPr>
          <p:nvPr/>
        </p:nvGrpSpPr>
        <p:grpSpPr bwMode="auto">
          <a:xfrm>
            <a:off x="1099559" y="4198793"/>
            <a:ext cx="4952846" cy="442035"/>
            <a:chOff x="3286116" y="1336849"/>
            <a:chExt cx="4951749" cy="442240"/>
          </a:xfrm>
        </p:grpSpPr>
        <p:sp>
          <p:nvSpPr>
            <p:cNvPr id="39" name="TextBox 37"/>
            <p:cNvSpPr txBox="1">
              <a:spLocks noChangeArrowheads="1"/>
            </p:cNvSpPr>
            <p:nvPr/>
          </p:nvSpPr>
          <p:spPr bwMode="auto">
            <a:xfrm>
              <a:off x="3857261" y="1336849"/>
              <a:ext cx="4380604" cy="442240"/>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400" dirty="0">
                  <a:solidFill>
                    <a:schemeClr val="bg2">
                      <a:lumMod val="10000"/>
                    </a:schemeClr>
                  </a:solidFill>
                  <a:latin typeface="Times New Roman" pitchFamily="18" charset="0"/>
                  <a:cs typeface="Times New Roman" pitchFamily="18" charset="0"/>
                </a:rPr>
                <a:t>无法评估优劣的算法价值不大。</a:t>
              </a:r>
            </a:p>
          </p:txBody>
        </p:sp>
        <p:pic>
          <p:nvPicPr>
            <p:cNvPr id="40" name="Picture 21" descr="coquette_035"/>
            <p:cNvPicPr>
              <a:picLocks noChangeAspect="1" noChangeArrowheads="1"/>
            </p:cNvPicPr>
            <p:nvPr/>
          </p:nvPicPr>
          <p:blipFill>
            <a:blip r:embed="rId3" cstate="print"/>
            <a:srcRect/>
            <a:stretch>
              <a:fillRect/>
            </a:stretch>
          </p:blipFill>
          <p:spPr bwMode="auto">
            <a:xfrm>
              <a:off x="3286116" y="1357298"/>
              <a:ext cx="566777" cy="324000"/>
            </a:xfrm>
            <a:prstGeom prst="rect">
              <a:avLst/>
            </a:prstGeom>
            <a:noFill/>
            <a:ln w="9525">
              <a:noFill/>
              <a:miter lim="800000"/>
              <a:headEnd/>
              <a:tailEnd/>
            </a:ln>
          </p:spPr>
        </p:pic>
      </p:grpSp>
      <p:grpSp>
        <p:nvGrpSpPr>
          <p:cNvPr id="41" name="Group 116"/>
          <p:cNvGrpSpPr>
            <a:grpSpLocks/>
          </p:cNvGrpSpPr>
          <p:nvPr/>
        </p:nvGrpSpPr>
        <p:grpSpPr bwMode="auto">
          <a:xfrm>
            <a:off x="359562" y="5097793"/>
            <a:ext cx="8424876" cy="461965"/>
            <a:chOff x="1150" y="2886"/>
            <a:chExt cx="5307" cy="291"/>
          </a:xfrm>
        </p:grpSpPr>
        <p:pic>
          <p:nvPicPr>
            <p:cNvPr id="42" name="Picture 109" descr="IconTexto_WebDev_028"/>
            <p:cNvPicPr>
              <a:picLocks noChangeAspect="1" noChangeArrowheads="1"/>
            </p:cNvPicPr>
            <p:nvPr/>
          </p:nvPicPr>
          <p:blipFill>
            <a:blip r:embed="rId4" cstate="print"/>
            <a:srcRect/>
            <a:stretch>
              <a:fillRect/>
            </a:stretch>
          </p:blipFill>
          <p:spPr bwMode="auto">
            <a:xfrm>
              <a:off x="1150" y="2886"/>
              <a:ext cx="272" cy="272"/>
            </a:xfrm>
            <a:prstGeom prst="rect">
              <a:avLst/>
            </a:prstGeom>
            <a:noFill/>
          </p:spPr>
        </p:pic>
        <mc:AlternateContent xmlns:mc="http://schemas.openxmlformats.org/markup-compatibility/2006" xmlns:a14="http://schemas.microsoft.com/office/drawing/2010/main">
          <mc:Choice Requires="a14">
            <p:sp>
              <p:nvSpPr>
                <p:cNvPr id="43" name="Rectangle 110"/>
                <p:cNvSpPr>
                  <a:spLocks noChangeArrowheads="1"/>
                </p:cNvSpPr>
                <p:nvPr/>
              </p:nvSpPr>
              <p:spPr bwMode="auto">
                <a:xfrm>
                  <a:off x="1451" y="2886"/>
                  <a:ext cx="5006" cy="291"/>
                </a:xfrm>
                <a:prstGeom prst="rect">
                  <a:avLst/>
                </a:prstGeom>
                <a:noFill/>
                <a:ln w="9525" algn="ctr">
                  <a:noFill/>
                  <a:miter lim="800000"/>
                  <a:headEnd/>
                  <a:tailEnd/>
                </a:ln>
                <a:effectLst/>
              </p:spPr>
              <p:txBody>
                <a:bodyPr wrap="square">
                  <a:spAutoFit/>
                </a:bodyPr>
                <a:lstStyle/>
                <a:p>
                  <a:pPr algn="l" eaLnBrk="0" hangingPunct="0"/>
                  <a14:m>
                    <m:oMath xmlns:m="http://schemas.openxmlformats.org/officeDocument/2006/math">
                      <m:r>
                        <a:rPr lang="en-US" altLang="zh-CN" sz="2400" b="1" i="1" smtClean="0">
                          <a:solidFill>
                            <a:schemeClr val="bg2">
                              <a:lumMod val="10000"/>
                            </a:schemeClr>
                          </a:solidFill>
                          <a:latin typeface="Cambria Math" charset="0"/>
                          <a:cs typeface="Times New Roman" pitchFamily="18" charset="0"/>
                        </a:rPr>
                        <m:t>≈</m:t>
                      </m:r>
                    </m:oMath>
                  </a14:m>
                  <a:r>
                    <a:rPr lang="zh-CN" altLang="en-US" sz="2400" dirty="0">
                      <a:solidFill>
                        <a:schemeClr val="bg2">
                          <a:lumMod val="10000"/>
                        </a:schemeClr>
                      </a:solidFill>
                      <a:latin typeface="Times New Roman" pitchFamily="18" charset="0"/>
                      <a:cs typeface="Times New Roman" pitchFamily="18" charset="0"/>
                    </a:rPr>
                    <a:t>针对</a:t>
                  </a:r>
                  <a:r>
                    <a:rPr lang="en-US" altLang="zh-CN" sz="2400" dirty="0">
                      <a:solidFill>
                        <a:schemeClr val="bg2">
                          <a:lumMod val="10000"/>
                        </a:schemeClr>
                      </a:solidFill>
                      <a:latin typeface="Times New Roman" pitchFamily="18" charset="0"/>
                      <a:cs typeface="Times New Roman" pitchFamily="18" charset="0"/>
                    </a:rPr>
                    <a:t>NP-Hard</a:t>
                  </a:r>
                  <a:r>
                    <a:rPr lang="zh-CN" altLang="en-US" sz="2400" dirty="0">
                      <a:solidFill>
                        <a:schemeClr val="bg2">
                          <a:lumMod val="10000"/>
                        </a:schemeClr>
                      </a:solidFill>
                      <a:latin typeface="Times New Roman" pitchFamily="18" charset="0"/>
                      <a:cs typeface="Times New Roman" pitchFamily="18" charset="0"/>
                    </a:rPr>
                    <a:t>优化问题的具有性能界的多项式时间算法</a:t>
                  </a:r>
                </a:p>
              </p:txBody>
            </p:sp>
          </mc:Choice>
          <mc:Fallback xmlns="">
            <p:sp>
              <p:nvSpPr>
                <p:cNvPr id="43" name="Rectangle 110"/>
                <p:cNvSpPr>
                  <a:spLocks noRot="1" noChangeAspect="1" noMove="1" noResize="1" noEditPoints="1" noAdjustHandles="1" noChangeArrowheads="1" noChangeShapeType="1" noTextEdit="1"/>
                </p:cNvSpPr>
                <p:nvPr/>
              </p:nvSpPr>
              <p:spPr bwMode="auto">
                <a:xfrm>
                  <a:off x="1451" y="2886"/>
                  <a:ext cx="5006" cy="291"/>
                </a:xfrm>
                <a:prstGeom prst="rect">
                  <a:avLst/>
                </a:prstGeom>
                <a:blipFill>
                  <a:blip r:embed="rId5"/>
                  <a:stretch>
                    <a:fillRect t="-14474" b="-30263"/>
                  </a:stretch>
                </a:blipFill>
                <a:ln w="9525" algn="ctr">
                  <a:noFill/>
                  <a:miter lim="800000"/>
                  <a:headEnd/>
                  <a:tailEnd/>
                </a:ln>
                <a:effectLst/>
              </p:spPr>
              <p:txBody>
                <a:bodyPr/>
                <a:lstStyle/>
                <a:p>
                  <a:r>
                    <a:rPr lang="zh-CN" altLang="en-US">
                      <a:noFill/>
                    </a:rPr>
                    <a:t> </a:t>
                  </a:r>
                </a:p>
              </p:txBody>
            </p:sp>
          </mc:Fallback>
        </mc:AlternateContent>
        <p:sp>
          <p:nvSpPr>
            <p:cNvPr id="44" name="Rectangle 111"/>
            <p:cNvSpPr>
              <a:spLocks noChangeArrowheads="1"/>
            </p:cNvSpPr>
            <p:nvPr/>
          </p:nvSpPr>
          <p:spPr bwMode="gray">
            <a:xfrm>
              <a:off x="1428" y="2931"/>
              <a:ext cx="45" cy="227"/>
            </a:xfrm>
            <a:prstGeom prst="rect">
              <a:avLst/>
            </a:prstGeom>
            <a:solidFill>
              <a:srgbClr val="FF0000"/>
            </a:solidFill>
            <a:ln w="9525" algn="ctr">
              <a:noFill/>
              <a:miter lim="800000"/>
              <a:headEnd/>
              <a:tailEnd/>
            </a:ln>
            <a:effectLst/>
          </p:spPr>
          <p:txBody>
            <a:bodyPr wrap="none" anchor="ctr"/>
            <a:lstStyle/>
            <a:p>
              <a:endParaRPr lang="zh-CN" altLang="en-US" sz="2000">
                <a:solidFill>
                  <a:schemeClr val="bg2">
                    <a:lumMod val="10000"/>
                  </a:schemeClr>
                </a:solidFill>
              </a:endParaRPr>
            </a:p>
          </p:txBody>
        </p:sp>
      </p:grpSp>
    </p:spTree>
    <p:extLst>
      <p:ext uri="{BB962C8B-B14F-4D97-AF65-F5344CB8AC3E}">
        <p14:creationId xmlns:p14="http://schemas.microsoft.com/office/powerpoint/2010/main" val="1226000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bg2">
                    <a:lumMod val="10000"/>
                  </a:schemeClr>
                </a:solidFill>
              </a:rPr>
              <a:t>近似比</a:t>
            </a:r>
          </a:p>
        </p:txBody>
      </p:sp>
      <p:grpSp>
        <p:nvGrpSpPr>
          <p:cNvPr id="6" name="组合 16"/>
          <p:cNvGrpSpPr>
            <a:grpSpLocks/>
          </p:cNvGrpSpPr>
          <p:nvPr/>
        </p:nvGrpSpPr>
        <p:grpSpPr bwMode="auto">
          <a:xfrm>
            <a:off x="354320" y="980728"/>
            <a:ext cx="6061461" cy="504056"/>
            <a:chOff x="5082972" y="1785322"/>
            <a:chExt cx="6060325" cy="504294"/>
          </a:xfrm>
        </p:grpSpPr>
        <p:pic>
          <p:nvPicPr>
            <p:cNvPr id="7" name="Picture 28" descr="02_icon"/>
            <p:cNvPicPr>
              <a:picLocks noChangeAspect="1" noChangeArrowheads="1"/>
            </p:cNvPicPr>
            <p:nvPr/>
          </p:nvPicPr>
          <p:blipFill>
            <a:blip r:embed="rId2" cstate="print"/>
            <a:srcRect/>
            <a:stretch>
              <a:fillRect/>
            </a:stretch>
          </p:blipFill>
          <p:spPr bwMode="auto">
            <a:xfrm>
              <a:off x="5082972" y="1890719"/>
              <a:ext cx="322441" cy="398897"/>
            </a:xfrm>
            <a:prstGeom prst="rect">
              <a:avLst/>
            </a:prstGeom>
            <a:noFill/>
            <a:ln w="9525">
              <a:noFill/>
              <a:miter lim="800000"/>
              <a:headEnd/>
              <a:tailEnd/>
            </a:ln>
          </p:spPr>
        </p:pic>
        <p:sp>
          <p:nvSpPr>
            <p:cNvPr id="8" name="Text Box 33"/>
            <p:cNvSpPr txBox="1">
              <a:spLocks noChangeArrowheads="1"/>
            </p:cNvSpPr>
            <p:nvPr/>
          </p:nvSpPr>
          <p:spPr bwMode="black">
            <a:xfrm>
              <a:off x="5381966" y="1785322"/>
              <a:ext cx="5761331" cy="461883"/>
            </a:xfrm>
            <a:prstGeom prst="rect">
              <a:avLst/>
            </a:prstGeom>
            <a:noFill/>
            <a:ln w="9525">
              <a:noFill/>
              <a:miter lim="800000"/>
              <a:headEnd/>
              <a:tailEnd/>
            </a:ln>
          </p:spPr>
          <p:txBody>
            <a:bodyPr wrap="none">
              <a:spAutoFit/>
            </a:bodyPr>
            <a:lstStyle/>
            <a:p>
              <a:pPr algn="l">
                <a:spcBef>
                  <a:spcPct val="50000"/>
                </a:spcBef>
              </a:pPr>
              <a:r>
                <a:rPr lang="zh-CN" altLang="en-US" sz="2400" dirty="0">
                  <a:solidFill>
                    <a:schemeClr val="bg2">
                      <a:lumMod val="10000"/>
                    </a:schemeClr>
                  </a:solidFill>
                  <a:latin typeface="Times New Roman" pitchFamily="18" charset="0"/>
                  <a:cs typeface="Times New Roman" pitchFamily="18" charset="0"/>
                </a:rPr>
                <a:t>近似比</a:t>
              </a:r>
              <a:r>
                <a:rPr lang="en-US" altLang="zh-CN" sz="2400" dirty="0">
                  <a:solidFill>
                    <a:schemeClr val="bg2">
                      <a:lumMod val="10000"/>
                    </a:schemeClr>
                  </a:solidFill>
                  <a:latin typeface="Times New Roman" pitchFamily="18" charset="0"/>
                  <a:cs typeface="Times New Roman" pitchFamily="18" charset="0"/>
                </a:rPr>
                <a:t>【Approximation</a:t>
              </a:r>
              <a:r>
                <a:rPr lang="zh-CN" altLang="en-US" sz="2400" dirty="0">
                  <a:solidFill>
                    <a:schemeClr val="bg2">
                      <a:lumMod val="10000"/>
                    </a:schemeClr>
                  </a:solidFill>
                  <a:latin typeface="Times New Roman" pitchFamily="18" charset="0"/>
                  <a:cs typeface="Times New Roman" pitchFamily="18" charset="0"/>
                </a:rPr>
                <a:t> </a:t>
              </a:r>
              <a:r>
                <a:rPr lang="en-US" altLang="zh-CN" sz="2400" dirty="0">
                  <a:solidFill>
                    <a:schemeClr val="bg2">
                      <a:lumMod val="10000"/>
                    </a:schemeClr>
                  </a:solidFill>
                  <a:latin typeface="Times New Roman" pitchFamily="18" charset="0"/>
                  <a:cs typeface="Times New Roman" pitchFamily="18" charset="0"/>
                </a:rPr>
                <a:t>Ratio】</a:t>
              </a:r>
              <a:r>
                <a:rPr lang="zh-CN" altLang="en-US" sz="2400" dirty="0">
                  <a:solidFill>
                    <a:schemeClr val="bg2">
                      <a:lumMod val="10000"/>
                    </a:schemeClr>
                  </a:solidFill>
                  <a:latin typeface="Times New Roman" pitchFamily="18" charset="0"/>
                  <a:cs typeface="Times New Roman" pitchFamily="18" charset="0"/>
                </a:rPr>
                <a:t>的定义：</a:t>
              </a:r>
              <a:endParaRPr lang="en-US" altLang="zh-CN" sz="2400" dirty="0">
                <a:solidFill>
                  <a:schemeClr val="bg2">
                    <a:lumMod val="10000"/>
                  </a:schemeClr>
                </a:solidFill>
                <a:latin typeface="Times New Roman" pitchFamily="18" charset="0"/>
                <a:cs typeface="Times New Roman" pitchFamily="18" charset="0"/>
              </a:endParaRPr>
            </a:p>
          </p:txBody>
        </p:sp>
      </p:grpSp>
      <p:grpSp>
        <p:nvGrpSpPr>
          <p:cNvPr id="9" name="组合 42"/>
          <p:cNvGrpSpPr>
            <a:grpSpLocks/>
          </p:cNvGrpSpPr>
          <p:nvPr/>
        </p:nvGrpSpPr>
        <p:grpSpPr bwMode="auto">
          <a:xfrm>
            <a:off x="683568" y="1599806"/>
            <a:ext cx="7156992" cy="407988"/>
            <a:chOff x="428596" y="2825969"/>
            <a:chExt cx="7153664" cy="408605"/>
          </a:xfrm>
        </p:grpSpPr>
        <mc:AlternateContent xmlns:mc="http://schemas.openxmlformats.org/markup-compatibility/2006" xmlns:a14="http://schemas.microsoft.com/office/drawing/2010/main">
          <mc:Choice Requires="a14">
            <p:sp>
              <p:nvSpPr>
                <p:cNvPr id="10" name="TextBox 18"/>
                <p:cNvSpPr txBox="1">
                  <a:spLocks noChangeArrowheads="1"/>
                </p:cNvSpPr>
                <p:nvPr/>
              </p:nvSpPr>
              <p:spPr bwMode="auto">
                <a:xfrm>
                  <a:off x="628471" y="2825969"/>
                  <a:ext cx="6953789" cy="40860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bg2">
                          <a:lumMod val="10000"/>
                        </a:schemeClr>
                      </a:solidFill>
                    </a:rPr>
                    <a:t>令</a:t>
                  </a:r>
                  <a14:m>
                    <m:oMath xmlns:m="http://schemas.openxmlformats.org/officeDocument/2006/math">
                      <m:sSub>
                        <m:sSubPr>
                          <m:ctrlPr>
                            <a:rPr lang="en-US" altLang="zh-CN" sz="2000" b="1" i="1" smtClean="0">
                              <a:solidFill>
                                <a:schemeClr val="bg2">
                                  <a:lumMod val="10000"/>
                                </a:schemeClr>
                              </a:solidFill>
                              <a:latin typeface="Cambria Math" panose="02040503050406030204" pitchFamily="18" charset="0"/>
                            </a:rPr>
                          </m:ctrlPr>
                        </m:sSubPr>
                        <m:e>
                          <m:r>
                            <a:rPr lang="en-US" altLang="zh-CN" sz="2000" b="1" i="1" smtClean="0">
                              <a:solidFill>
                                <a:schemeClr val="bg2">
                                  <a:lumMod val="10000"/>
                                </a:schemeClr>
                              </a:solidFill>
                              <a:latin typeface="Cambria Math" charset="0"/>
                            </a:rPr>
                            <m:t>𝑪</m:t>
                          </m:r>
                        </m:e>
                        <m:sub>
                          <m:r>
                            <a:rPr lang="en-US" altLang="zh-CN" sz="2000" b="1" i="1" smtClean="0">
                              <a:solidFill>
                                <a:schemeClr val="bg2">
                                  <a:lumMod val="10000"/>
                                </a:schemeClr>
                              </a:solidFill>
                              <a:latin typeface="Cambria Math" charset="0"/>
                            </a:rPr>
                            <m:t>𝒐𝒑𝒕</m:t>
                          </m:r>
                        </m:sub>
                      </m:sSub>
                    </m:oMath>
                  </a14:m>
                  <a:r>
                    <a:rPr lang="zh-CN" altLang="en-US" sz="2000" dirty="0">
                      <a:solidFill>
                        <a:schemeClr val="bg2">
                          <a:lumMod val="10000"/>
                        </a:schemeClr>
                      </a:solidFill>
                    </a:rPr>
                    <a:t>表示优化问题的最佳目标函数值；</a:t>
                  </a:r>
                  <a:r>
                    <a:rPr lang="en-US" altLang="zh-CN" sz="2000" dirty="0">
                      <a:solidFill>
                        <a:schemeClr val="bg2">
                          <a:lumMod val="10000"/>
                        </a:schemeClr>
                      </a:solidFill>
                    </a:rPr>
                    <a:t>【</a:t>
                  </a:r>
                  <a:r>
                    <a:rPr lang="zh-CN" altLang="en-US" sz="2000" dirty="0">
                      <a:solidFill>
                        <a:schemeClr val="bg2">
                          <a:lumMod val="10000"/>
                        </a:schemeClr>
                      </a:solidFill>
                    </a:rPr>
                    <a:t>最佳算法的结果</a:t>
                  </a:r>
                  <a:r>
                    <a:rPr lang="en-US" altLang="zh-CN" sz="2000" dirty="0">
                      <a:solidFill>
                        <a:schemeClr val="bg2">
                          <a:lumMod val="10000"/>
                        </a:schemeClr>
                      </a:solidFill>
                    </a:rPr>
                    <a:t>】</a:t>
                  </a:r>
                  <a:endParaRPr lang="zh-CN" altLang="zh-CN" sz="2000" dirty="0">
                    <a:solidFill>
                      <a:schemeClr val="bg2">
                        <a:lumMod val="10000"/>
                      </a:schemeClr>
                    </a:solidFill>
                  </a:endParaRPr>
                </a:p>
              </p:txBody>
            </p:sp>
          </mc:Choice>
          <mc:Fallback xmlns="">
            <p:sp>
              <p:nvSpPr>
                <p:cNvPr id="10" name="TextBox 18"/>
                <p:cNvSpPr txBox="1">
                  <a:spLocks noRot="1" noChangeAspect="1" noMove="1" noResize="1" noEditPoints="1" noAdjustHandles="1" noChangeArrowheads="1" noChangeShapeType="1" noTextEdit="1"/>
                </p:cNvSpPr>
                <p:nvPr/>
              </p:nvSpPr>
              <p:spPr bwMode="auto">
                <a:xfrm>
                  <a:off x="628471" y="2825969"/>
                  <a:ext cx="6953789" cy="408605"/>
                </a:xfrm>
                <a:prstGeom prst="rect">
                  <a:avLst/>
                </a:prstGeom>
                <a:blipFill rotWithShape="0">
                  <a:blip r:embed="rId3"/>
                  <a:stretch>
                    <a:fillRect l="-1753" t="-14925" r="-1052" b="-17910"/>
                  </a:stretch>
                </a:blipFill>
                <a:ln w="9525">
                  <a:noFill/>
                  <a:miter lim="800000"/>
                  <a:headEnd/>
                  <a:tailEnd/>
                </a:ln>
              </p:spPr>
              <p:txBody>
                <a:bodyPr/>
                <a:lstStyle/>
                <a:p>
                  <a:r>
                    <a:rPr lang="zh-CN" altLang="en-US">
                      <a:noFill/>
                    </a:rPr>
                    <a:t> </a:t>
                  </a:r>
                </a:p>
              </p:txBody>
            </p:sp>
          </mc:Fallback>
        </mc:AlternateContent>
        <p:grpSp>
          <p:nvGrpSpPr>
            <p:cNvPr id="11" name="Group 20"/>
            <p:cNvGrpSpPr>
              <a:grpSpLocks/>
            </p:cNvGrpSpPr>
            <p:nvPr/>
          </p:nvGrpSpPr>
          <p:grpSpPr bwMode="auto">
            <a:xfrm>
              <a:off x="428596" y="2928934"/>
              <a:ext cx="128588" cy="128588"/>
              <a:chOff x="2995" y="1525"/>
              <a:chExt cx="112" cy="112"/>
            </a:xfrm>
          </p:grpSpPr>
          <p:sp>
            <p:nvSpPr>
              <p:cNvPr id="12"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13"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14" name="组合 42"/>
          <p:cNvGrpSpPr>
            <a:grpSpLocks/>
          </p:cNvGrpSpPr>
          <p:nvPr/>
        </p:nvGrpSpPr>
        <p:grpSpPr bwMode="auto">
          <a:xfrm>
            <a:off x="683568" y="2122816"/>
            <a:ext cx="4722607" cy="380480"/>
            <a:chOff x="428596" y="2825969"/>
            <a:chExt cx="4720412" cy="381055"/>
          </a:xfrm>
        </p:grpSpPr>
        <mc:AlternateContent xmlns:mc="http://schemas.openxmlformats.org/markup-compatibility/2006" xmlns:a14="http://schemas.microsoft.com/office/drawing/2010/main">
          <mc:Choice Requires="a14">
            <p:sp>
              <p:nvSpPr>
                <p:cNvPr id="15" name="TextBox 18"/>
                <p:cNvSpPr txBox="1">
                  <a:spLocks noChangeArrowheads="1"/>
                </p:cNvSpPr>
                <p:nvPr/>
              </p:nvSpPr>
              <p:spPr bwMode="auto">
                <a:xfrm>
                  <a:off x="628471" y="2825969"/>
                  <a:ext cx="4520537"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bg2">
                          <a:lumMod val="10000"/>
                        </a:schemeClr>
                      </a:solidFill>
                    </a:rPr>
                    <a:t>令</a:t>
                  </a:r>
                  <a14:m>
                    <m:oMath xmlns:m="http://schemas.openxmlformats.org/officeDocument/2006/math">
                      <m:r>
                        <a:rPr lang="en-US" altLang="zh-CN" sz="2000" b="1" i="1" smtClean="0">
                          <a:solidFill>
                            <a:schemeClr val="bg2">
                              <a:lumMod val="10000"/>
                            </a:schemeClr>
                          </a:solidFill>
                          <a:latin typeface="Cambria Math" charset="0"/>
                        </a:rPr>
                        <m:t>𝑪</m:t>
                      </m:r>
                    </m:oMath>
                  </a14:m>
                  <a:r>
                    <a:rPr lang="zh-CN" altLang="en-US" sz="2000" dirty="0">
                      <a:solidFill>
                        <a:schemeClr val="bg2">
                          <a:lumMod val="10000"/>
                        </a:schemeClr>
                      </a:solidFill>
                    </a:rPr>
                    <a:t>表示近似算法</a:t>
                  </a:r>
                  <a:r>
                    <a:rPr lang="en-US" altLang="zh-CN" sz="2000" dirty="0">
                      <a:solidFill>
                        <a:schemeClr val="bg2">
                          <a:lumMod val="10000"/>
                        </a:schemeClr>
                      </a:solidFill>
                    </a:rPr>
                    <a:t>A</a:t>
                  </a:r>
                  <a:r>
                    <a:rPr lang="zh-CN" altLang="en-US" sz="2000" dirty="0">
                      <a:solidFill>
                        <a:schemeClr val="bg2">
                          <a:lumMod val="10000"/>
                        </a:schemeClr>
                      </a:solidFill>
                    </a:rPr>
                    <a:t>得到的目标函数值；</a:t>
                  </a:r>
                  <a:endParaRPr lang="zh-CN" altLang="zh-CN" sz="2000" dirty="0">
                    <a:solidFill>
                      <a:schemeClr val="bg2">
                        <a:lumMod val="10000"/>
                      </a:schemeClr>
                    </a:solidFill>
                  </a:endParaRPr>
                </a:p>
              </p:txBody>
            </p:sp>
          </mc:Choice>
          <mc:Fallback xmlns="">
            <p:sp>
              <p:nvSpPr>
                <p:cNvPr id="15" name="TextBox 18"/>
                <p:cNvSpPr txBox="1">
                  <a:spLocks noRot="1" noChangeAspect="1" noMove="1" noResize="1" noEditPoints="1" noAdjustHandles="1" noChangeArrowheads="1" noChangeShapeType="1" noTextEdit="1"/>
                </p:cNvSpPr>
                <p:nvPr/>
              </p:nvSpPr>
              <p:spPr bwMode="auto">
                <a:xfrm>
                  <a:off x="628471" y="2825969"/>
                  <a:ext cx="4520537" cy="381055"/>
                </a:xfrm>
                <a:prstGeom prst="rect">
                  <a:avLst/>
                </a:prstGeom>
                <a:blipFill rotWithShape="0">
                  <a:blip r:embed="rId4"/>
                  <a:stretch>
                    <a:fillRect l="-2695" t="-14286" r="-2022" b="-31746"/>
                  </a:stretch>
                </a:blipFill>
                <a:ln w="9525">
                  <a:noFill/>
                  <a:miter lim="800000"/>
                  <a:headEnd/>
                  <a:tailEnd/>
                </a:ln>
              </p:spPr>
              <p:txBody>
                <a:bodyPr/>
                <a:lstStyle/>
                <a:p>
                  <a:r>
                    <a:rPr lang="zh-CN" altLang="en-US">
                      <a:noFill/>
                    </a:rPr>
                    <a:t> </a:t>
                  </a:r>
                </a:p>
              </p:txBody>
            </p:sp>
          </mc:Fallback>
        </mc:AlternateContent>
        <p:grpSp>
          <p:nvGrpSpPr>
            <p:cNvPr id="16" name="Group 20"/>
            <p:cNvGrpSpPr>
              <a:grpSpLocks/>
            </p:cNvGrpSpPr>
            <p:nvPr/>
          </p:nvGrpSpPr>
          <p:grpSpPr bwMode="auto">
            <a:xfrm>
              <a:off x="428596" y="2928934"/>
              <a:ext cx="128588" cy="128588"/>
              <a:chOff x="2995" y="1525"/>
              <a:chExt cx="112" cy="112"/>
            </a:xfrm>
          </p:grpSpPr>
          <p:sp>
            <p:nvSpPr>
              <p:cNvPr id="17"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18"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19" name="组合 42"/>
          <p:cNvGrpSpPr>
            <a:grpSpLocks/>
          </p:cNvGrpSpPr>
          <p:nvPr/>
        </p:nvGrpSpPr>
        <p:grpSpPr bwMode="auto">
          <a:xfrm>
            <a:off x="683568" y="2618318"/>
            <a:ext cx="3773630" cy="380480"/>
            <a:chOff x="428596" y="2825969"/>
            <a:chExt cx="3771877" cy="381055"/>
          </a:xfrm>
        </p:grpSpPr>
        <mc:AlternateContent xmlns:mc="http://schemas.openxmlformats.org/markup-compatibility/2006" xmlns:a14="http://schemas.microsoft.com/office/drawing/2010/main">
          <mc:Choice Requires="a14">
            <p:sp>
              <p:nvSpPr>
                <p:cNvPr id="20" name="TextBox 18"/>
                <p:cNvSpPr txBox="1">
                  <a:spLocks noChangeArrowheads="1"/>
                </p:cNvSpPr>
                <p:nvPr/>
              </p:nvSpPr>
              <p:spPr bwMode="auto">
                <a:xfrm>
                  <a:off x="628471" y="2825969"/>
                  <a:ext cx="3572002"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bg2">
                          <a:lumMod val="10000"/>
                        </a:schemeClr>
                      </a:solidFill>
                    </a:rPr>
                    <a:t>令</a:t>
                  </a:r>
                  <a14:m>
                    <m:oMath xmlns:m="http://schemas.openxmlformats.org/officeDocument/2006/math">
                      <m:r>
                        <a:rPr lang="en-US" altLang="zh-CN" sz="2000" b="1" i="1" smtClean="0">
                          <a:solidFill>
                            <a:schemeClr val="bg2">
                              <a:lumMod val="10000"/>
                            </a:schemeClr>
                          </a:solidFill>
                          <a:latin typeface="Cambria Math" charset="0"/>
                        </a:rPr>
                        <m:t>𝒏</m:t>
                      </m:r>
                    </m:oMath>
                  </a14:m>
                  <a:r>
                    <a:rPr lang="zh-CN" altLang="en-US" sz="2000" dirty="0">
                      <a:solidFill>
                        <a:schemeClr val="bg2">
                          <a:lumMod val="10000"/>
                        </a:schemeClr>
                      </a:solidFill>
                    </a:rPr>
                    <a:t>表示问题输入实例的规模；</a:t>
                  </a:r>
                  <a:endParaRPr lang="zh-CN" altLang="zh-CN" sz="2000" dirty="0">
                    <a:solidFill>
                      <a:schemeClr val="bg2">
                        <a:lumMod val="10000"/>
                      </a:schemeClr>
                    </a:solidFill>
                  </a:endParaRPr>
                </a:p>
              </p:txBody>
            </p:sp>
          </mc:Choice>
          <mc:Fallback xmlns="">
            <p:sp>
              <p:nvSpPr>
                <p:cNvPr id="20" name="TextBox 18"/>
                <p:cNvSpPr txBox="1">
                  <a:spLocks noRot="1" noChangeAspect="1" noMove="1" noResize="1" noEditPoints="1" noAdjustHandles="1" noChangeArrowheads="1" noChangeShapeType="1" noTextEdit="1"/>
                </p:cNvSpPr>
                <p:nvPr/>
              </p:nvSpPr>
              <p:spPr bwMode="auto">
                <a:xfrm>
                  <a:off x="628471" y="2825969"/>
                  <a:ext cx="3572002" cy="381055"/>
                </a:xfrm>
                <a:prstGeom prst="rect">
                  <a:avLst/>
                </a:prstGeom>
                <a:blipFill rotWithShape="0">
                  <a:blip r:embed="rId5"/>
                  <a:stretch>
                    <a:fillRect l="-3413" t="-16129" r="-2901" b="-27419"/>
                  </a:stretch>
                </a:blipFill>
                <a:ln w="9525">
                  <a:noFill/>
                  <a:miter lim="800000"/>
                  <a:headEnd/>
                  <a:tailEnd/>
                </a:ln>
              </p:spPr>
              <p:txBody>
                <a:bodyPr/>
                <a:lstStyle/>
                <a:p>
                  <a:r>
                    <a:rPr lang="zh-CN" altLang="en-US">
                      <a:noFill/>
                    </a:rPr>
                    <a:t> </a:t>
                  </a:r>
                </a:p>
              </p:txBody>
            </p:sp>
          </mc:Fallback>
        </mc:AlternateContent>
        <p:grpSp>
          <p:nvGrpSpPr>
            <p:cNvPr id="21" name="Group 20"/>
            <p:cNvGrpSpPr>
              <a:grpSpLocks/>
            </p:cNvGrpSpPr>
            <p:nvPr/>
          </p:nvGrpSpPr>
          <p:grpSpPr bwMode="auto">
            <a:xfrm>
              <a:off x="428596" y="2928934"/>
              <a:ext cx="128588" cy="128588"/>
              <a:chOff x="2995" y="1525"/>
              <a:chExt cx="112" cy="112"/>
            </a:xfrm>
          </p:grpSpPr>
          <p:sp>
            <p:nvSpPr>
              <p:cNvPr id="22"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23"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24" name="组合 42"/>
          <p:cNvGrpSpPr>
            <a:grpSpLocks/>
          </p:cNvGrpSpPr>
          <p:nvPr/>
        </p:nvGrpSpPr>
        <p:grpSpPr bwMode="auto">
          <a:xfrm>
            <a:off x="683568" y="2996952"/>
            <a:ext cx="7929510" cy="944224"/>
            <a:chOff x="428596" y="2708924"/>
            <a:chExt cx="7925831" cy="945651"/>
          </a:xfrm>
        </p:grpSpPr>
        <mc:AlternateContent xmlns:mc="http://schemas.openxmlformats.org/markup-compatibility/2006" xmlns:a14="http://schemas.microsoft.com/office/drawing/2010/main">
          <mc:Choice Requires="a14">
            <p:sp>
              <p:nvSpPr>
                <p:cNvPr id="25" name="TextBox 18"/>
                <p:cNvSpPr txBox="1">
                  <a:spLocks noChangeArrowheads="1"/>
                </p:cNvSpPr>
                <p:nvPr/>
              </p:nvSpPr>
              <p:spPr bwMode="auto">
                <a:xfrm>
                  <a:off x="628471" y="2708924"/>
                  <a:ext cx="7725956" cy="945651"/>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bg2">
                          <a:lumMod val="10000"/>
                        </a:schemeClr>
                      </a:solidFill>
                    </a:rPr>
                    <a:t>若对该问题的任何实例，算法</a:t>
                  </a:r>
                  <a:r>
                    <a:rPr lang="en-US" altLang="zh-CN" sz="2000" dirty="0">
                      <a:solidFill>
                        <a:schemeClr val="bg2">
                          <a:lumMod val="10000"/>
                        </a:schemeClr>
                      </a:solidFill>
                    </a:rPr>
                    <a:t>A</a:t>
                  </a:r>
                  <a:r>
                    <a:rPr lang="zh-CN" altLang="en-US" sz="2000" dirty="0">
                      <a:solidFill>
                        <a:schemeClr val="bg2">
                          <a:lumMod val="10000"/>
                        </a:schemeClr>
                      </a:solidFill>
                    </a:rPr>
                    <a:t>都能保证：</a:t>
                  </a:r>
                  <a14:m>
                    <m:oMath xmlns:m="http://schemas.openxmlformats.org/officeDocument/2006/math">
                      <m:r>
                        <a:rPr lang="en-US" altLang="zh-CN" sz="2000" b="1" i="0" smtClean="0">
                          <a:solidFill>
                            <a:schemeClr val="bg2">
                              <a:lumMod val="10000"/>
                            </a:schemeClr>
                          </a:solidFill>
                          <a:latin typeface="Cambria Math" charset="0"/>
                        </a:rPr>
                        <m:t>𝐦𝐚𝐱</m:t>
                      </m:r>
                      <m:d>
                        <m:dPr>
                          <m:ctrlPr>
                            <a:rPr lang="en-US" altLang="zh-CN" sz="2000" b="1" i="1" smtClean="0">
                              <a:solidFill>
                                <a:schemeClr val="bg2">
                                  <a:lumMod val="10000"/>
                                </a:schemeClr>
                              </a:solidFill>
                              <a:latin typeface="Cambria Math" panose="02040503050406030204" pitchFamily="18" charset="0"/>
                            </a:rPr>
                          </m:ctrlPr>
                        </m:dPr>
                        <m:e>
                          <m:f>
                            <m:fPr>
                              <m:ctrlPr>
                                <a:rPr lang="mr-IN" altLang="zh-CN" sz="2000" b="1" i="1" smtClean="0">
                                  <a:solidFill>
                                    <a:schemeClr val="bg2">
                                      <a:lumMod val="10000"/>
                                    </a:schemeClr>
                                  </a:solidFill>
                                  <a:latin typeface="Cambria Math" panose="02040503050406030204" pitchFamily="18" charset="0"/>
                                </a:rPr>
                              </m:ctrlPr>
                            </m:fPr>
                            <m:num>
                              <m:r>
                                <a:rPr lang="en-US" altLang="zh-CN" sz="2000" b="1" i="1" smtClean="0">
                                  <a:solidFill>
                                    <a:schemeClr val="bg2">
                                      <a:lumMod val="10000"/>
                                    </a:schemeClr>
                                  </a:solidFill>
                                  <a:latin typeface="Cambria Math" charset="0"/>
                                </a:rPr>
                                <m:t>𝑪</m:t>
                              </m:r>
                            </m:num>
                            <m:den>
                              <m:sSub>
                                <m:sSubPr>
                                  <m:ctrlPr>
                                    <a:rPr lang="en-US" altLang="zh-CN" sz="2000" b="1" i="1" smtClean="0">
                                      <a:solidFill>
                                        <a:schemeClr val="bg2">
                                          <a:lumMod val="10000"/>
                                        </a:schemeClr>
                                      </a:solidFill>
                                      <a:latin typeface="Cambria Math" panose="02040503050406030204" pitchFamily="18" charset="0"/>
                                    </a:rPr>
                                  </m:ctrlPr>
                                </m:sSubPr>
                                <m:e>
                                  <m:r>
                                    <a:rPr lang="en-US" altLang="zh-CN" sz="2000" b="1" i="1" smtClean="0">
                                      <a:solidFill>
                                        <a:schemeClr val="bg2">
                                          <a:lumMod val="10000"/>
                                        </a:schemeClr>
                                      </a:solidFill>
                                      <a:latin typeface="Cambria Math" charset="0"/>
                                    </a:rPr>
                                    <m:t>𝑪</m:t>
                                  </m:r>
                                </m:e>
                                <m:sub>
                                  <m:r>
                                    <a:rPr lang="en-US" altLang="zh-CN" sz="2000" b="1" i="1" smtClean="0">
                                      <a:solidFill>
                                        <a:schemeClr val="bg2">
                                          <a:lumMod val="10000"/>
                                        </a:schemeClr>
                                      </a:solidFill>
                                      <a:latin typeface="Cambria Math" charset="0"/>
                                    </a:rPr>
                                    <m:t>𝒐𝒑𝒕</m:t>
                                  </m:r>
                                </m:sub>
                              </m:sSub>
                            </m:den>
                          </m:f>
                          <m:r>
                            <a:rPr lang="en-US" altLang="zh-CN" sz="2000" b="1" i="1" smtClean="0">
                              <a:solidFill>
                                <a:schemeClr val="bg2">
                                  <a:lumMod val="10000"/>
                                </a:schemeClr>
                              </a:solidFill>
                              <a:latin typeface="Cambria Math" charset="0"/>
                            </a:rPr>
                            <m:t>,</m:t>
                          </m:r>
                          <m:f>
                            <m:fPr>
                              <m:ctrlPr>
                                <a:rPr lang="mr-IN" altLang="zh-CN" sz="2000" b="1" i="1" smtClean="0">
                                  <a:solidFill>
                                    <a:schemeClr val="bg2">
                                      <a:lumMod val="10000"/>
                                    </a:schemeClr>
                                  </a:solidFill>
                                  <a:latin typeface="Cambria Math" panose="02040503050406030204" pitchFamily="18" charset="0"/>
                                </a:rPr>
                              </m:ctrlPr>
                            </m:fPr>
                            <m:num>
                              <m:sSub>
                                <m:sSubPr>
                                  <m:ctrlPr>
                                    <a:rPr lang="en-US" altLang="zh-CN" sz="2000" b="1" i="1" smtClean="0">
                                      <a:solidFill>
                                        <a:schemeClr val="bg2">
                                          <a:lumMod val="10000"/>
                                        </a:schemeClr>
                                      </a:solidFill>
                                      <a:latin typeface="Cambria Math" panose="02040503050406030204" pitchFamily="18" charset="0"/>
                                    </a:rPr>
                                  </m:ctrlPr>
                                </m:sSubPr>
                                <m:e>
                                  <m:r>
                                    <a:rPr lang="en-US" altLang="zh-CN" sz="2000" b="1" i="1" smtClean="0">
                                      <a:solidFill>
                                        <a:schemeClr val="bg2">
                                          <a:lumMod val="10000"/>
                                        </a:schemeClr>
                                      </a:solidFill>
                                      <a:latin typeface="Cambria Math" charset="0"/>
                                    </a:rPr>
                                    <m:t>𝑪</m:t>
                                  </m:r>
                                </m:e>
                                <m:sub>
                                  <m:r>
                                    <a:rPr lang="en-US" altLang="zh-CN" sz="2000" b="1" i="1" smtClean="0">
                                      <a:solidFill>
                                        <a:schemeClr val="bg2">
                                          <a:lumMod val="10000"/>
                                        </a:schemeClr>
                                      </a:solidFill>
                                      <a:latin typeface="Cambria Math" charset="0"/>
                                    </a:rPr>
                                    <m:t>𝒐𝒑𝒕</m:t>
                                  </m:r>
                                </m:sub>
                              </m:sSub>
                            </m:num>
                            <m:den>
                              <m:r>
                                <a:rPr lang="en-US" altLang="zh-CN" sz="2000" b="1" i="1" smtClean="0">
                                  <a:solidFill>
                                    <a:schemeClr val="bg2">
                                      <a:lumMod val="10000"/>
                                    </a:schemeClr>
                                  </a:solidFill>
                                  <a:latin typeface="Cambria Math" charset="0"/>
                                </a:rPr>
                                <m:t>𝑪</m:t>
                              </m:r>
                            </m:den>
                          </m:f>
                        </m:e>
                      </m:d>
                      <m:r>
                        <a:rPr lang="en-US" altLang="zh-CN" sz="2000" b="1" i="1" smtClean="0">
                          <a:solidFill>
                            <a:schemeClr val="bg2">
                              <a:lumMod val="10000"/>
                            </a:schemeClr>
                          </a:solidFill>
                          <a:latin typeface="Cambria Math" charset="0"/>
                        </a:rPr>
                        <m:t>≤</m:t>
                      </m:r>
                      <m:r>
                        <a:rPr lang="en-US" altLang="zh-CN" sz="2000" b="1" i="1" smtClean="0">
                          <a:solidFill>
                            <a:schemeClr val="bg2">
                              <a:lumMod val="10000"/>
                            </a:schemeClr>
                          </a:solidFill>
                          <a:latin typeface="Cambria Math" charset="0"/>
                        </a:rPr>
                        <m:t>𝝆</m:t>
                      </m:r>
                      <m:d>
                        <m:dPr>
                          <m:ctrlPr>
                            <a:rPr lang="en-US" altLang="zh-CN" sz="2000" b="1" i="1" smtClean="0">
                              <a:solidFill>
                                <a:schemeClr val="bg2">
                                  <a:lumMod val="10000"/>
                                </a:schemeClr>
                              </a:solidFill>
                              <a:latin typeface="Cambria Math" panose="02040503050406030204" pitchFamily="18" charset="0"/>
                            </a:rPr>
                          </m:ctrlPr>
                        </m:dPr>
                        <m:e>
                          <m:r>
                            <a:rPr lang="en-US" altLang="zh-CN" sz="2000" b="1" i="1" smtClean="0">
                              <a:solidFill>
                                <a:schemeClr val="bg2">
                                  <a:lumMod val="10000"/>
                                </a:schemeClr>
                              </a:solidFill>
                              <a:latin typeface="Cambria Math" charset="0"/>
                            </a:rPr>
                            <m:t>𝒏</m:t>
                          </m:r>
                        </m:e>
                      </m:d>
                    </m:oMath>
                  </a14:m>
                  <a:r>
                    <a:rPr lang="zh-CN" altLang="en-US" sz="2000" dirty="0">
                      <a:solidFill>
                        <a:schemeClr val="bg2">
                          <a:lumMod val="10000"/>
                        </a:schemeClr>
                      </a:solidFill>
                    </a:rPr>
                    <a:t>，</a:t>
                  </a:r>
                  <a:endParaRPr lang="en-US" altLang="zh-CN" sz="2000" dirty="0">
                    <a:solidFill>
                      <a:schemeClr val="bg2">
                        <a:lumMod val="10000"/>
                      </a:schemeClr>
                    </a:solidFill>
                  </a:endParaRPr>
                </a:p>
                <a:p>
                  <a:pPr algn="l"/>
                  <a:r>
                    <a:rPr lang="en-US" altLang="zh-CN" sz="2000" dirty="0">
                      <a:solidFill>
                        <a:schemeClr val="bg2">
                          <a:lumMod val="10000"/>
                        </a:schemeClr>
                      </a:solidFill>
                    </a:rPr>
                    <a:t>【</a:t>
                  </a:r>
                  <a:r>
                    <a:rPr lang="zh-CN" altLang="en-US" sz="2000" dirty="0">
                      <a:solidFill>
                        <a:schemeClr val="bg2">
                          <a:lumMod val="10000"/>
                        </a:schemeClr>
                      </a:solidFill>
                    </a:rPr>
                    <a:t>其中</a:t>
                  </a:r>
                  <a14:m>
                    <m:oMath xmlns:m="http://schemas.openxmlformats.org/officeDocument/2006/math">
                      <m:r>
                        <a:rPr lang="en-US" altLang="zh-CN" sz="2000" i="1">
                          <a:solidFill>
                            <a:schemeClr val="bg2">
                              <a:lumMod val="10000"/>
                            </a:schemeClr>
                          </a:solidFill>
                          <a:latin typeface="Cambria Math" charset="0"/>
                        </a:rPr>
                        <m:t>𝝆</m:t>
                      </m:r>
                      <m:d>
                        <m:dPr>
                          <m:ctrlPr>
                            <a:rPr lang="en-US" altLang="zh-CN" sz="2000" i="1">
                              <a:solidFill>
                                <a:schemeClr val="bg2">
                                  <a:lumMod val="10000"/>
                                </a:schemeClr>
                              </a:solidFill>
                              <a:latin typeface="Cambria Math" panose="02040503050406030204" pitchFamily="18" charset="0"/>
                            </a:rPr>
                          </m:ctrlPr>
                        </m:dPr>
                        <m:e>
                          <m:r>
                            <a:rPr lang="en-US" altLang="zh-CN" sz="2000" i="1">
                              <a:solidFill>
                                <a:schemeClr val="bg2">
                                  <a:lumMod val="10000"/>
                                </a:schemeClr>
                              </a:solidFill>
                              <a:latin typeface="Cambria Math" charset="0"/>
                            </a:rPr>
                            <m:t>𝒏</m:t>
                          </m:r>
                        </m:e>
                      </m:d>
                    </m:oMath>
                  </a14:m>
                  <a:r>
                    <a:rPr lang="zh-CN" altLang="en-US" sz="2000" dirty="0">
                      <a:solidFill>
                        <a:schemeClr val="bg2">
                          <a:lumMod val="10000"/>
                        </a:schemeClr>
                      </a:solidFill>
                    </a:rPr>
                    <a:t>是关于</a:t>
                  </a:r>
                  <a14:m>
                    <m:oMath xmlns:m="http://schemas.openxmlformats.org/officeDocument/2006/math">
                      <m:r>
                        <a:rPr lang="en-US" altLang="zh-CN" sz="2000" i="1" dirty="0">
                          <a:solidFill>
                            <a:schemeClr val="bg2">
                              <a:lumMod val="10000"/>
                            </a:schemeClr>
                          </a:solidFill>
                          <a:latin typeface="Cambria Math" charset="0"/>
                        </a:rPr>
                        <m:t>𝒏</m:t>
                      </m:r>
                    </m:oMath>
                  </a14:m>
                  <a:r>
                    <a:rPr lang="zh-CN" altLang="en-US" sz="2000" dirty="0">
                      <a:solidFill>
                        <a:schemeClr val="bg2">
                          <a:lumMod val="10000"/>
                        </a:schemeClr>
                      </a:solidFill>
                    </a:rPr>
                    <a:t>的任意实函数；常数</a:t>
                  </a:r>
                  <a:r>
                    <a:rPr lang="en-US" altLang="zh-CN" sz="2000" dirty="0">
                      <a:solidFill>
                        <a:schemeClr val="bg2">
                          <a:lumMod val="10000"/>
                        </a:schemeClr>
                      </a:solidFill>
                    </a:rPr>
                    <a:t>, </a:t>
                  </a:r>
                  <a14:m>
                    <m:oMath xmlns:m="http://schemas.openxmlformats.org/officeDocument/2006/math">
                      <m:r>
                        <a:rPr lang="en-US" altLang="zh-CN" sz="2000" b="1" i="0" smtClean="0">
                          <a:solidFill>
                            <a:schemeClr val="bg2">
                              <a:lumMod val="10000"/>
                            </a:schemeClr>
                          </a:solidFill>
                          <a:latin typeface="Cambria Math" charset="0"/>
                        </a:rPr>
                        <m:t>𝐥𝐨𝐠</m:t>
                      </m:r>
                      <m:r>
                        <a:rPr lang="en-US" altLang="zh-CN" sz="2000" b="1" i="1" smtClean="0">
                          <a:solidFill>
                            <a:schemeClr val="bg2">
                              <a:lumMod val="10000"/>
                            </a:schemeClr>
                          </a:solidFill>
                          <a:latin typeface="Cambria Math" charset="0"/>
                        </a:rPr>
                        <m:t>𝒏</m:t>
                      </m:r>
                      <m:r>
                        <a:rPr lang="en-US" altLang="zh-CN" sz="2000" b="1" i="1" smtClean="0">
                          <a:solidFill>
                            <a:schemeClr val="bg2">
                              <a:lumMod val="10000"/>
                            </a:schemeClr>
                          </a:solidFill>
                          <a:latin typeface="Cambria Math" charset="0"/>
                        </a:rPr>
                        <m:t>, </m:t>
                      </m:r>
                      <m:sSup>
                        <m:sSupPr>
                          <m:ctrlPr>
                            <a:rPr lang="en-US" altLang="zh-CN" sz="2000" b="1" i="1" smtClean="0">
                              <a:solidFill>
                                <a:schemeClr val="bg2">
                                  <a:lumMod val="10000"/>
                                </a:schemeClr>
                              </a:solidFill>
                              <a:latin typeface="Cambria Math" panose="02040503050406030204" pitchFamily="18" charset="0"/>
                            </a:rPr>
                          </m:ctrlPr>
                        </m:sSupPr>
                        <m:e>
                          <m:r>
                            <a:rPr lang="en-US" altLang="zh-CN" sz="2000" b="1" i="1" smtClean="0">
                              <a:solidFill>
                                <a:schemeClr val="bg2">
                                  <a:lumMod val="10000"/>
                                </a:schemeClr>
                              </a:solidFill>
                              <a:latin typeface="Cambria Math" charset="0"/>
                            </a:rPr>
                            <m:t>𝒏</m:t>
                          </m:r>
                        </m:e>
                        <m:sup>
                          <m:r>
                            <a:rPr lang="en-US" altLang="zh-CN" sz="2000" b="1" i="1" smtClean="0">
                              <a:solidFill>
                                <a:schemeClr val="bg2">
                                  <a:lumMod val="10000"/>
                                </a:schemeClr>
                              </a:solidFill>
                              <a:latin typeface="Cambria Math" charset="0"/>
                            </a:rPr>
                            <m:t>𝟐</m:t>
                          </m:r>
                        </m:sup>
                      </m:sSup>
                      <m:r>
                        <a:rPr lang="en-US" altLang="zh-CN" sz="2000" b="1" i="1" smtClean="0">
                          <a:solidFill>
                            <a:schemeClr val="bg2">
                              <a:lumMod val="10000"/>
                            </a:schemeClr>
                          </a:solidFill>
                          <a:latin typeface="Cambria Math" charset="0"/>
                        </a:rPr>
                        <m:t>,…</m:t>
                      </m:r>
                    </m:oMath>
                  </a14:m>
                  <a:r>
                    <a:rPr lang="en-US" altLang="zh-CN" sz="2000" dirty="0">
                      <a:solidFill>
                        <a:schemeClr val="bg2">
                          <a:lumMod val="10000"/>
                        </a:schemeClr>
                      </a:solidFill>
                    </a:rPr>
                    <a:t>】</a:t>
                  </a:r>
                  <a:endParaRPr lang="zh-CN" altLang="zh-CN" sz="2000" dirty="0">
                    <a:solidFill>
                      <a:schemeClr val="bg2">
                        <a:lumMod val="10000"/>
                      </a:schemeClr>
                    </a:solidFill>
                  </a:endParaRPr>
                </a:p>
              </p:txBody>
            </p:sp>
          </mc:Choice>
          <mc:Fallback xmlns="">
            <p:sp>
              <p:nvSpPr>
                <p:cNvPr id="25" name="TextBox 18"/>
                <p:cNvSpPr txBox="1">
                  <a:spLocks noRot="1" noChangeAspect="1" noMove="1" noResize="1" noEditPoints="1" noAdjustHandles="1" noChangeArrowheads="1" noChangeShapeType="1" noTextEdit="1"/>
                </p:cNvSpPr>
                <p:nvPr/>
              </p:nvSpPr>
              <p:spPr bwMode="auto">
                <a:xfrm>
                  <a:off x="628471" y="2708924"/>
                  <a:ext cx="7725956" cy="945651"/>
                </a:xfrm>
                <a:prstGeom prst="rect">
                  <a:avLst/>
                </a:prstGeom>
                <a:blipFill>
                  <a:blip r:embed="rId6"/>
                  <a:stretch>
                    <a:fillRect l="-1478" r="-493" b="-13333"/>
                  </a:stretch>
                </a:blipFill>
                <a:ln w="9525">
                  <a:noFill/>
                  <a:miter lim="800000"/>
                  <a:headEnd/>
                  <a:tailEnd/>
                </a:ln>
              </p:spPr>
              <p:txBody>
                <a:bodyPr/>
                <a:lstStyle/>
                <a:p>
                  <a:r>
                    <a:rPr lang="zh-CN" altLang="en-US">
                      <a:noFill/>
                    </a:rPr>
                    <a:t> </a:t>
                  </a:r>
                </a:p>
              </p:txBody>
            </p:sp>
          </mc:Fallback>
        </mc:AlternateContent>
        <p:grpSp>
          <p:nvGrpSpPr>
            <p:cNvPr id="26" name="Group 20"/>
            <p:cNvGrpSpPr>
              <a:grpSpLocks/>
            </p:cNvGrpSpPr>
            <p:nvPr/>
          </p:nvGrpSpPr>
          <p:grpSpPr bwMode="auto">
            <a:xfrm>
              <a:off x="428596" y="2928934"/>
              <a:ext cx="128588" cy="128588"/>
              <a:chOff x="2995" y="1525"/>
              <a:chExt cx="112" cy="112"/>
            </a:xfrm>
          </p:grpSpPr>
          <p:sp>
            <p:nvSpPr>
              <p:cNvPr id="27"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28"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34" name="组合 62"/>
          <p:cNvGrpSpPr>
            <a:grpSpLocks/>
          </p:cNvGrpSpPr>
          <p:nvPr/>
        </p:nvGrpSpPr>
        <p:grpSpPr bwMode="auto">
          <a:xfrm>
            <a:off x="611560" y="4173066"/>
            <a:ext cx="5991593" cy="888311"/>
            <a:chOff x="3286116" y="1336849"/>
            <a:chExt cx="5990266" cy="888723"/>
          </a:xfrm>
        </p:grpSpPr>
        <mc:AlternateContent xmlns:mc="http://schemas.openxmlformats.org/markup-compatibility/2006" xmlns:a14="http://schemas.microsoft.com/office/drawing/2010/main">
          <mc:Choice Requires="a14">
            <p:sp>
              <p:nvSpPr>
                <p:cNvPr id="35" name="TextBox 37"/>
                <p:cNvSpPr txBox="1">
                  <a:spLocks noChangeArrowheads="1"/>
                </p:cNvSpPr>
                <p:nvPr/>
              </p:nvSpPr>
              <p:spPr bwMode="auto">
                <a:xfrm>
                  <a:off x="3857261" y="1336849"/>
                  <a:ext cx="5419121" cy="888723"/>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400" dirty="0">
                      <a:solidFill>
                        <a:schemeClr val="bg2">
                          <a:lumMod val="10000"/>
                        </a:schemeClr>
                      </a:solidFill>
                      <a:latin typeface="Times New Roman" pitchFamily="18" charset="0"/>
                      <a:cs typeface="Times New Roman" pitchFamily="18" charset="0"/>
                    </a:rPr>
                    <a:t>则我们称算法</a:t>
                  </a:r>
                  <a:r>
                    <a:rPr lang="en-US" altLang="zh-CN" sz="2400" dirty="0">
                      <a:solidFill>
                        <a:schemeClr val="bg2">
                          <a:lumMod val="10000"/>
                        </a:schemeClr>
                      </a:solidFill>
                      <a:latin typeface="Times New Roman" pitchFamily="18" charset="0"/>
                      <a:cs typeface="Times New Roman" pitchFamily="18" charset="0"/>
                    </a:rPr>
                    <a:t>A</a:t>
                  </a:r>
                  <a:r>
                    <a:rPr lang="zh-CN" altLang="en-US" sz="2400" dirty="0">
                      <a:solidFill>
                        <a:schemeClr val="bg2">
                          <a:lumMod val="10000"/>
                        </a:schemeClr>
                      </a:solidFill>
                      <a:latin typeface="Times New Roman" pitchFamily="18" charset="0"/>
                      <a:cs typeface="Times New Roman" pitchFamily="18" charset="0"/>
                    </a:rPr>
                    <a:t>具有近似比</a:t>
                  </a:r>
                  <a14:m>
                    <m:oMath xmlns:m="http://schemas.openxmlformats.org/officeDocument/2006/math">
                      <m:r>
                        <a:rPr lang="en-US" altLang="zh-CN" sz="2400" b="1" i="1" smtClean="0">
                          <a:solidFill>
                            <a:schemeClr val="bg2">
                              <a:lumMod val="10000"/>
                            </a:schemeClr>
                          </a:solidFill>
                          <a:latin typeface="Cambria Math" charset="0"/>
                          <a:cs typeface="Times New Roman" pitchFamily="18" charset="0"/>
                        </a:rPr>
                        <m:t>𝝆</m:t>
                      </m:r>
                      <m:r>
                        <a:rPr lang="en-US" altLang="zh-CN" sz="2400" b="1" i="1" smtClean="0">
                          <a:solidFill>
                            <a:schemeClr val="bg2">
                              <a:lumMod val="10000"/>
                            </a:schemeClr>
                          </a:solidFill>
                          <a:latin typeface="Cambria Math" charset="0"/>
                          <a:cs typeface="Times New Roman" pitchFamily="18" charset="0"/>
                        </a:rPr>
                        <m:t>(</m:t>
                      </m:r>
                      <m:r>
                        <a:rPr lang="en-US" altLang="zh-CN" sz="2400" b="1" i="1" smtClean="0">
                          <a:solidFill>
                            <a:schemeClr val="bg2">
                              <a:lumMod val="10000"/>
                            </a:schemeClr>
                          </a:solidFill>
                          <a:latin typeface="Cambria Math" charset="0"/>
                          <a:cs typeface="Times New Roman" pitchFamily="18" charset="0"/>
                        </a:rPr>
                        <m:t>𝒏</m:t>
                      </m:r>
                      <m:r>
                        <a:rPr lang="en-US" altLang="zh-CN" sz="2400" b="1" i="1" smtClean="0">
                          <a:solidFill>
                            <a:schemeClr val="bg2">
                              <a:lumMod val="10000"/>
                            </a:schemeClr>
                          </a:solidFill>
                          <a:latin typeface="Cambria Math" charset="0"/>
                          <a:cs typeface="Times New Roman" pitchFamily="18" charset="0"/>
                        </a:rPr>
                        <m:t>)</m:t>
                      </m:r>
                    </m:oMath>
                  </a14:m>
                  <a:r>
                    <a:rPr lang="zh-CN" altLang="en-US" sz="2400" dirty="0">
                      <a:solidFill>
                        <a:schemeClr val="bg2">
                          <a:lumMod val="10000"/>
                        </a:schemeClr>
                      </a:solidFill>
                      <a:latin typeface="Times New Roman" pitchFamily="18" charset="0"/>
                      <a:cs typeface="Times New Roman" pitchFamily="18" charset="0"/>
                    </a:rPr>
                    <a:t>。</a:t>
                  </a:r>
                  <a:endParaRPr lang="en-US" altLang="zh-CN" sz="2400" dirty="0">
                    <a:solidFill>
                      <a:schemeClr val="bg2">
                        <a:lumMod val="10000"/>
                      </a:schemeClr>
                    </a:solidFill>
                    <a:latin typeface="Times New Roman" pitchFamily="18" charset="0"/>
                    <a:cs typeface="Times New Roman" pitchFamily="18" charset="0"/>
                  </a:endParaRPr>
                </a:p>
                <a:p>
                  <a:pPr algn="l">
                    <a:spcBef>
                      <a:spcPts val="600"/>
                    </a:spcBef>
                  </a:pPr>
                  <a:r>
                    <a:rPr lang="zh-CN" altLang="en-US" sz="2400" dirty="0">
                      <a:solidFill>
                        <a:schemeClr val="bg2">
                          <a:lumMod val="10000"/>
                        </a:schemeClr>
                      </a:solidFill>
                      <a:latin typeface="Times New Roman" pitchFamily="18" charset="0"/>
                      <a:cs typeface="Times New Roman" pitchFamily="18" charset="0"/>
                    </a:rPr>
                    <a:t>或者说：</a:t>
                  </a:r>
                  <a:r>
                    <a:rPr lang="en-US" altLang="zh-CN" sz="2400" dirty="0">
                      <a:solidFill>
                        <a:schemeClr val="bg2">
                          <a:lumMod val="10000"/>
                        </a:schemeClr>
                      </a:solidFill>
                      <a:latin typeface="Times New Roman" pitchFamily="18" charset="0"/>
                      <a:cs typeface="Times New Roman" pitchFamily="18" charset="0"/>
                    </a:rPr>
                    <a:t>A</a:t>
                  </a:r>
                  <a:r>
                    <a:rPr lang="zh-CN" altLang="en-US" sz="2400" dirty="0">
                      <a:solidFill>
                        <a:schemeClr val="bg2">
                          <a:lumMod val="10000"/>
                        </a:schemeClr>
                      </a:solidFill>
                      <a:latin typeface="Times New Roman" pitchFamily="18" charset="0"/>
                      <a:cs typeface="Times New Roman" pitchFamily="18" charset="0"/>
                    </a:rPr>
                    <a:t>是该问题的</a:t>
                  </a:r>
                  <a14:m>
                    <m:oMath xmlns:m="http://schemas.openxmlformats.org/officeDocument/2006/math">
                      <m:r>
                        <a:rPr lang="en-US" altLang="zh-CN" sz="2400" i="1">
                          <a:solidFill>
                            <a:schemeClr val="bg2">
                              <a:lumMod val="10000"/>
                            </a:schemeClr>
                          </a:solidFill>
                          <a:latin typeface="Cambria Math" charset="0"/>
                          <a:cs typeface="Times New Roman" pitchFamily="18" charset="0"/>
                        </a:rPr>
                        <m:t>𝝆</m:t>
                      </m:r>
                      <m:r>
                        <a:rPr lang="en-US" altLang="zh-CN" sz="2400" i="1">
                          <a:solidFill>
                            <a:schemeClr val="bg2">
                              <a:lumMod val="10000"/>
                            </a:schemeClr>
                          </a:solidFill>
                          <a:latin typeface="Cambria Math" charset="0"/>
                          <a:cs typeface="Times New Roman" pitchFamily="18" charset="0"/>
                        </a:rPr>
                        <m:t>(</m:t>
                      </m:r>
                      <m:r>
                        <a:rPr lang="en-US" altLang="zh-CN" sz="2400" i="1">
                          <a:solidFill>
                            <a:schemeClr val="bg2">
                              <a:lumMod val="10000"/>
                            </a:schemeClr>
                          </a:solidFill>
                          <a:latin typeface="Cambria Math" charset="0"/>
                          <a:cs typeface="Times New Roman" pitchFamily="18" charset="0"/>
                        </a:rPr>
                        <m:t>𝒏</m:t>
                      </m:r>
                      <m:r>
                        <a:rPr lang="en-US" altLang="zh-CN" sz="2400" i="1">
                          <a:solidFill>
                            <a:schemeClr val="bg2">
                              <a:lumMod val="10000"/>
                            </a:schemeClr>
                          </a:solidFill>
                          <a:latin typeface="Cambria Math" charset="0"/>
                          <a:cs typeface="Times New Roman" pitchFamily="18" charset="0"/>
                        </a:rPr>
                        <m:t>) </m:t>
                      </m:r>
                    </m:oMath>
                  </a14:m>
                  <a:r>
                    <a:rPr lang="en-US" altLang="zh-CN" sz="2400" dirty="0">
                      <a:solidFill>
                        <a:schemeClr val="bg2">
                          <a:lumMod val="10000"/>
                        </a:schemeClr>
                      </a:solidFill>
                      <a:latin typeface="Times New Roman" pitchFamily="18" charset="0"/>
                      <a:cs typeface="Times New Roman" pitchFamily="18" charset="0"/>
                    </a:rPr>
                    <a:t>-</a:t>
                  </a:r>
                  <a:r>
                    <a:rPr lang="zh-CN" altLang="en-US" sz="2400" dirty="0">
                      <a:solidFill>
                        <a:schemeClr val="bg2">
                          <a:lumMod val="10000"/>
                        </a:schemeClr>
                      </a:solidFill>
                      <a:latin typeface="Times New Roman" pitchFamily="18" charset="0"/>
                      <a:cs typeface="Times New Roman" pitchFamily="18" charset="0"/>
                    </a:rPr>
                    <a:t>近似算法。</a:t>
                  </a:r>
                </a:p>
              </p:txBody>
            </p:sp>
          </mc:Choice>
          <mc:Fallback xmlns="">
            <p:sp>
              <p:nvSpPr>
                <p:cNvPr id="35" name="TextBox 37"/>
                <p:cNvSpPr txBox="1">
                  <a:spLocks noRot="1" noChangeAspect="1" noMove="1" noResize="1" noEditPoints="1" noAdjustHandles="1" noChangeArrowheads="1" noChangeShapeType="1" noTextEdit="1"/>
                </p:cNvSpPr>
                <p:nvPr/>
              </p:nvSpPr>
              <p:spPr bwMode="auto">
                <a:xfrm>
                  <a:off x="3857261" y="1336849"/>
                  <a:ext cx="5419121" cy="888723"/>
                </a:xfrm>
                <a:prstGeom prst="rect">
                  <a:avLst/>
                </a:prstGeom>
                <a:blipFill rotWithShape="0">
                  <a:blip r:embed="rId7"/>
                  <a:stretch>
                    <a:fillRect l="-2812" t="-8966" r="-1800" b="-70345"/>
                  </a:stretch>
                </a:blipFill>
                <a:ln w="9525">
                  <a:noFill/>
                  <a:miter lim="800000"/>
                  <a:headEnd/>
                  <a:tailEnd/>
                </a:ln>
              </p:spPr>
              <p:txBody>
                <a:bodyPr/>
                <a:lstStyle/>
                <a:p>
                  <a:r>
                    <a:rPr lang="zh-CN" altLang="en-US">
                      <a:noFill/>
                    </a:rPr>
                    <a:t> </a:t>
                  </a:r>
                </a:p>
              </p:txBody>
            </p:sp>
          </mc:Fallback>
        </mc:AlternateContent>
        <p:pic>
          <p:nvPicPr>
            <p:cNvPr id="36" name="Picture 21" descr="coquette_035"/>
            <p:cNvPicPr>
              <a:picLocks noChangeAspect="1" noChangeArrowheads="1"/>
            </p:cNvPicPr>
            <p:nvPr/>
          </p:nvPicPr>
          <p:blipFill>
            <a:blip r:embed="rId8" cstate="print"/>
            <a:srcRect/>
            <a:stretch>
              <a:fillRect/>
            </a:stretch>
          </p:blipFill>
          <p:spPr bwMode="auto">
            <a:xfrm>
              <a:off x="3286116" y="1357298"/>
              <a:ext cx="566777" cy="324000"/>
            </a:xfrm>
            <a:prstGeom prst="rect">
              <a:avLst/>
            </a:prstGeom>
            <a:noFill/>
            <a:ln w="9525">
              <a:noFill/>
              <a:miter lim="800000"/>
              <a:headEnd/>
              <a:tailEnd/>
            </a:ln>
          </p:spPr>
        </p:pic>
      </p:grpSp>
    </p:spTree>
    <p:extLst>
      <p:ext uri="{BB962C8B-B14F-4D97-AF65-F5344CB8AC3E}">
        <p14:creationId xmlns:p14="http://schemas.microsoft.com/office/powerpoint/2010/main" val="838564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4A1CFF-5E84-8248-B53A-0917941765FD}"/>
              </a:ext>
            </a:extLst>
          </p:cNvPr>
          <p:cNvSpPr>
            <a:spLocks noGrp="1"/>
          </p:cNvSpPr>
          <p:nvPr>
            <p:ph type="title"/>
          </p:nvPr>
        </p:nvSpPr>
        <p:spPr/>
        <p:txBody>
          <a:bodyPr/>
          <a:lstStyle/>
          <a:p>
            <a:r>
              <a:rPr kumimoji="1" lang="zh-CN" altLang="en-US" dirty="0">
                <a:solidFill>
                  <a:schemeClr val="bg2">
                    <a:lumMod val="10000"/>
                  </a:schemeClr>
                </a:solidFill>
              </a:rPr>
              <a:t>如何求近似比？</a:t>
            </a:r>
          </a:p>
        </p:txBody>
      </p:sp>
      <p:grpSp>
        <p:nvGrpSpPr>
          <p:cNvPr id="6" name="组合 16">
            <a:extLst>
              <a:ext uri="{FF2B5EF4-FFF2-40B4-BE49-F238E27FC236}">
                <a16:creationId xmlns:a16="http://schemas.microsoft.com/office/drawing/2014/main" id="{EE00C792-D40D-6F40-BEF8-97CC1E80FECC}"/>
              </a:ext>
            </a:extLst>
          </p:cNvPr>
          <p:cNvGrpSpPr>
            <a:grpSpLocks/>
          </p:cNvGrpSpPr>
          <p:nvPr/>
        </p:nvGrpSpPr>
        <p:grpSpPr bwMode="auto">
          <a:xfrm>
            <a:off x="467530" y="980728"/>
            <a:ext cx="3321030" cy="504056"/>
            <a:chOff x="5082972" y="1785322"/>
            <a:chExt cx="3320418" cy="504294"/>
          </a:xfrm>
        </p:grpSpPr>
        <p:pic>
          <p:nvPicPr>
            <p:cNvPr id="7" name="Picture 28" descr="02_icon">
              <a:extLst>
                <a:ext uri="{FF2B5EF4-FFF2-40B4-BE49-F238E27FC236}">
                  <a16:creationId xmlns:a16="http://schemas.microsoft.com/office/drawing/2014/main" id="{0F1F1C57-5A60-AF45-89CA-257BC5241F84}"/>
                </a:ext>
              </a:extLst>
            </p:cNvPr>
            <p:cNvPicPr>
              <a:picLocks noChangeAspect="1" noChangeArrowheads="1"/>
            </p:cNvPicPr>
            <p:nvPr/>
          </p:nvPicPr>
          <p:blipFill>
            <a:blip r:embed="rId2" cstate="print"/>
            <a:srcRect/>
            <a:stretch>
              <a:fillRect/>
            </a:stretch>
          </p:blipFill>
          <p:spPr bwMode="auto">
            <a:xfrm>
              <a:off x="5082972" y="1890719"/>
              <a:ext cx="322441" cy="398897"/>
            </a:xfrm>
            <a:prstGeom prst="rect">
              <a:avLst/>
            </a:prstGeom>
            <a:noFill/>
            <a:ln w="9525">
              <a:noFill/>
              <a:miter lim="800000"/>
              <a:headEnd/>
              <a:tailEnd/>
            </a:ln>
          </p:spPr>
        </p:pic>
        <p:sp>
          <p:nvSpPr>
            <p:cNvPr id="8" name="Text Box 33">
              <a:extLst>
                <a:ext uri="{FF2B5EF4-FFF2-40B4-BE49-F238E27FC236}">
                  <a16:creationId xmlns:a16="http://schemas.microsoft.com/office/drawing/2014/main" id="{2B508C47-FA94-1F49-B2BB-9B4BD159E676}"/>
                </a:ext>
              </a:extLst>
            </p:cNvPr>
            <p:cNvSpPr txBox="1">
              <a:spLocks noChangeArrowheads="1"/>
            </p:cNvSpPr>
            <p:nvPr/>
          </p:nvSpPr>
          <p:spPr bwMode="black">
            <a:xfrm>
              <a:off x="5381966" y="1785322"/>
              <a:ext cx="3021424" cy="461883"/>
            </a:xfrm>
            <a:prstGeom prst="rect">
              <a:avLst/>
            </a:prstGeom>
            <a:noFill/>
            <a:ln w="9525">
              <a:noFill/>
              <a:miter lim="800000"/>
              <a:headEnd/>
              <a:tailEnd/>
            </a:ln>
          </p:spPr>
          <p:txBody>
            <a:bodyPr wrap="none">
              <a:spAutoFit/>
            </a:bodyPr>
            <a:lstStyle/>
            <a:p>
              <a:pPr algn="l">
                <a:spcBef>
                  <a:spcPts val="0"/>
                </a:spcBef>
              </a:pPr>
              <a:r>
                <a:rPr lang="en-US" altLang="zh-Hans" sz="2400" dirty="0">
                  <a:solidFill>
                    <a:schemeClr val="bg2">
                      <a:lumMod val="10000"/>
                    </a:schemeClr>
                  </a:solidFill>
                  <a:latin typeface="Times New Roman" pitchFamily="18" charset="0"/>
                  <a:cs typeface="Times New Roman" pitchFamily="18" charset="0"/>
                </a:rPr>
                <a:t>Greedy-Knapsack</a:t>
              </a:r>
              <a:r>
                <a:rPr lang="zh-Hans" altLang="en-US" sz="2400" dirty="0">
                  <a:solidFill>
                    <a:schemeClr val="bg2">
                      <a:lumMod val="10000"/>
                    </a:schemeClr>
                  </a:solidFill>
                  <a:latin typeface="Times New Roman" pitchFamily="18" charset="0"/>
                  <a:cs typeface="Times New Roman" pitchFamily="18" charset="0"/>
                </a:rPr>
                <a:t>算法</a:t>
              </a:r>
              <a:endParaRPr lang="en-US" altLang="zh-Hans" sz="2400" dirty="0">
                <a:solidFill>
                  <a:schemeClr val="bg2">
                    <a:lumMod val="10000"/>
                  </a:schemeClr>
                </a:solidFill>
                <a:latin typeface="Times New Roman" pitchFamily="18" charset="0"/>
                <a:cs typeface="Times New Roman" pitchFamily="18" charset="0"/>
              </a:endParaRPr>
            </a:p>
          </p:txBody>
        </p:sp>
      </p:grpSp>
      <p:grpSp>
        <p:nvGrpSpPr>
          <p:cNvPr id="9" name="组合 42">
            <a:extLst>
              <a:ext uri="{FF2B5EF4-FFF2-40B4-BE49-F238E27FC236}">
                <a16:creationId xmlns:a16="http://schemas.microsoft.com/office/drawing/2014/main" id="{62FFAAF9-640E-8D4C-A3BD-A0FAF00079B5}"/>
              </a:ext>
            </a:extLst>
          </p:cNvPr>
          <p:cNvGrpSpPr>
            <a:grpSpLocks/>
          </p:cNvGrpSpPr>
          <p:nvPr/>
        </p:nvGrpSpPr>
        <p:grpSpPr bwMode="auto">
          <a:xfrm>
            <a:off x="755576" y="1706656"/>
            <a:ext cx="5503271" cy="963781"/>
            <a:chOff x="428596" y="2825969"/>
            <a:chExt cx="5500692" cy="965237"/>
          </a:xfrm>
        </p:grpSpPr>
        <mc:AlternateContent xmlns:mc="http://schemas.openxmlformats.org/markup-compatibility/2006" xmlns:a14="http://schemas.microsoft.com/office/drawing/2010/main">
          <mc:Choice Requires="a14">
            <p:sp>
              <p:nvSpPr>
                <p:cNvPr id="10" name="TextBox 18">
                  <a:extLst>
                    <a:ext uri="{FF2B5EF4-FFF2-40B4-BE49-F238E27FC236}">
                      <a16:creationId xmlns:a16="http://schemas.microsoft.com/office/drawing/2014/main" id="{8502D8F5-BFFE-9844-812D-D1AECA16FA3F}"/>
                    </a:ext>
                  </a:extLst>
                </p:cNvPr>
                <p:cNvSpPr txBox="1">
                  <a:spLocks noChangeArrowheads="1"/>
                </p:cNvSpPr>
                <p:nvPr/>
              </p:nvSpPr>
              <p:spPr bwMode="auto">
                <a:xfrm>
                  <a:off x="628471" y="2825969"/>
                  <a:ext cx="5300817" cy="965237"/>
                </a:xfrm>
                <a:prstGeom prst="rect">
                  <a:avLst/>
                </a:prstGeom>
                <a:noFill/>
                <a:ln w="9525">
                  <a:noFill/>
                  <a:miter lim="800000"/>
                  <a:headEnd/>
                  <a:tailEnd/>
                </a:ln>
              </p:spPr>
              <p:txBody>
                <a:bodyPr wrap="none" lIns="36000" tIns="36000" rIns="36000" bIns="36000">
                  <a:spAutoFit/>
                </a:bodyPr>
                <a:lstStyle/>
                <a:p>
                  <a:pPr algn="l"/>
                  <a:r>
                    <a:rPr lang="en-US" altLang="zh-Hans" sz="2000" dirty="0">
                      <a:solidFill>
                        <a:schemeClr val="bg2">
                          <a:lumMod val="10000"/>
                        </a:schemeClr>
                      </a:solidFill>
                      <a:latin typeface="Times New Roman" charset="0"/>
                      <a:ea typeface="Times New Roman" charset="0"/>
                      <a:cs typeface="Times New Roman" charset="0"/>
                    </a:rPr>
                    <a:t>Step#1:</a:t>
                  </a:r>
                  <a:r>
                    <a:rPr lang="zh-Hans" altLang="en-US" sz="2000" dirty="0">
                      <a:solidFill>
                        <a:schemeClr val="bg2">
                          <a:lumMod val="10000"/>
                        </a:schemeClr>
                      </a:solidFill>
                      <a:latin typeface="Times New Roman" charset="0"/>
                      <a:ea typeface="Times New Roman" charset="0"/>
                      <a:cs typeface="Times New Roman" charset="0"/>
                    </a:rPr>
                    <a:t> 按照“价值密度”降序排列</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并重新编号</a:t>
                  </a:r>
                  <a:r>
                    <a:rPr lang="en-US" altLang="zh-Hans" sz="2000" dirty="0">
                      <a:solidFill>
                        <a:schemeClr val="bg2">
                          <a:lumMod val="10000"/>
                        </a:schemeClr>
                      </a:solidFill>
                      <a:latin typeface="Times New Roman" charset="0"/>
                      <a:ea typeface="Times New Roman" charset="0"/>
                      <a:cs typeface="Times New Roman" charset="0"/>
                    </a:rPr>
                    <a:t>:</a:t>
                  </a:r>
                </a:p>
                <a:p>
                  <a:pPr algn="l"/>
                  <a14:m>
                    <m:oMathPara xmlns:m="http://schemas.openxmlformats.org/officeDocument/2006/math">
                      <m:oMathParaPr>
                        <m:jc m:val="centerGroup"/>
                      </m:oMathParaPr>
                      <m:oMath xmlns:m="http://schemas.openxmlformats.org/officeDocument/2006/math">
                        <m:f>
                          <m:f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fPr>
                          <m:num>
                            <m:sSub>
                              <m:sSub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𝒗</m:t>
                                </m:r>
                              </m:e>
                              <m: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𝟏</m:t>
                                </m:r>
                              </m:sub>
                            </m:sSub>
                          </m:num>
                          <m:den>
                            <m:sSub>
                              <m:sSub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𝒘</m:t>
                                </m:r>
                              </m:e>
                              <m: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𝟏</m:t>
                                </m:r>
                              </m:sub>
                            </m:sSub>
                          </m:den>
                        </m:f>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m:t>
                        </m:r>
                        <m:f>
                          <m:f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fPr>
                          <m:num>
                            <m:sSub>
                              <m:sSub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𝒗</m:t>
                                </m:r>
                              </m:e>
                              <m: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𝟐</m:t>
                                </m:r>
                              </m:sub>
                            </m:sSub>
                          </m:num>
                          <m:den>
                            <m:sSub>
                              <m:sSub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𝒘</m:t>
                                </m:r>
                              </m:e>
                              <m: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𝟐</m:t>
                                </m:r>
                              </m:sub>
                            </m:sSub>
                          </m:den>
                        </m:f>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m:t>
                        </m:r>
                        <m:f>
                          <m:f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fPr>
                          <m:num>
                            <m:sSub>
                              <m:sSub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𝒗</m:t>
                                </m:r>
                              </m:e>
                              <m: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𝒏</m:t>
                                </m:r>
                              </m:sub>
                            </m:sSub>
                          </m:num>
                          <m:den>
                            <m:sSub>
                              <m:sSub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𝒘</m:t>
                                </m:r>
                              </m:e>
                              <m: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𝒏</m:t>
                                </m:r>
                              </m:sub>
                            </m:sSub>
                          </m:den>
                        </m:f>
                      </m:oMath>
                    </m:oMathPara>
                  </a14:m>
                  <a:endParaRPr lang="en-US" altLang="zh-Hans" sz="2000" dirty="0">
                    <a:solidFill>
                      <a:schemeClr val="bg2">
                        <a:lumMod val="10000"/>
                      </a:schemeClr>
                    </a:solidFill>
                    <a:latin typeface="Times New Roman" charset="0"/>
                    <a:ea typeface="Times New Roman" charset="0"/>
                    <a:cs typeface="Times New Roman" charset="0"/>
                  </a:endParaRPr>
                </a:p>
              </p:txBody>
            </p:sp>
          </mc:Choice>
          <mc:Fallback xmlns="">
            <p:sp>
              <p:nvSpPr>
                <p:cNvPr id="10" name="TextBox 18">
                  <a:extLst>
                    <a:ext uri="{FF2B5EF4-FFF2-40B4-BE49-F238E27FC236}">
                      <a16:creationId xmlns:a16="http://schemas.microsoft.com/office/drawing/2014/main" id="{8502D8F5-BFFE-9844-812D-D1AECA16FA3F}"/>
                    </a:ext>
                  </a:extLst>
                </p:cNvPr>
                <p:cNvSpPr txBox="1">
                  <a:spLocks noRot="1" noChangeAspect="1" noMove="1" noResize="1" noEditPoints="1" noAdjustHandles="1" noChangeArrowheads="1" noChangeShapeType="1" noTextEdit="1"/>
                </p:cNvSpPr>
                <p:nvPr/>
              </p:nvSpPr>
              <p:spPr bwMode="auto">
                <a:xfrm>
                  <a:off x="628471" y="2825969"/>
                  <a:ext cx="5300817" cy="965237"/>
                </a:xfrm>
                <a:prstGeom prst="rect">
                  <a:avLst/>
                </a:prstGeom>
                <a:blipFill>
                  <a:blip r:embed="rId3"/>
                  <a:stretch>
                    <a:fillRect l="-2299" t="-5696"/>
                  </a:stretch>
                </a:blipFill>
                <a:ln w="9525">
                  <a:noFill/>
                  <a:miter lim="800000"/>
                  <a:headEnd/>
                  <a:tailEnd/>
                </a:ln>
              </p:spPr>
              <p:txBody>
                <a:bodyPr/>
                <a:lstStyle/>
                <a:p>
                  <a:r>
                    <a:rPr lang="zh-CN" altLang="en-US">
                      <a:noFill/>
                    </a:rPr>
                    <a:t> </a:t>
                  </a:r>
                </a:p>
              </p:txBody>
            </p:sp>
          </mc:Fallback>
        </mc:AlternateContent>
        <p:grpSp>
          <p:nvGrpSpPr>
            <p:cNvPr id="11" name="Group 20">
              <a:extLst>
                <a:ext uri="{FF2B5EF4-FFF2-40B4-BE49-F238E27FC236}">
                  <a16:creationId xmlns:a16="http://schemas.microsoft.com/office/drawing/2014/main" id="{A3721F4B-2979-E34A-8A52-64D3ED8EE58E}"/>
                </a:ext>
              </a:extLst>
            </p:cNvPr>
            <p:cNvGrpSpPr>
              <a:grpSpLocks/>
            </p:cNvGrpSpPr>
            <p:nvPr/>
          </p:nvGrpSpPr>
          <p:grpSpPr bwMode="auto">
            <a:xfrm>
              <a:off x="428596" y="2928934"/>
              <a:ext cx="128588" cy="128588"/>
              <a:chOff x="2995" y="1525"/>
              <a:chExt cx="112" cy="112"/>
            </a:xfrm>
          </p:grpSpPr>
          <p:sp>
            <p:nvSpPr>
              <p:cNvPr id="12" name="AutoShape 21">
                <a:extLst>
                  <a:ext uri="{FF2B5EF4-FFF2-40B4-BE49-F238E27FC236}">
                    <a16:creationId xmlns:a16="http://schemas.microsoft.com/office/drawing/2014/main" id="{2C80CD1A-CC71-E849-908F-7EB47629FECD}"/>
                  </a:ext>
                </a:extLst>
              </p:cNvPr>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13" name="AutoShape 22">
                <a:extLst>
                  <a:ext uri="{FF2B5EF4-FFF2-40B4-BE49-F238E27FC236}">
                    <a16:creationId xmlns:a16="http://schemas.microsoft.com/office/drawing/2014/main" id="{EB1D2A94-5E72-494F-AC46-EE2224DB0067}"/>
                  </a:ext>
                </a:extLst>
              </p:cNvPr>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14" name="组合 42">
            <a:extLst>
              <a:ext uri="{FF2B5EF4-FFF2-40B4-BE49-F238E27FC236}">
                <a16:creationId xmlns:a16="http://schemas.microsoft.com/office/drawing/2014/main" id="{96150C8F-1CAA-9B48-B89F-5B65BBDAEFEE}"/>
              </a:ext>
            </a:extLst>
          </p:cNvPr>
          <p:cNvGrpSpPr>
            <a:grpSpLocks/>
          </p:cNvGrpSpPr>
          <p:nvPr/>
        </p:nvGrpSpPr>
        <p:grpSpPr bwMode="auto">
          <a:xfrm>
            <a:off x="750484" y="2892309"/>
            <a:ext cx="4967868" cy="380480"/>
            <a:chOff x="428596" y="2825969"/>
            <a:chExt cx="4965541" cy="381055"/>
          </a:xfrm>
        </p:grpSpPr>
        <p:sp>
          <p:nvSpPr>
            <p:cNvPr id="15" name="TextBox 18">
              <a:extLst>
                <a:ext uri="{FF2B5EF4-FFF2-40B4-BE49-F238E27FC236}">
                  <a16:creationId xmlns:a16="http://schemas.microsoft.com/office/drawing/2014/main" id="{7537AD56-1CA6-7847-9C91-CE579F32755B}"/>
                </a:ext>
              </a:extLst>
            </p:cNvPr>
            <p:cNvSpPr txBox="1">
              <a:spLocks noChangeArrowheads="1"/>
            </p:cNvSpPr>
            <p:nvPr/>
          </p:nvSpPr>
          <p:spPr bwMode="auto">
            <a:xfrm>
              <a:off x="628471" y="2825969"/>
              <a:ext cx="4765666" cy="381055"/>
            </a:xfrm>
            <a:prstGeom prst="rect">
              <a:avLst/>
            </a:prstGeom>
            <a:noFill/>
            <a:ln w="9525">
              <a:noFill/>
              <a:miter lim="800000"/>
              <a:headEnd/>
              <a:tailEnd/>
            </a:ln>
          </p:spPr>
          <p:txBody>
            <a:bodyPr wrap="none" lIns="36000" tIns="36000" rIns="36000" bIns="36000">
              <a:spAutoFit/>
            </a:bodyPr>
            <a:lstStyle/>
            <a:p>
              <a:pPr algn="l"/>
              <a:r>
                <a:rPr lang="en-US" altLang="zh-Hans" sz="2000" dirty="0">
                  <a:solidFill>
                    <a:schemeClr val="bg2">
                      <a:lumMod val="10000"/>
                    </a:schemeClr>
                  </a:solidFill>
                  <a:latin typeface="Times New Roman" charset="0"/>
                  <a:ea typeface="Times New Roman" charset="0"/>
                  <a:cs typeface="Times New Roman" charset="0"/>
                </a:rPr>
                <a:t>Step#2:</a:t>
              </a:r>
              <a:r>
                <a:rPr lang="zh-Hans" altLang="en-US" sz="2000" dirty="0">
                  <a:solidFill>
                    <a:schemeClr val="bg2">
                      <a:lumMod val="10000"/>
                    </a:schemeClr>
                  </a:solidFill>
                  <a:latin typeface="Times New Roman" charset="0"/>
                  <a:ea typeface="Times New Roman" charset="0"/>
                  <a:cs typeface="Times New Roman" charset="0"/>
                </a:rPr>
                <a:t> 按照该顺序装包</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直至装不下为止</a:t>
              </a:r>
              <a:r>
                <a:rPr lang="en-US" altLang="zh-Hans" sz="2000" dirty="0">
                  <a:solidFill>
                    <a:schemeClr val="bg2">
                      <a:lumMod val="10000"/>
                    </a:schemeClr>
                  </a:solidFill>
                  <a:latin typeface="Times New Roman" charset="0"/>
                  <a:ea typeface="Times New Roman" charset="0"/>
                  <a:cs typeface="Times New Roman" charset="0"/>
                </a:rPr>
                <a:t>.</a:t>
              </a:r>
            </a:p>
          </p:txBody>
        </p:sp>
        <p:grpSp>
          <p:nvGrpSpPr>
            <p:cNvPr id="16" name="Group 20">
              <a:extLst>
                <a:ext uri="{FF2B5EF4-FFF2-40B4-BE49-F238E27FC236}">
                  <a16:creationId xmlns:a16="http://schemas.microsoft.com/office/drawing/2014/main" id="{4A49213C-80E9-A64C-AFBC-09F927007B66}"/>
                </a:ext>
              </a:extLst>
            </p:cNvPr>
            <p:cNvGrpSpPr>
              <a:grpSpLocks/>
            </p:cNvGrpSpPr>
            <p:nvPr/>
          </p:nvGrpSpPr>
          <p:grpSpPr bwMode="auto">
            <a:xfrm>
              <a:off x="428596" y="2928934"/>
              <a:ext cx="128588" cy="128588"/>
              <a:chOff x="2995" y="1525"/>
              <a:chExt cx="112" cy="112"/>
            </a:xfrm>
          </p:grpSpPr>
          <p:sp>
            <p:nvSpPr>
              <p:cNvPr id="17" name="AutoShape 21">
                <a:extLst>
                  <a:ext uri="{FF2B5EF4-FFF2-40B4-BE49-F238E27FC236}">
                    <a16:creationId xmlns:a16="http://schemas.microsoft.com/office/drawing/2014/main" id="{7765FD42-2A01-9240-96D5-A8DF05A48011}"/>
                  </a:ext>
                </a:extLst>
              </p:cNvPr>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18" name="AutoShape 22">
                <a:extLst>
                  <a:ext uri="{FF2B5EF4-FFF2-40B4-BE49-F238E27FC236}">
                    <a16:creationId xmlns:a16="http://schemas.microsoft.com/office/drawing/2014/main" id="{5229BE14-0C35-0741-81C7-EE13FCB4D68B}"/>
                  </a:ext>
                </a:extLst>
              </p:cNvPr>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19" name="组合 42">
            <a:extLst>
              <a:ext uri="{FF2B5EF4-FFF2-40B4-BE49-F238E27FC236}">
                <a16:creationId xmlns:a16="http://schemas.microsoft.com/office/drawing/2014/main" id="{24F398F2-F1C4-B04D-A031-7CE2B2814EEA}"/>
              </a:ext>
            </a:extLst>
          </p:cNvPr>
          <p:cNvGrpSpPr>
            <a:grpSpLocks/>
          </p:cNvGrpSpPr>
          <p:nvPr/>
        </p:nvGrpSpPr>
        <p:grpSpPr bwMode="auto">
          <a:xfrm>
            <a:off x="755576" y="3494661"/>
            <a:ext cx="7901364" cy="380480"/>
            <a:chOff x="428596" y="2825969"/>
            <a:chExt cx="7897663" cy="381055"/>
          </a:xfrm>
        </p:grpSpPr>
        <p:sp>
          <p:nvSpPr>
            <p:cNvPr id="20" name="TextBox 18">
              <a:extLst>
                <a:ext uri="{FF2B5EF4-FFF2-40B4-BE49-F238E27FC236}">
                  <a16:creationId xmlns:a16="http://schemas.microsoft.com/office/drawing/2014/main" id="{7B1BB4AA-63BD-CC4E-AB32-74BEA2FC035E}"/>
                </a:ext>
              </a:extLst>
            </p:cNvPr>
            <p:cNvSpPr txBox="1">
              <a:spLocks noChangeArrowheads="1"/>
            </p:cNvSpPr>
            <p:nvPr/>
          </p:nvSpPr>
          <p:spPr bwMode="auto">
            <a:xfrm>
              <a:off x="628471" y="2825969"/>
              <a:ext cx="7697788" cy="381055"/>
            </a:xfrm>
            <a:prstGeom prst="rect">
              <a:avLst/>
            </a:prstGeom>
            <a:noFill/>
            <a:ln w="9525">
              <a:noFill/>
              <a:miter lim="800000"/>
              <a:headEnd/>
              <a:tailEnd/>
            </a:ln>
          </p:spPr>
          <p:txBody>
            <a:bodyPr wrap="none" lIns="36000" tIns="36000" rIns="36000" bIns="36000">
              <a:spAutoFit/>
            </a:bodyPr>
            <a:lstStyle/>
            <a:p>
              <a:pPr algn="l"/>
              <a:r>
                <a:rPr lang="en-US" altLang="zh-Hans" sz="2000" dirty="0">
                  <a:solidFill>
                    <a:schemeClr val="bg2">
                      <a:lumMod val="10000"/>
                    </a:schemeClr>
                  </a:solidFill>
                  <a:latin typeface="Times New Roman" charset="0"/>
                  <a:ea typeface="Times New Roman" charset="0"/>
                  <a:cs typeface="Times New Roman" charset="0"/>
                </a:rPr>
                <a:t>Step#3:</a:t>
              </a:r>
              <a:r>
                <a:rPr lang="zh-Hans" altLang="en-US" sz="2000" dirty="0">
                  <a:solidFill>
                    <a:schemeClr val="bg2">
                      <a:lumMod val="10000"/>
                    </a:schemeClr>
                  </a:solidFill>
                  <a:latin typeface="Times New Roman" charset="0"/>
                  <a:ea typeface="Times New Roman" charset="0"/>
                  <a:cs typeface="Times New Roman" charset="0"/>
                </a:rPr>
                <a:t> 比较最大价值的物品</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以及</a:t>
              </a:r>
              <a:r>
                <a:rPr lang="en-US" altLang="zh-Hans" sz="2000" dirty="0">
                  <a:solidFill>
                    <a:schemeClr val="bg2">
                      <a:lumMod val="10000"/>
                    </a:schemeClr>
                  </a:solidFill>
                  <a:latin typeface="Times New Roman" charset="0"/>
                  <a:ea typeface="Times New Roman" charset="0"/>
                  <a:cs typeface="Times New Roman" charset="0"/>
                </a:rPr>
                <a:t>Step#2</a:t>
              </a:r>
              <a:r>
                <a:rPr lang="zh-Hans" altLang="en-US" sz="2000" dirty="0">
                  <a:solidFill>
                    <a:schemeClr val="bg2">
                      <a:lumMod val="10000"/>
                    </a:schemeClr>
                  </a:solidFill>
                  <a:latin typeface="Times New Roman" charset="0"/>
                  <a:ea typeface="Times New Roman" charset="0"/>
                  <a:cs typeface="Times New Roman" charset="0"/>
                </a:rPr>
                <a:t>得到的解</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返回更好的那个</a:t>
              </a:r>
              <a:r>
                <a:rPr lang="en-US" altLang="zh-Hans" sz="2000" dirty="0">
                  <a:solidFill>
                    <a:schemeClr val="bg2">
                      <a:lumMod val="10000"/>
                    </a:schemeClr>
                  </a:solidFill>
                  <a:latin typeface="Times New Roman" charset="0"/>
                  <a:ea typeface="Times New Roman" charset="0"/>
                  <a:cs typeface="Times New Roman" charset="0"/>
                </a:rPr>
                <a:t>.</a:t>
              </a:r>
            </a:p>
          </p:txBody>
        </p:sp>
        <p:grpSp>
          <p:nvGrpSpPr>
            <p:cNvPr id="21" name="Group 20">
              <a:extLst>
                <a:ext uri="{FF2B5EF4-FFF2-40B4-BE49-F238E27FC236}">
                  <a16:creationId xmlns:a16="http://schemas.microsoft.com/office/drawing/2014/main" id="{DCD67C83-F5E3-1740-A058-5DFB9F0E21CC}"/>
                </a:ext>
              </a:extLst>
            </p:cNvPr>
            <p:cNvGrpSpPr>
              <a:grpSpLocks/>
            </p:cNvGrpSpPr>
            <p:nvPr/>
          </p:nvGrpSpPr>
          <p:grpSpPr bwMode="auto">
            <a:xfrm>
              <a:off x="428596" y="2928934"/>
              <a:ext cx="128588" cy="128588"/>
              <a:chOff x="2995" y="1525"/>
              <a:chExt cx="112" cy="112"/>
            </a:xfrm>
          </p:grpSpPr>
          <p:sp>
            <p:nvSpPr>
              <p:cNvPr id="22" name="AutoShape 21">
                <a:extLst>
                  <a:ext uri="{FF2B5EF4-FFF2-40B4-BE49-F238E27FC236}">
                    <a16:creationId xmlns:a16="http://schemas.microsoft.com/office/drawing/2014/main" id="{6346133B-A819-0A43-B388-792EB51985BD}"/>
                  </a:ext>
                </a:extLst>
              </p:cNvPr>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23" name="AutoShape 22">
                <a:extLst>
                  <a:ext uri="{FF2B5EF4-FFF2-40B4-BE49-F238E27FC236}">
                    <a16:creationId xmlns:a16="http://schemas.microsoft.com/office/drawing/2014/main" id="{DB6FDBDD-06A6-FA4E-8B1E-FBAA1BBDF699}"/>
                  </a:ext>
                </a:extLst>
              </p:cNvPr>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30" name="组合 62">
            <a:extLst>
              <a:ext uri="{FF2B5EF4-FFF2-40B4-BE49-F238E27FC236}">
                <a16:creationId xmlns:a16="http://schemas.microsoft.com/office/drawing/2014/main" id="{2F3E6111-C8DE-A44F-93F8-D842E4DC9208}"/>
              </a:ext>
            </a:extLst>
          </p:cNvPr>
          <p:cNvGrpSpPr>
            <a:grpSpLocks/>
          </p:cNvGrpSpPr>
          <p:nvPr/>
        </p:nvGrpSpPr>
        <p:grpSpPr bwMode="auto">
          <a:xfrm>
            <a:off x="720886" y="4097013"/>
            <a:ext cx="5108338" cy="442035"/>
            <a:chOff x="3286116" y="1326858"/>
            <a:chExt cx="5107203" cy="442240"/>
          </a:xfrm>
        </p:grpSpPr>
        <p:sp>
          <p:nvSpPr>
            <p:cNvPr id="31" name="TextBox 37">
              <a:extLst>
                <a:ext uri="{FF2B5EF4-FFF2-40B4-BE49-F238E27FC236}">
                  <a16:creationId xmlns:a16="http://schemas.microsoft.com/office/drawing/2014/main" id="{C57B93D0-7D81-DF46-8C52-626C88788E54}"/>
                </a:ext>
              </a:extLst>
            </p:cNvPr>
            <p:cNvSpPr txBox="1">
              <a:spLocks noChangeArrowheads="1"/>
            </p:cNvSpPr>
            <p:nvPr/>
          </p:nvSpPr>
          <p:spPr bwMode="auto">
            <a:xfrm>
              <a:off x="3857260" y="1326858"/>
              <a:ext cx="4536059" cy="442240"/>
            </a:xfrm>
            <a:prstGeom prst="rect">
              <a:avLst/>
            </a:prstGeom>
            <a:noFill/>
            <a:ln w="9525">
              <a:noFill/>
              <a:miter lim="800000"/>
              <a:headEnd/>
              <a:tailEnd/>
            </a:ln>
          </p:spPr>
          <p:txBody>
            <a:bodyPr wrap="none" lIns="36000" tIns="36000" rIns="36000" bIns="36000">
              <a:spAutoFit/>
            </a:bodyPr>
            <a:lstStyle/>
            <a:p>
              <a:pPr algn="l">
                <a:spcBef>
                  <a:spcPts val="600"/>
                </a:spcBef>
              </a:pPr>
              <a:r>
                <a:rPr lang="zh-Hans" altLang="en-US" sz="2400" dirty="0">
                  <a:solidFill>
                    <a:schemeClr val="bg2">
                      <a:lumMod val="10000"/>
                    </a:schemeClr>
                  </a:solidFill>
                  <a:latin typeface="Times New Roman" pitchFamily="18" charset="0"/>
                  <a:cs typeface="Times New Roman" pitchFamily="18" charset="0"/>
                </a:rPr>
                <a:t>我们将证明</a:t>
              </a:r>
              <a:r>
                <a:rPr lang="en-US" altLang="zh-Hans" sz="2400" dirty="0">
                  <a:solidFill>
                    <a:schemeClr val="bg2">
                      <a:lumMod val="10000"/>
                    </a:schemeClr>
                  </a:solidFill>
                  <a:latin typeface="Times New Roman" pitchFamily="18" charset="0"/>
                  <a:cs typeface="Times New Roman" pitchFamily="18" charset="0"/>
                </a:rPr>
                <a:t>:</a:t>
              </a:r>
              <a:r>
                <a:rPr lang="zh-Hans" altLang="en-US" sz="2400" dirty="0">
                  <a:solidFill>
                    <a:schemeClr val="bg2">
                      <a:lumMod val="10000"/>
                    </a:schemeClr>
                  </a:solidFill>
                  <a:latin typeface="Times New Roman" pitchFamily="18" charset="0"/>
                  <a:cs typeface="Times New Roman" pitchFamily="18" charset="0"/>
                </a:rPr>
                <a:t> 该算法是</a:t>
              </a:r>
              <a:r>
                <a:rPr lang="en-US" altLang="zh-Hans" sz="2400" dirty="0">
                  <a:solidFill>
                    <a:schemeClr val="bg2">
                      <a:lumMod val="10000"/>
                    </a:schemeClr>
                  </a:solidFill>
                  <a:latin typeface="Times New Roman" pitchFamily="18" charset="0"/>
                  <a:cs typeface="Times New Roman" pitchFamily="18" charset="0"/>
                </a:rPr>
                <a:t>1/2-</a:t>
              </a:r>
              <a:r>
                <a:rPr lang="zh-Hans" altLang="en-US" sz="2400" dirty="0">
                  <a:solidFill>
                    <a:schemeClr val="bg2">
                      <a:lumMod val="10000"/>
                    </a:schemeClr>
                  </a:solidFill>
                  <a:latin typeface="Times New Roman" pitchFamily="18" charset="0"/>
                  <a:cs typeface="Times New Roman" pitchFamily="18" charset="0"/>
                </a:rPr>
                <a:t>近似的</a:t>
              </a:r>
              <a:r>
                <a:rPr lang="en-US" altLang="zh-Hans" sz="2400" dirty="0">
                  <a:solidFill>
                    <a:schemeClr val="bg2">
                      <a:lumMod val="10000"/>
                    </a:schemeClr>
                  </a:solidFill>
                  <a:latin typeface="Times New Roman" pitchFamily="18" charset="0"/>
                  <a:cs typeface="Times New Roman" pitchFamily="18" charset="0"/>
                </a:rPr>
                <a:t>.</a:t>
              </a:r>
              <a:endParaRPr lang="en-US" altLang="zh-CN" sz="2400" dirty="0">
                <a:solidFill>
                  <a:schemeClr val="bg2">
                    <a:lumMod val="10000"/>
                  </a:schemeClr>
                </a:solidFill>
                <a:latin typeface="Times New Roman" pitchFamily="18" charset="0"/>
                <a:cs typeface="Times New Roman" pitchFamily="18" charset="0"/>
              </a:endParaRPr>
            </a:p>
          </p:txBody>
        </p:sp>
        <p:pic>
          <p:nvPicPr>
            <p:cNvPr id="32" name="Picture 21" descr="coquette_035">
              <a:extLst>
                <a:ext uri="{FF2B5EF4-FFF2-40B4-BE49-F238E27FC236}">
                  <a16:creationId xmlns:a16="http://schemas.microsoft.com/office/drawing/2014/main" id="{94DC8EEE-2A99-5C40-AAC6-D184F6A0D3AB}"/>
                </a:ext>
              </a:extLst>
            </p:cNvPr>
            <p:cNvPicPr>
              <a:picLocks noChangeAspect="1" noChangeArrowheads="1"/>
            </p:cNvPicPr>
            <p:nvPr/>
          </p:nvPicPr>
          <p:blipFill>
            <a:blip r:embed="rId4" cstate="print"/>
            <a:srcRect/>
            <a:stretch>
              <a:fillRect/>
            </a:stretch>
          </p:blipFill>
          <p:spPr bwMode="auto">
            <a:xfrm>
              <a:off x="3286116" y="1357298"/>
              <a:ext cx="566777" cy="324000"/>
            </a:xfrm>
            <a:prstGeom prst="rect">
              <a:avLst/>
            </a:prstGeom>
            <a:noFill/>
            <a:ln w="9525">
              <a:noFill/>
              <a:miter lim="800000"/>
              <a:headEnd/>
              <a:tailEnd/>
            </a:ln>
          </p:spPr>
        </p:pic>
      </p:grpSp>
    </p:spTree>
    <p:extLst>
      <p:ext uri="{BB962C8B-B14F-4D97-AF65-F5344CB8AC3E}">
        <p14:creationId xmlns:p14="http://schemas.microsoft.com/office/powerpoint/2010/main" val="403039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B16F8B-4677-3C41-ADAE-66CD7DC2F0B4}"/>
              </a:ext>
            </a:extLst>
          </p:cNvPr>
          <p:cNvSpPr>
            <a:spLocks noGrp="1"/>
          </p:cNvSpPr>
          <p:nvPr>
            <p:ph type="title"/>
          </p:nvPr>
        </p:nvSpPr>
        <p:spPr/>
        <p:txBody>
          <a:bodyPr/>
          <a:lstStyle/>
          <a:p>
            <a:r>
              <a:rPr kumimoji="1" lang="zh-Hans" altLang="en-US" dirty="0">
                <a:solidFill>
                  <a:schemeClr val="bg2">
                    <a:lumMod val="10000"/>
                  </a:schemeClr>
                </a:solidFill>
              </a:rPr>
              <a:t>证明</a:t>
            </a:r>
            <a:endParaRPr kumimoji="1" lang="zh-CN" altLang="en-US" dirty="0">
              <a:solidFill>
                <a:schemeClr val="bg2">
                  <a:lumMod val="10000"/>
                </a:schemeClr>
              </a:solidFill>
            </a:endParaRPr>
          </a:p>
        </p:txBody>
      </p:sp>
      <p:grpSp>
        <p:nvGrpSpPr>
          <p:cNvPr id="6" name="组合 16">
            <a:extLst>
              <a:ext uri="{FF2B5EF4-FFF2-40B4-BE49-F238E27FC236}">
                <a16:creationId xmlns:a16="http://schemas.microsoft.com/office/drawing/2014/main" id="{77AA8D6C-B058-A943-BF7A-A747BFAC7D5E}"/>
              </a:ext>
            </a:extLst>
          </p:cNvPr>
          <p:cNvGrpSpPr>
            <a:grpSpLocks/>
          </p:cNvGrpSpPr>
          <p:nvPr/>
        </p:nvGrpSpPr>
        <p:grpSpPr bwMode="auto">
          <a:xfrm>
            <a:off x="467554" y="980728"/>
            <a:ext cx="5799275" cy="461665"/>
            <a:chOff x="5082972" y="1827733"/>
            <a:chExt cx="5798181" cy="461883"/>
          </a:xfrm>
        </p:grpSpPr>
        <p:pic>
          <p:nvPicPr>
            <p:cNvPr id="7" name="Picture 28" descr="02_icon">
              <a:extLst>
                <a:ext uri="{FF2B5EF4-FFF2-40B4-BE49-F238E27FC236}">
                  <a16:creationId xmlns:a16="http://schemas.microsoft.com/office/drawing/2014/main" id="{BC7705AF-A558-334F-ACF4-EEC1C8F1E585}"/>
                </a:ext>
              </a:extLst>
            </p:cNvPr>
            <p:cNvPicPr>
              <a:picLocks noChangeAspect="1" noChangeArrowheads="1"/>
            </p:cNvPicPr>
            <p:nvPr/>
          </p:nvPicPr>
          <p:blipFill>
            <a:blip r:embed="rId2" cstate="print"/>
            <a:srcRect/>
            <a:stretch>
              <a:fillRect/>
            </a:stretch>
          </p:blipFill>
          <p:spPr bwMode="auto">
            <a:xfrm>
              <a:off x="5082972" y="1890719"/>
              <a:ext cx="322441" cy="398897"/>
            </a:xfrm>
            <a:prstGeom prst="rect">
              <a:avLst/>
            </a:prstGeom>
            <a:noFill/>
            <a:ln w="9525">
              <a:noFill/>
              <a:miter lim="800000"/>
              <a:headEnd/>
              <a:tailEnd/>
            </a:ln>
          </p:spPr>
        </p:pic>
        <p:sp>
          <p:nvSpPr>
            <p:cNvPr id="8" name="Text Box 33">
              <a:extLst>
                <a:ext uri="{FF2B5EF4-FFF2-40B4-BE49-F238E27FC236}">
                  <a16:creationId xmlns:a16="http://schemas.microsoft.com/office/drawing/2014/main" id="{0225FBC0-55D7-7941-820A-29CDE37A43FC}"/>
                </a:ext>
              </a:extLst>
            </p:cNvPr>
            <p:cNvSpPr txBox="1">
              <a:spLocks noChangeArrowheads="1"/>
            </p:cNvSpPr>
            <p:nvPr/>
          </p:nvSpPr>
          <p:spPr bwMode="black">
            <a:xfrm>
              <a:off x="5381966" y="1827733"/>
              <a:ext cx="5499187" cy="461883"/>
            </a:xfrm>
            <a:prstGeom prst="rect">
              <a:avLst/>
            </a:prstGeom>
            <a:noFill/>
            <a:ln w="9525">
              <a:solidFill>
                <a:srgbClr val="FF0000"/>
              </a:solidFill>
              <a:miter lim="800000"/>
              <a:headEnd/>
              <a:tailEnd/>
            </a:ln>
          </p:spPr>
          <p:txBody>
            <a:bodyPr wrap="none">
              <a:spAutoFit/>
            </a:bodyPr>
            <a:lstStyle/>
            <a:p>
              <a:pPr algn="l">
                <a:spcBef>
                  <a:spcPts val="0"/>
                </a:spcBef>
              </a:pPr>
              <a:r>
                <a:rPr lang="zh-CN" altLang="en-US" sz="2400" dirty="0">
                  <a:solidFill>
                    <a:schemeClr val="bg2">
                      <a:lumMod val="10000"/>
                    </a:schemeClr>
                  </a:solidFill>
                  <a:latin typeface="Times New Roman" pitchFamily="18" charset="0"/>
                  <a:cs typeface="Times New Roman" pitchFamily="18" charset="0"/>
                </a:rPr>
                <a:t>证</a:t>
              </a:r>
              <a:r>
                <a:rPr lang="en-US" altLang="zh-Hans" sz="2400" dirty="0">
                  <a:solidFill>
                    <a:schemeClr val="bg2">
                      <a:lumMod val="10000"/>
                    </a:schemeClr>
                  </a:solidFill>
                  <a:latin typeface="Times New Roman" pitchFamily="18" charset="0"/>
                  <a:cs typeface="Times New Roman" pitchFamily="18" charset="0"/>
                </a:rPr>
                <a:t>:</a:t>
              </a:r>
              <a:r>
                <a:rPr lang="zh-Hans" altLang="en-US" sz="2400" dirty="0">
                  <a:solidFill>
                    <a:schemeClr val="bg2">
                      <a:lumMod val="10000"/>
                    </a:schemeClr>
                  </a:solidFill>
                  <a:latin typeface="Times New Roman" pitchFamily="18" charset="0"/>
                  <a:cs typeface="Times New Roman" pitchFamily="18" charset="0"/>
                </a:rPr>
                <a:t> 三步</a:t>
              </a:r>
              <a:r>
                <a:rPr lang="en-US" altLang="zh-Hans" sz="2400" dirty="0">
                  <a:solidFill>
                    <a:schemeClr val="bg2">
                      <a:lumMod val="10000"/>
                    </a:schemeClr>
                  </a:solidFill>
                  <a:latin typeface="Times New Roman" pitchFamily="18" charset="0"/>
                  <a:cs typeface="Times New Roman" pitchFamily="18" charset="0"/>
                </a:rPr>
                <a:t>Greedy-Knapsack</a:t>
              </a:r>
              <a:r>
                <a:rPr lang="zh-Hans" altLang="en-US" sz="2400" dirty="0">
                  <a:solidFill>
                    <a:schemeClr val="bg2">
                      <a:lumMod val="10000"/>
                    </a:schemeClr>
                  </a:solidFill>
                  <a:latin typeface="Times New Roman" pitchFamily="18" charset="0"/>
                  <a:cs typeface="Times New Roman" pitchFamily="18" charset="0"/>
                </a:rPr>
                <a:t>的近似比为</a:t>
              </a:r>
              <a:r>
                <a:rPr lang="en-US" altLang="zh-Hans" sz="2400" dirty="0">
                  <a:solidFill>
                    <a:schemeClr val="bg2">
                      <a:lumMod val="10000"/>
                    </a:schemeClr>
                  </a:solidFill>
                  <a:latin typeface="Times New Roman" pitchFamily="18" charset="0"/>
                  <a:cs typeface="Times New Roman" pitchFamily="18" charset="0"/>
                </a:rPr>
                <a:t>1/2.</a:t>
              </a:r>
              <a:endParaRPr lang="en-US" altLang="zh-CN" sz="2000" dirty="0">
                <a:solidFill>
                  <a:schemeClr val="bg2">
                    <a:lumMod val="10000"/>
                  </a:schemeClr>
                </a:solidFill>
                <a:latin typeface="Times New Roman" pitchFamily="18" charset="0"/>
                <a:cs typeface="Times New Roman" pitchFamily="18" charset="0"/>
              </a:endParaRPr>
            </a:p>
          </p:txBody>
        </p:sp>
      </p:grpSp>
      <p:grpSp>
        <p:nvGrpSpPr>
          <p:cNvPr id="9" name="组合 42">
            <a:extLst>
              <a:ext uri="{FF2B5EF4-FFF2-40B4-BE49-F238E27FC236}">
                <a16:creationId xmlns:a16="http://schemas.microsoft.com/office/drawing/2014/main" id="{E24BB1B2-08F7-5F48-9BD6-D7E166D00C20}"/>
              </a:ext>
            </a:extLst>
          </p:cNvPr>
          <p:cNvGrpSpPr>
            <a:grpSpLocks/>
          </p:cNvGrpSpPr>
          <p:nvPr/>
        </p:nvGrpSpPr>
        <p:grpSpPr bwMode="auto">
          <a:xfrm>
            <a:off x="750484" y="1566419"/>
            <a:ext cx="6221417" cy="380480"/>
            <a:chOff x="428596" y="2825969"/>
            <a:chExt cx="6218500" cy="381055"/>
          </a:xfrm>
        </p:grpSpPr>
        <p:sp>
          <p:nvSpPr>
            <p:cNvPr id="10" name="TextBox 18">
              <a:extLst>
                <a:ext uri="{FF2B5EF4-FFF2-40B4-BE49-F238E27FC236}">
                  <a16:creationId xmlns:a16="http://schemas.microsoft.com/office/drawing/2014/main" id="{A10EB5AA-3D78-C240-A785-10E57B2D4A54}"/>
                </a:ext>
              </a:extLst>
            </p:cNvPr>
            <p:cNvSpPr txBox="1">
              <a:spLocks noChangeArrowheads="1"/>
            </p:cNvSpPr>
            <p:nvPr/>
          </p:nvSpPr>
          <p:spPr bwMode="auto">
            <a:xfrm>
              <a:off x="628471" y="2825969"/>
              <a:ext cx="6018625"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bg2">
                      <a:lumMod val="10000"/>
                    </a:schemeClr>
                  </a:solidFill>
                  <a:latin typeface="Times New Roman" charset="0"/>
                  <a:ea typeface="Times New Roman" charset="0"/>
                  <a:cs typeface="Times New Roman" charset="0"/>
                </a:rPr>
                <a:t>贪心解的背包价值</a:t>
              </a:r>
              <a:r>
                <a:rPr lang="en-US" altLang="zh-CN" sz="2000" dirty="0">
                  <a:solidFill>
                    <a:schemeClr val="bg2">
                      <a:lumMod val="10000"/>
                    </a:schemeClr>
                  </a:solidFill>
                  <a:latin typeface="Times New Roman" charset="0"/>
                  <a:ea typeface="Times New Roman" charset="0"/>
                  <a:cs typeface="Times New Roman" charset="0"/>
                </a:rPr>
                <a:t>(</a:t>
              </a:r>
              <a:r>
                <a:rPr lang="en-US" altLang="zh-Hans" sz="2000" dirty="0">
                  <a:solidFill>
                    <a:schemeClr val="bg2">
                      <a:lumMod val="10000"/>
                    </a:schemeClr>
                  </a:solidFill>
                  <a:latin typeface="Times New Roman" charset="0"/>
                  <a:ea typeface="Times New Roman" charset="0"/>
                  <a:cs typeface="Times New Roman" charset="0"/>
                </a:rPr>
                <a:t>G)</a:t>
              </a:r>
              <a:r>
                <a:rPr lang="zh-CN" altLang="en-US" sz="2000" dirty="0">
                  <a:solidFill>
                    <a:schemeClr val="bg2">
                      <a:lumMod val="10000"/>
                    </a:schemeClr>
                  </a:solidFill>
                  <a:latin typeface="Times New Roman" charset="0"/>
                  <a:ea typeface="Times New Roman" charset="0"/>
                  <a:cs typeface="Times New Roman" charset="0"/>
                </a:rPr>
                <a:t>不会比最佳解</a:t>
              </a:r>
              <a:r>
                <a:rPr lang="en-US" altLang="zh-CN" sz="2000" dirty="0">
                  <a:solidFill>
                    <a:schemeClr val="bg2">
                      <a:lumMod val="10000"/>
                    </a:schemeClr>
                  </a:solidFill>
                  <a:latin typeface="Times New Roman" charset="0"/>
                  <a:ea typeface="Times New Roman" charset="0"/>
                  <a:cs typeface="Times New Roman" charset="0"/>
                </a:rPr>
                <a:t>(</a:t>
              </a:r>
              <a:r>
                <a:rPr lang="en-US" altLang="zh-Hans" sz="2000" dirty="0">
                  <a:solidFill>
                    <a:schemeClr val="bg2">
                      <a:lumMod val="10000"/>
                    </a:schemeClr>
                  </a:solidFill>
                  <a:latin typeface="Times New Roman" charset="0"/>
                  <a:ea typeface="Times New Roman" charset="0"/>
                  <a:cs typeface="Times New Roman" charset="0"/>
                </a:rPr>
                <a:t>OPT)</a:t>
              </a:r>
              <a:r>
                <a:rPr lang="zh-CN" altLang="en-US" sz="2000" dirty="0">
                  <a:solidFill>
                    <a:schemeClr val="bg2">
                      <a:lumMod val="10000"/>
                    </a:schemeClr>
                  </a:solidFill>
                  <a:latin typeface="Times New Roman" charset="0"/>
                  <a:ea typeface="Times New Roman" charset="0"/>
                  <a:cs typeface="Times New Roman" charset="0"/>
                </a:rPr>
                <a:t>的一半更差</a:t>
              </a:r>
              <a:r>
                <a:rPr lang="en-US" altLang="zh-CN" sz="2000" dirty="0">
                  <a:solidFill>
                    <a:schemeClr val="bg2">
                      <a:lumMod val="10000"/>
                    </a:schemeClr>
                  </a:solidFill>
                  <a:latin typeface="Times New Roman" charset="0"/>
                  <a:ea typeface="Times New Roman" charset="0"/>
                  <a:cs typeface="Times New Roman" charset="0"/>
                </a:rPr>
                <a:t>.</a:t>
              </a:r>
            </a:p>
          </p:txBody>
        </p:sp>
        <p:grpSp>
          <p:nvGrpSpPr>
            <p:cNvPr id="11" name="Group 20">
              <a:extLst>
                <a:ext uri="{FF2B5EF4-FFF2-40B4-BE49-F238E27FC236}">
                  <a16:creationId xmlns:a16="http://schemas.microsoft.com/office/drawing/2014/main" id="{481EBD7F-9102-8647-853E-AFB9EA4603F4}"/>
                </a:ext>
              </a:extLst>
            </p:cNvPr>
            <p:cNvGrpSpPr>
              <a:grpSpLocks/>
            </p:cNvGrpSpPr>
            <p:nvPr/>
          </p:nvGrpSpPr>
          <p:grpSpPr bwMode="auto">
            <a:xfrm>
              <a:off x="428596" y="2928934"/>
              <a:ext cx="128588" cy="128588"/>
              <a:chOff x="2995" y="1525"/>
              <a:chExt cx="112" cy="112"/>
            </a:xfrm>
          </p:grpSpPr>
          <p:sp>
            <p:nvSpPr>
              <p:cNvPr id="12" name="AutoShape 21">
                <a:extLst>
                  <a:ext uri="{FF2B5EF4-FFF2-40B4-BE49-F238E27FC236}">
                    <a16:creationId xmlns:a16="http://schemas.microsoft.com/office/drawing/2014/main" id="{D7BE5F2A-27D6-7C42-A58C-DEAB78AB8C37}"/>
                  </a:ext>
                </a:extLst>
              </p:cNvPr>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13" name="AutoShape 22">
                <a:extLst>
                  <a:ext uri="{FF2B5EF4-FFF2-40B4-BE49-F238E27FC236}">
                    <a16:creationId xmlns:a16="http://schemas.microsoft.com/office/drawing/2014/main" id="{78CFD2A9-070A-764A-9B2D-D87B785AAF5A}"/>
                  </a:ext>
                </a:extLst>
              </p:cNvPr>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17" name="组合 62">
            <a:extLst>
              <a:ext uri="{FF2B5EF4-FFF2-40B4-BE49-F238E27FC236}">
                <a16:creationId xmlns:a16="http://schemas.microsoft.com/office/drawing/2014/main" id="{06A0AA59-6E90-C245-A75D-A2022FA27430}"/>
              </a:ext>
            </a:extLst>
          </p:cNvPr>
          <p:cNvGrpSpPr>
            <a:grpSpLocks/>
          </p:cNvGrpSpPr>
          <p:nvPr/>
        </p:nvGrpSpPr>
        <p:grpSpPr bwMode="auto">
          <a:xfrm>
            <a:off x="1187624" y="3584443"/>
            <a:ext cx="7320487" cy="996033"/>
            <a:chOff x="3286116" y="1336849"/>
            <a:chExt cx="7318813" cy="996493"/>
          </a:xfrm>
        </p:grpSpPr>
        <mc:AlternateContent xmlns:mc="http://schemas.openxmlformats.org/markup-compatibility/2006" xmlns:a14="http://schemas.microsoft.com/office/drawing/2010/main">
          <mc:Choice Requires="a14">
            <p:sp>
              <p:nvSpPr>
                <p:cNvPr id="18" name="TextBox 37">
                  <a:extLst>
                    <a:ext uri="{FF2B5EF4-FFF2-40B4-BE49-F238E27FC236}">
                      <a16:creationId xmlns:a16="http://schemas.microsoft.com/office/drawing/2014/main" id="{96163538-42BE-BD40-B645-787DBCC8CB65}"/>
                    </a:ext>
                  </a:extLst>
                </p:cNvPr>
                <p:cNvSpPr txBox="1">
                  <a:spLocks noChangeArrowheads="1"/>
                </p:cNvSpPr>
                <p:nvPr/>
              </p:nvSpPr>
              <p:spPr bwMode="auto">
                <a:xfrm>
                  <a:off x="3857261" y="1336849"/>
                  <a:ext cx="6747668" cy="996493"/>
                </a:xfrm>
                <a:prstGeom prst="rect">
                  <a:avLst/>
                </a:prstGeom>
                <a:noFill/>
                <a:ln w="9525">
                  <a:noFill/>
                  <a:miter lim="800000"/>
                  <a:headEnd/>
                  <a:tailEnd/>
                </a:ln>
              </p:spPr>
              <p:txBody>
                <a:bodyPr wrap="none" lIns="36000" tIns="36000" rIns="36000" bIns="36000">
                  <a:spAutoFit/>
                </a:bodyPr>
                <a:lstStyle/>
                <a:p>
                  <a:pPr algn="l"/>
                  <a:r>
                    <a:rPr lang="en-US" altLang="zh-Hans" sz="2000" dirty="0">
                      <a:solidFill>
                        <a:schemeClr val="bg2">
                          <a:lumMod val="10000"/>
                        </a:schemeClr>
                      </a:solidFill>
                      <a:latin typeface="Times New Roman" charset="0"/>
                      <a:ea typeface="Times New Roman" charset="0"/>
                      <a:cs typeface="Times New Roman" charset="0"/>
                    </a:rPr>
                    <a:t>Step#3</a:t>
                  </a:r>
                  <a:r>
                    <a:rPr lang="zh-Hans" altLang="en-US" sz="2000" dirty="0">
                      <a:solidFill>
                        <a:schemeClr val="bg2">
                          <a:lumMod val="10000"/>
                        </a:schemeClr>
                      </a:solidFill>
                      <a:latin typeface="Times New Roman" charset="0"/>
                      <a:ea typeface="Times New Roman" charset="0"/>
                      <a:cs typeface="Times New Roman" charset="0"/>
                    </a:rPr>
                    <a:t>结束时得到的解</a:t>
                  </a:r>
                  <a:r>
                    <a:rPr lang="en-US" altLang="zh-Hans" sz="2000" dirty="0">
                      <a:solidFill>
                        <a:schemeClr val="bg2">
                          <a:lumMod val="10000"/>
                        </a:schemeClr>
                      </a:solidFill>
                      <a:latin typeface="Times New Roman" charset="0"/>
                      <a:ea typeface="Times New Roman" charset="0"/>
                      <a:cs typeface="Times New Roman" charset="0"/>
                    </a:rPr>
                    <a:t>G</a:t>
                  </a:r>
                  <a:r>
                    <a:rPr lang="zh-Hans" altLang="en-US" sz="2000" dirty="0">
                      <a:solidFill>
                        <a:schemeClr val="bg2">
                          <a:lumMod val="10000"/>
                        </a:schemeClr>
                      </a:solidFill>
                      <a:latin typeface="Times New Roman" charset="0"/>
                      <a:ea typeface="Times New Roman" charset="0"/>
                      <a:cs typeface="Times New Roman" charset="0"/>
                    </a:rPr>
                    <a:t>必然满足</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回忆</a:t>
                  </a:r>
                  <a:r>
                    <a:rPr lang="en-US" altLang="zh-Hans" sz="2000" dirty="0">
                      <a:solidFill>
                        <a:schemeClr val="bg2">
                          <a:lumMod val="10000"/>
                        </a:schemeClr>
                      </a:solidFill>
                      <a:latin typeface="Times New Roman" charset="0"/>
                      <a:ea typeface="Times New Roman" charset="0"/>
                      <a:cs typeface="Times New Roman" charset="0"/>
                    </a:rPr>
                    <a:t>Step#3</a:t>
                  </a:r>
                  <a:r>
                    <a:rPr lang="zh-Hans" altLang="en-US" sz="2000" dirty="0">
                      <a:solidFill>
                        <a:schemeClr val="bg2">
                          <a:lumMod val="10000"/>
                        </a:schemeClr>
                      </a:solidFill>
                      <a:latin typeface="Times New Roman" charset="0"/>
                      <a:ea typeface="Times New Roman" charset="0"/>
                      <a:cs typeface="Times New Roman" charset="0"/>
                    </a:rPr>
                    <a:t>的比较规则</a:t>
                  </a:r>
                  <a:r>
                    <a:rPr lang="en-US" altLang="zh-Hans" sz="2000" dirty="0">
                      <a:solidFill>
                        <a:schemeClr val="bg2">
                          <a:lumMod val="10000"/>
                        </a:schemeClr>
                      </a:solidFill>
                      <a:latin typeface="Times New Roman" charset="0"/>
                      <a:ea typeface="Times New Roman" charset="0"/>
                      <a:cs typeface="Times New Roman" charset="0"/>
                    </a:rPr>
                    <a:t>)</a:t>
                  </a:r>
                </a:p>
                <a:p>
                  <a:pPr algn="l"/>
                  <a:r>
                    <a:rPr lang="zh-Hans" altLang="en-US" sz="2000" b="1" dirty="0">
                      <a:solidFill>
                        <a:schemeClr val="bg2">
                          <a:lumMod val="10000"/>
                        </a:schemeClr>
                      </a:solidFill>
                      <a:ea typeface="Times New Roman" charset="0"/>
                      <a:cs typeface="Times New Roman" charset="0"/>
                    </a:rPr>
                    <a:t>       </a:t>
                  </a:r>
                  <a14:m>
                    <m:oMath xmlns:m="http://schemas.openxmlformats.org/officeDocument/2006/math">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𝑮</m:t>
                      </m:r>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m:t>
                      </m:r>
                      <m:sSub>
                        <m:sSub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𝑽</m:t>
                          </m:r>
                        </m:e>
                        <m: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𝒌</m:t>
                          </m:r>
                        </m:sub>
                      </m:sSub>
                    </m:oMath>
                  </a14:m>
                  <a:r>
                    <a:rPr lang="en-US" altLang="zh-Hans" sz="2000" dirty="0">
                      <a:solidFill>
                        <a:schemeClr val="bg2">
                          <a:lumMod val="10000"/>
                        </a:schemeClr>
                      </a:solidFill>
                      <a:latin typeface="Times New Roman" charset="0"/>
                      <a:ea typeface="Times New Roman" charset="0"/>
                      <a:cs typeface="Times New Roman" charset="0"/>
                    </a:rPr>
                    <a:t> </a:t>
                  </a:r>
                  <a:r>
                    <a:rPr lang="zh-Hans" altLang="en-US" sz="2000" dirty="0">
                      <a:solidFill>
                        <a:schemeClr val="bg2">
                          <a:lumMod val="10000"/>
                        </a:schemeClr>
                      </a:solidFill>
                      <a:latin typeface="Times New Roman" charset="0"/>
                      <a:ea typeface="Times New Roman" charset="0"/>
                      <a:cs typeface="Times New Roman" charset="0"/>
                    </a:rPr>
                    <a:t>    </a:t>
                  </a:r>
                  <a:r>
                    <a:rPr lang="en-US" altLang="zh-Hans" sz="2000" dirty="0">
                      <a:solidFill>
                        <a:schemeClr val="bg2">
                          <a:lumMod val="10000"/>
                        </a:schemeClr>
                      </a:solidFill>
                      <a:latin typeface="Times New Roman" charset="0"/>
                      <a:ea typeface="Times New Roman" charset="0"/>
                      <a:cs typeface="Times New Roman" charset="0"/>
                    </a:rPr>
                    <a:t>(1) </a:t>
                  </a:r>
                </a:p>
                <a:p>
                  <a:pPr algn="l"/>
                  <a:r>
                    <a:rPr lang="zh-Hans" altLang="en-US" sz="2000" dirty="0">
                      <a:solidFill>
                        <a:schemeClr val="bg2">
                          <a:lumMod val="10000"/>
                        </a:schemeClr>
                      </a:solidFill>
                      <a:ea typeface="Times New Roman" charset="0"/>
                      <a:cs typeface="Times New Roman" charset="0"/>
                    </a:rPr>
                    <a:t>       </a:t>
                  </a:r>
                  <a14:m>
                    <m:oMath xmlns:m="http://schemas.openxmlformats.org/officeDocument/2006/math">
                      <m:r>
                        <a:rPr lang="en-US" altLang="zh-Hans" sz="2000" i="1">
                          <a:solidFill>
                            <a:schemeClr val="bg2">
                              <a:lumMod val="10000"/>
                            </a:schemeClr>
                          </a:solidFill>
                          <a:latin typeface="Cambria Math" panose="02040503050406030204" pitchFamily="18" charset="0"/>
                          <a:ea typeface="Times New Roman" charset="0"/>
                          <a:cs typeface="Times New Roman" charset="0"/>
                        </a:rPr>
                        <m:t>𝑮</m:t>
                      </m:r>
                      <m:r>
                        <a:rPr lang="en-US" altLang="zh-Hans" sz="2000" i="1">
                          <a:solidFill>
                            <a:schemeClr val="bg2">
                              <a:lumMod val="10000"/>
                            </a:schemeClr>
                          </a:solidFill>
                          <a:latin typeface="Cambria Math" panose="02040503050406030204" pitchFamily="18" charset="0"/>
                          <a:ea typeface="Times New Roman" charset="0"/>
                          <a:cs typeface="Times New Roman" charset="0"/>
                        </a:rPr>
                        <m:t>≥</m:t>
                      </m:r>
                      <m:sSub>
                        <m:sSub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𝒗</m:t>
                          </m:r>
                        </m:e>
                        <m: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𝒌</m:t>
                          </m:r>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m:t>
                          </m:r>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𝟏</m:t>
                          </m:r>
                        </m:sub>
                      </m:sSub>
                    </m:oMath>
                  </a14:m>
                  <a:r>
                    <a:rPr lang="en-US" altLang="zh-Hans" sz="2000" dirty="0">
                      <a:solidFill>
                        <a:schemeClr val="bg2">
                          <a:lumMod val="10000"/>
                        </a:schemeClr>
                      </a:solidFill>
                      <a:latin typeface="Times New Roman" charset="0"/>
                      <a:ea typeface="Times New Roman" charset="0"/>
                      <a:cs typeface="Times New Roman" charset="0"/>
                    </a:rPr>
                    <a:t> (2)</a:t>
                  </a:r>
                </a:p>
              </p:txBody>
            </p:sp>
          </mc:Choice>
          <mc:Fallback xmlns="">
            <p:sp>
              <p:nvSpPr>
                <p:cNvPr id="18" name="TextBox 37">
                  <a:extLst>
                    <a:ext uri="{FF2B5EF4-FFF2-40B4-BE49-F238E27FC236}">
                      <a16:creationId xmlns:a16="http://schemas.microsoft.com/office/drawing/2014/main" id="{96163538-42BE-BD40-B645-787DBCC8CB65}"/>
                    </a:ext>
                  </a:extLst>
                </p:cNvPr>
                <p:cNvSpPr txBox="1">
                  <a:spLocks noRot="1" noChangeAspect="1" noMove="1" noResize="1" noEditPoints="1" noAdjustHandles="1" noChangeArrowheads="1" noChangeShapeType="1" noTextEdit="1"/>
                </p:cNvSpPr>
                <p:nvPr/>
              </p:nvSpPr>
              <p:spPr bwMode="auto">
                <a:xfrm>
                  <a:off x="3857261" y="1336849"/>
                  <a:ext cx="6747668" cy="996493"/>
                </a:xfrm>
                <a:prstGeom prst="rect">
                  <a:avLst/>
                </a:prstGeom>
                <a:blipFill>
                  <a:blip r:embed="rId3"/>
                  <a:stretch>
                    <a:fillRect l="-1807" t="-5521" b="-11043"/>
                  </a:stretch>
                </a:blipFill>
                <a:ln w="9525">
                  <a:noFill/>
                  <a:miter lim="800000"/>
                  <a:headEnd/>
                  <a:tailEnd/>
                </a:ln>
              </p:spPr>
              <p:txBody>
                <a:bodyPr/>
                <a:lstStyle/>
                <a:p>
                  <a:r>
                    <a:rPr lang="zh-CN" altLang="en-US">
                      <a:noFill/>
                    </a:rPr>
                    <a:t> </a:t>
                  </a:r>
                </a:p>
              </p:txBody>
            </p:sp>
          </mc:Fallback>
        </mc:AlternateContent>
        <p:pic>
          <p:nvPicPr>
            <p:cNvPr id="19" name="Picture 21" descr="coquette_035">
              <a:extLst>
                <a:ext uri="{FF2B5EF4-FFF2-40B4-BE49-F238E27FC236}">
                  <a16:creationId xmlns:a16="http://schemas.microsoft.com/office/drawing/2014/main" id="{7E88BA3A-9DF0-D549-A344-22661E6F6897}"/>
                </a:ext>
              </a:extLst>
            </p:cNvPr>
            <p:cNvPicPr>
              <a:picLocks noChangeAspect="1" noChangeArrowheads="1"/>
            </p:cNvPicPr>
            <p:nvPr/>
          </p:nvPicPr>
          <p:blipFill>
            <a:blip r:embed="rId4" cstate="print"/>
            <a:srcRect/>
            <a:stretch>
              <a:fillRect/>
            </a:stretch>
          </p:blipFill>
          <p:spPr bwMode="auto">
            <a:xfrm>
              <a:off x="3286116" y="1357298"/>
              <a:ext cx="566777" cy="324000"/>
            </a:xfrm>
            <a:prstGeom prst="rect">
              <a:avLst/>
            </a:prstGeom>
            <a:noFill/>
            <a:ln w="9525">
              <a:noFill/>
              <a:miter lim="800000"/>
              <a:headEnd/>
              <a:tailEnd/>
            </a:ln>
          </p:spPr>
        </p:pic>
      </p:grpSp>
      <p:grpSp>
        <p:nvGrpSpPr>
          <p:cNvPr id="20" name="组合 42">
            <a:extLst>
              <a:ext uri="{FF2B5EF4-FFF2-40B4-BE49-F238E27FC236}">
                <a16:creationId xmlns:a16="http://schemas.microsoft.com/office/drawing/2014/main" id="{C4035345-3622-694C-AF4D-2347BE248B76}"/>
              </a:ext>
            </a:extLst>
          </p:cNvPr>
          <p:cNvGrpSpPr>
            <a:grpSpLocks/>
          </p:cNvGrpSpPr>
          <p:nvPr/>
        </p:nvGrpSpPr>
        <p:grpSpPr bwMode="auto">
          <a:xfrm>
            <a:off x="755575" y="2070925"/>
            <a:ext cx="1989488" cy="380480"/>
            <a:chOff x="428596" y="2825969"/>
            <a:chExt cx="1988560" cy="381055"/>
          </a:xfrm>
        </p:grpSpPr>
        <p:sp>
          <p:nvSpPr>
            <p:cNvPr id="21" name="TextBox 18">
              <a:extLst>
                <a:ext uri="{FF2B5EF4-FFF2-40B4-BE49-F238E27FC236}">
                  <a16:creationId xmlns:a16="http://schemas.microsoft.com/office/drawing/2014/main" id="{DD71E8B6-EB4B-CC47-BBFC-FE2CE513F1BC}"/>
                </a:ext>
              </a:extLst>
            </p:cNvPr>
            <p:cNvSpPr txBox="1">
              <a:spLocks noChangeArrowheads="1"/>
            </p:cNvSpPr>
            <p:nvPr/>
          </p:nvSpPr>
          <p:spPr bwMode="auto">
            <a:xfrm>
              <a:off x="628471" y="2825969"/>
              <a:ext cx="1788685" cy="381055"/>
            </a:xfrm>
            <a:prstGeom prst="rect">
              <a:avLst/>
            </a:prstGeom>
            <a:noFill/>
            <a:ln w="9525">
              <a:noFill/>
              <a:miter lim="800000"/>
              <a:headEnd/>
              <a:tailEnd/>
            </a:ln>
          </p:spPr>
          <p:txBody>
            <a:bodyPr wrap="none" lIns="36000" tIns="36000" rIns="36000" bIns="36000">
              <a:spAutoFit/>
            </a:bodyPr>
            <a:lstStyle/>
            <a:p>
              <a:pPr algn="l"/>
              <a:r>
                <a:rPr lang="zh-Hans" altLang="en-US" sz="2000" dirty="0">
                  <a:solidFill>
                    <a:schemeClr val="bg2">
                      <a:lumMod val="10000"/>
                    </a:schemeClr>
                  </a:solidFill>
                  <a:latin typeface="Times New Roman" charset="0"/>
                  <a:ea typeface="Times New Roman" charset="0"/>
                  <a:cs typeface="Times New Roman" charset="0"/>
                </a:rPr>
                <a:t>待证</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a:t>
              </a:r>
              <a:r>
                <a:rPr lang="en-US" altLang="zh-Hans" sz="2000" dirty="0">
                  <a:solidFill>
                    <a:srgbClr val="FF0000"/>
                  </a:solidFill>
                  <a:latin typeface="Times New Roman" charset="0"/>
                  <a:ea typeface="Times New Roman" charset="0"/>
                  <a:cs typeface="Times New Roman" charset="0"/>
                </a:rPr>
                <a:t>2G</a:t>
              </a:r>
              <a:r>
                <a:rPr lang="zh-Hans" altLang="en-US" sz="2000" dirty="0">
                  <a:solidFill>
                    <a:srgbClr val="FF0000"/>
                  </a:solidFill>
                  <a:latin typeface="Times New Roman" charset="0"/>
                  <a:ea typeface="Times New Roman" charset="0"/>
                  <a:cs typeface="Times New Roman" charset="0"/>
                </a:rPr>
                <a:t> ≥ </a:t>
              </a:r>
              <a:r>
                <a:rPr lang="en-US" altLang="zh-Hans" sz="2000" dirty="0">
                  <a:solidFill>
                    <a:srgbClr val="FF0000"/>
                  </a:solidFill>
                  <a:latin typeface="Times New Roman" charset="0"/>
                  <a:ea typeface="Times New Roman" charset="0"/>
                  <a:cs typeface="Times New Roman" charset="0"/>
                </a:rPr>
                <a:t>OPT</a:t>
              </a:r>
            </a:p>
          </p:txBody>
        </p:sp>
        <p:grpSp>
          <p:nvGrpSpPr>
            <p:cNvPr id="22" name="Group 20">
              <a:extLst>
                <a:ext uri="{FF2B5EF4-FFF2-40B4-BE49-F238E27FC236}">
                  <a16:creationId xmlns:a16="http://schemas.microsoft.com/office/drawing/2014/main" id="{F9FE72A0-B429-7741-8410-3F2AA12697E3}"/>
                </a:ext>
              </a:extLst>
            </p:cNvPr>
            <p:cNvGrpSpPr>
              <a:grpSpLocks/>
            </p:cNvGrpSpPr>
            <p:nvPr/>
          </p:nvGrpSpPr>
          <p:grpSpPr bwMode="auto">
            <a:xfrm>
              <a:off x="428596" y="2928934"/>
              <a:ext cx="128588" cy="128588"/>
              <a:chOff x="2995" y="1525"/>
              <a:chExt cx="112" cy="112"/>
            </a:xfrm>
          </p:grpSpPr>
          <p:sp>
            <p:nvSpPr>
              <p:cNvPr id="23" name="AutoShape 21">
                <a:extLst>
                  <a:ext uri="{FF2B5EF4-FFF2-40B4-BE49-F238E27FC236}">
                    <a16:creationId xmlns:a16="http://schemas.microsoft.com/office/drawing/2014/main" id="{8AB7F130-807D-9943-9FE2-7DAC366F9C2A}"/>
                  </a:ext>
                </a:extLst>
              </p:cNvPr>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24" name="AutoShape 22">
                <a:extLst>
                  <a:ext uri="{FF2B5EF4-FFF2-40B4-BE49-F238E27FC236}">
                    <a16:creationId xmlns:a16="http://schemas.microsoft.com/office/drawing/2014/main" id="{B4CCA7E1-C0AE-6A43-8D90-6ED3B415E44F}"/>
                  </a:ext>
                </a:extLst>
              </p:cNvPr>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25" name="组合 42">
            <a:extLst>
              <a:ext uri="{FF2B5EF4-FFF2-40B4-BE49-F238E27FC236}">
                <a16:creationId xmlns:a16="http://schemas.microsoft.com/office/drawing/2014/main" id="{81DBC91D-A660-844D-8767-DD54B6230F93}"/>
              </a:ext>
            </a:extLst>
          </p:cNvPr>
          <p:cNvGrpSpPr>
            <a:grpSpLocks/>
          </p:cNvGrpSpPr>
          <p:nvPr/>
        </p:nvGrpSpPr>
        <p:grpSpPr bwMode="auto">
          <a:xfrm>
            <a:off x="1060477" y="3079937"/>
            <a:ext cx="4430862" cy="380480"/>
            <a:chOff x="428596" y="2825969"/>
            <a:chExt cx="4428784" cy="381055"/>
          </a:xfrm>
        </p:grpSpPr>
        <p:sp>
          <p:nvSpPr>
            <p:cNvPr id="26" name="TextBox 18">
              <a:extLst>
                <a:ext uri="{FF2B5EF4-FFF2-40B4-BE49-F238E27FC236}">
                  <a16:creationId xmlns:a16="http://schemas.microsoft.com/office/drawing/2014/main" id="{64AFD185-D426-B644-B681-9B9A5397DA3F}"/>
                </a:ext>
              </a:extLst>
            </p:cNvPr>
            <p:cNvSpPr txBox="1">
              <a:spLocks noChangeArrowheads="1"/>
            </p:cNvSpPr>
            <p:nvPr/>
          </p:nvSpPr>
          <p:spPr bwMode="auto">
            <a:xfrm>
              <a:off x="628471" y="2825969"/>
              <a:ext cx="4228909" cy="381055"/>
            </a:xfrm>
            <a:prstGeom prst="rect">
              <a:avLst/>
            </a:prstGeom>
            <a:noFill/>
            <a:ln w="9525">
              <a:noFill/>
              <a:miter lim="800000"/>
              <a:headEnd/>
              <a:tailEnd/>
            </a:ln>
          </p:spPr>
          <p:txBody>
            <a:bodyPr wrap="none" lIns="36000" tIns="36000" rIns="36000" bIns="36000">
              <a:spAutoFit/>
            </a:bodyPr>
            <a:lstStyle/>
            <a:p>
              <a:pPr algn="l"/>
              <a:r>
                <a:rPr lang="zh-Hans" altLang="en-US" sz="2000" dirty="0">
                  <a:solidFill>
                    <a:schemeClr val="bg2">
                      <a:lumMod val="10000"/>
                    </a:schemeClr>
                  </a:solidFill>
                  <a:latin typeface="Times New Roman" charset="0"/>
                  <a:ea typeface="Times New Roman" charset="0"/>
                  <a:cs typeface="Times New Roman" charset="0"/>
                </a:rPr>
                <a:t>假定</a:t>
              </a:r>
              <a:r>
                <a:rPr lang="en-US" altLang="zh-Hans" sz="2000" dirty="0">
                  <a:solidFill>
                    <a:schemeClr val="bg2">
                      <a:lumMod val="10000"/>
                    </a:schemeClr>
                  </a:solidFill>
                  <a:latin typeface="Times New Roman" charset="0"/>
                  <a:ea typeface="Times New Roman" charset="0"/>
                  <a:cs typeface="Times New Roman" charset="0"/>
                </a:rPr>
                <a:t>Step#2</a:t>
              </a:r>
              <a:r>
                <a:rPr lang="zh-Hans" altLang="en-US" sz="2000" dirty="0">
                  <a:solidFill>
                    <a:schemeClr val="bg2">
                      <a:lumMod val="10000"/>
                    </a:schemeClr>
                  </a:solidFill>
                  <a:latin typeface="Times New Roman" charset="0"/>
                  <a:ea typeface="Times New Roman" charset="0"/>
                  <a:cs typeface="Times New Roman" charset="0"/>
                </a:rPr>
                <a:t>停止时</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装入了前</a:t>
              </a:r>
              <a:r>
                <a:rPr lang="en-US" altLang="zh-Hans" sz="2000" i="1" dirty="0">
                  <a:solidFill>
                    <a:schemeClr val="bg2">
                      <a:lumMod val="10000"/>
                    </a:schemeClr>
                  </a:solidFill>
                  <a:latin typeface="Times New Roman" charset="0"/>
                  <a:ea typeface="Times New Roman" charset="0"/>
                  <a:cs typeface="Times New Roman" charset="0"/>
                </a:rPr>
                <a:t>k</a:t>
              </a:r>
              <a:r>
                <a:rPr lang="zh-Hans" altLang="en-US" sz="2000" dirty="0">
                  <a:solidFill>
                    <a:schemeClr val="bg2">
                      <a:lumMod val="10000"/>
                    </a:schemeClr>
                  </a:solidFill>
                  <a:latin typeface="Times New Roman" charset="0"/>
                  <a:ea typeface="Times New Roman" charset="0"/>
                  <a:cs typeface="Times New Roman" charset="0"/>
                </a:rPr>
                <a:t>个物品</a:t>
              </a:r>
              <a:r>
                <a:rPr lang="en-US" altLang="zh-Hans" sz="2000" dirty="0">
                  <a:solidFill>
                    <a:schemeClr val="bg2">
                      <a:lumMod val="10000"/>
                    </a:schemeClr>
                  </a:solidFill>
                  <a:latin typeface="Times New Roman" charset="0"/>
                  <a:ea typeface="Times New Roman" charset="0"/>
                  <a:cs typeface="Times New Roman" charset="0"/>
                </a:rPr>
                <a:t>.</a:t>
              </a:r>
            </a:p>
          </p:txBody>
        </p:sp>
        <p:grpSp>
          <p:nvGrpSpPr>
            <p:cNvPr id="27" name="Group 20">
              <a:extLst>
                <a:ext uri="{FF2B5EF4-FFF2-40B4-BE49-F238E27FC236}">
                  <a16:creationId xmlns:a16="http://schemas.microsoft.com/office/drawing/2014/main" id="{745BD6B2-966B-6A47-A838-D39BC6CA6E20}"/>
                </a:ext>
              </a:extLst>
            </p:cNvPr>
            <p:cNvGrpSpPr>
              <a:grpSpLocks/>
            </p:cNvGrpSpPr>
            <p:nvPr/>
          </p:nvGrpSpPr>
          <p:grpSpPr bwMode="auto">
            <a:xfrm>
              <a:off x="428596" y="2928934"/>
              <a:ext cx="128588" cy="128588"/>
              <a:chOff x="2995" y="1525"/>
              <a:chExt cx="112" cy="112"/>
            </a:xfrm>
          </p:grpSpPr>
          <p:sp>
            <p:nvSpPr>
              <p:cNvPr id="28" name="AutoShape 21">
                <a:extLst>
                  <a:ext uri="{FF2B5EF4-FFF2-40B4-BE49-F238E27FC236}">
                    <a16:creationId xmlns:a16="http://schemas.microsoft.com/office/drawing/2014/main" id="{87B9F7C5-CB6D-0441-88A1-CF6E713E8A4A}"/>
                  </a:ext>
                </a:extLst>
              </p:cNvPr>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29" name="AutoShape 22">
                <a:extLst>
                  <a:ext uri="{FF2B5EF4-FFF2-40B4-BE49-F238E27FC236}">
                    <a16:creationId xmlns:a16="http://schemas.microsoft.com/office/drawing/2014/main" id="{2E2488B9-29B2-0341-A04D-A06AB42B2ACB}"/>
                  </a:ext>
                </a:extLst>
              </p:cNvPr>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35" name="组合 42">
            <a:extLst>
              <a:ext uri="{FF2B5EF4-FFF2-40B4-BE49-F238E27FC236}">
                <a16:creationId xmlns:a16="http://schemas.microsoft.com/office/drawing/2014/main" id="{B6C980DE-037D-0145-9DC4-94B3B7137394}"/>
              </a:ext>
            </a:extLst>
          </p:cNvPr>
          <p:cNvGrpSpPr>
            <a:grpSpLocks/>
          </p:cNvGrpSpPr>
          <p:nvPr/>
        </p:nvGrpSpPr>
        <p:grpSpPr bwMode="auto">
          <a:xfrm>
            <a:off x="1060477" y="2575431"/>
            <a:ext cx="6158898" cy="380480"/>
            <a:chOff x="428596" y="2825969"/>
            <a:chExt cx="6156013" cy="381055"/>
          </a:xfrm>
        </p:grpSpPr>
        <mc:AlternateContent xmlns:mc="http://schemas.openxmlformats.org/markup-compatibility/2006" xmlns:a14="http://schemas.microsoft.com/office/drawing/2010/main">
          <mc:Choice Requires="a14">
            <p:sp>
              <p:nvSpPr>
                <p:cNvPr id="36" name="TextBox 18">
                  <a:extLst>
                    <a:ext uri="{FF2B5EF4-FFF2-40B4-BE49-F238E27FC236}">
                      <a16:creationId xmlns:a16="http://schemas.microsoft.com/office/drawing/2014/main" id="{7F7F1FF2-0C96-454F-9A37-BF239866252A}"/>
                    </a:ext>
                  </a:extLst>
                </p:cNvPr>
                <p:cNvSpPr txBox="1">
                  <a:spLocks noChangeArrowheads="1"/>
                </p:cNvSpPr>
                <p:nvPr/>
              </p:nvSpPr>
              <p:spPr bwMode="auto">
                <a:xfrm>
                  <a:off x="628471" y="2825969"/>
                  <a:ext cx="5956138" cy="381055"/>
                </a:xfrm>
                <a:prstGeom prst="rect">
                  <a:avLst/>
                </a:prstGeom>
                <a:noFill/>
                <a:ln w="9525">
                  <a:noFill/>
                  <a:miter lim="800000"/>
                  <a:headEnd/>
                  <a:tailEnd/>
                </a:ln>
              </p:spPr>
              <p:txBody>
                <a:bodyPr wrap="none" lIns="36000" tIns="36000" rIns="36000" bIns="36000">
                  <a:spAutoFit/>
                </a:bodyPr>
                <a:lstStyle/>
                <a:p>
                  <a:pPr algn="l"/>
                  <a:r>
                    <a:rPr lang="zh-Hans" altLang="en-US" sz="2000" dirty="0">
                      <a:solidFill>
                        <a:schemeClr val="bg2">
                          <a:lumMod val="10000"/>
                        </a:schemeClr>
                      </a:solidFill>
                      <a:latin typeface="Times New Roman" charset="0"/>
                      <a:ea typeface="Times New Roman" charset="0"/>
                      <a:cs typeface="Times New Roman" charset="0"/>
                    </a:rPr>
                    <a:t>令</a:t>
                  </a:r>
                  <a14:m>
                    <m:oMath xmlns:m="http://schemas.openxmlformats.org/officeDocument/2006/math">
                      <m:sSub>
                        <m:sSubPr>
                          <m:ctrlPr>
                            <a:rPr lang="en-US" altLang="zh-Hans" sz="2000" b="1" i="1" smtClean="0">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𝑽</m:t>
                          </m:r>
                        </m:e>
                        <m: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𝒊</m:t>
                          </m:r>
                        </m:sub>
                      </m:sSub>
                    </m:oMath>
                  </a14:m>
                  <a:r>
                    <a:rPr lang="zh-Hans" altLang="en-US" sz="2000" dirty="0">
                      <a:solidFill>
                        <a:schemeClr val="bg2">
                          <a:lumMod val="10000"/>
                        </a:schemeClr>
                      </a:solidFill>
                      <a:latin typeface="Times New Roman" charset="0"/>
                      <a:ea typeface="Times New Roman" charset="0"/>
                      <a:cs typeface="Times New Roman" charset="0"/>
                    </a:rPr>
                    <a:t>表示前</a:t>
                  </a:r>
                  <a:r>
                    <a:rPr lang="en-US" altLang="zh-Hans" sz="2000" i="1" dirty="0" err="1">
                      <a:solidFill>
                        <a:schemeClr val="bg2">
                          <a:lumMod val="10000"/>
                        </a:schemeClr>
                      </a:solidFill>
                      <a:latin typeface="Times New Roman" charset="0"/>
                      <a:ea typeface="Times New Roman" charset="0"/>
                      <a:cs typeface="Times New Roman" charset="0"/>
                    </a:rPr>
                    <a:t>i</a:t>
                  </a:r>
                  <a:r>
                    <a:rPr lang="zh-Hans" altLang="en-US" sz="2000" dirty="0">
                      <a:solidFill>
                        <a:schemeClr val="bg2">
                          <a:lumMod val="10000"/>
                        </a:schemeClr>
                      </a:solidFill>
                      <a:latin typeface="Times New Roman" charset="0"/>
                      <a:ea typeface="Times New Roman" charset="0"/>
                      <a:cs typeface="Times New Roman" charset="0"/>
                    </a:rPr>
                    <a:t>个物品的价值总和</a:t>
                  </a:r>
                  <a:r>
                    <a:rPr lang="en-US" altLang="zh-Hans" sz="2000" dirty="0">
                      <a:solidFill>
                        <a:schemeClr val="bg2">
                          <a:lumMod val="10000"/>
                        </a:schemeClr>
                      </a:solidFill>
                      <a:latin typeface="Times New Roman" charset="0"/>
                      <a:ea typeface="Times New Roman" charset="0"/>
                      <a:cs typeface="Times New Roman" charset="0"/>
                    </a:rPr>
                    <a:t>. (</a:t>
                  </a:r>
                  <a:r>
                    <a:rPr lang="zh-Hans" altLang="en-US" sz="2000" dirty="0">
                      <a:solidFill>
                        <a:schemeClr val="bg2">
                          <a:lumMod val="10000"/>
                        </a:schemeClr>
                      </a:solidFill>
                      <a:latin typeface="Times New Roman" charset="0"/>
                      <a:ea typeface="Times New Roman" charset="0"/>
                      <a:cs typeface="Times New Roman" charset="0"/>
                    </a:rPr>
                    <a:t>已按价值密度排序</a:t>
                  </a:r>
                  <a:r>
                    <a:rPr lang="en-US" altLang="zh-Hans" sz="2000" dirty="0">
                      <a:solidFill>
                        <a:schemeClr val="bg2">
                          <a:lumMod val="10000"/>
                        </a:schemeClr>
                      </a:solidFill>
                      <a:latin typeface="Times New Roman" charset="0"/>
                      <a:ea typeface="Times New Roman" charset="0"/>
                      <a:cs typeface="Times New Roman" charset="0"/>
                    </a:rPr>
                    <a:t>)</a:t>
                  </a:r>
                </a:p>
              </p:txBody>
            </p:sp>
          </mc:Choice>
          <mc:Fallback xmlns="">
            <p:sp>
              <p:nvSpPr>
                <p:cNvPr id="36" name="TextBox 18">
                  <a:extLst>
                    <a:ext uri="{FF2B5EF4-FFF2-40B4-BE49-F238E27FC236}">
                      <a16:creationId xmlns:a16="http://schemas.microsoft.com/office/drawing/2014/main" id="{7F7F1FF2-0C96-454F-9A37-BF239866252A}"/>
                    </a:ext>
                  </a:extLst>
                </p:cNvPr>
                <p:cNvSpPr txBox="1">
                  <a:spLocks noRot="1" noChangeAspect="1" noMove="1" noResize="1" noEditPoints="1" noAdjustHandles="1" noChangeArrowheads="1" noChangeShapeType="1" noTextEdit="1"/>
                </p:cNvSpPr>
                <p:nvPr/>
              </p:nvSpPr>
              <p:spPr bwMode="auto">
                <a:xfrm>
                  <a:off x="628471" y="2825969"/>
                  <a:ext cx="5956138" cy="381055"/>
                </a:xfrm>
                <a:prstGeom prst="rect">
                  <a:avLst/>
                </a:prstGeom>
                <a:blipFill>
                  <a:blip r:embed="rId5"/>
                  <a:stretch>
                    <a:fillRect l="-2047" t="-14286" b="-31746"/>
                  </a:stretch>
                </a:blipFill>
                <a:ln w="9525">
                  <a:noFill/>
                  <a:miter lim="800000"/>
                  <a:headEnd/>
                  <a:tailEnd/>
                </a:ln>
              </p:spPr>
              <p:txBody>
                <a:bodyPr/>
                <a:lstStyle/>
                <a:p>
                  <a:r>
                    <a:rPr lang="zh-CN" altLang="en-US">
                      <a:noFill/>
                    </a:rPr>
                    <a:t> </a:t>
                  </a:r>
                </a:p>
              </p:txBody>
            </p:sp>
          </mc:Fallback>
        </mc:AlternateContent>
        <p:grpSp>
          <p:nvGrpSpPr>
            <p:cNvPr id="37" name="Group 20">
              <a:extLst>
                <a:ext uri="{FF2B5EF4-FFF2-40B4-BE49-F238E27FC236}">
                  <a16:creationId xmlns:a16="http://schemas.microsoft.com/office/drawing/2014/main" id="{21AB68AF-B456-524B-8EDD-26344EC0C859}"/>
                </a:ext>
              </a:extLst>
            </p:cNvPr>
            <p:cNvGrpSpPr>
              <a:grpSpLocks/>
            </p:cNvGrpSpPr>
            <p:nvPr/>
          </p:nvGrpSpPr>
          <p:grpSpPr bwMode="auto">
            <a:xfrm>
              <a:off x="428596" y="2928934"/>
              <a:ext cx="128588" cy="128588"/>
              <a:chOff x="2995" y="1525"/>
              <a:chExt cx="112" cy="112"/>
            </a:xfrm>
          </p:grpSpPr>
          <p:sp>
            <p:nvSpPr>
              <p:cNvPr id="38" name="AutoShape 21">
                <a:extLst>
                  <a:ext uri="{FF2B5EF4-FFF2-40B4-BE49-F238E27FC236}">
                    <a16:creationId xmlns:a16="http://schemas.microsoft.com/office/drawing/2014/main" id="{2CCF1344-3A92-2845-9491-DF36F8855E1F}"/>
                  </a:ext>
                </a:extLst>
              </p:cNvPr>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39" name="AutoShape 22">
                <a:extLst>
                  <a:ext uri="{FF2B5EF4-FFF2-40B4-BE49-F238E27FC236}">
                    <a16:creationId xmlns:a16="http://schemas.microsoft.com/office/drawing/2014/main" id="{9BFABF75-18AD-B642-A6AA-36BDC4094EFF}"/>
                  </a:ext>
                </a:extLst>
              </p:cNvPr>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grpSp>
        <p:nvGrpSpPr>
          <p:cNvPr id="40" name="组合 62">
            <a:extLst>
              <a:ext uri="{FF2B5EF4-FFF2-40B4-BE49-F238E27FC236}">
                <a16:creationId xmlns:a16="http://schemas.microsoft.com/office/drawing/2014/main" id="{6D37F214-EA31-B345-BF24-4F6AC084C823}"/>
              </a:ext>
            </a:extLst>
          </p:cNvPr>
          <p:cNvGrpSpPr>
            <a:grpSpLocks/>
          </p:cNvGrpSpPr>
          <p:nvPr/>
        </p:nvGrpSpPr>
        <p:grpSpPr bwMode="auto">
          <a:xfrm>
            <a:off x="1169465" y="4704502"/>
            <a:ext cx="4626671" cy="380480"/>
            <a:chOff x="3286116" y="1336849"/>
            <a:chExt cx="4625618" cy="380656"/>
          </a:xfrm>
        </p:grpSpPr>
        <mc:AlternateContent xmlns:mc="http://schemas.openxmlformats.org/markup-compatibility/2006" xmlns:a14="http://schemas.microsoft.com/office/drawing/2010/main">
          <mc:Choice Requires="a14">
            <p:sp>
              <p:nvSpPr>
                <p:cNvPr id="41" name="TextBox 37">
                  <a:extLst>
                    <a:ext uri="{FF2B5EF4-FFF2-40B4-BE49-F238E27FC236}">
                      <a16:creationId xmlns:a16="http://schemas.microsoft.com/office/drawing/2014/main" id="{172F1B08-C5B9-6942-96C0-0D029EBE8007}"/>
                    </a:ext>
                  </a:extLst>
                </p:cNvPr>
                <p:cNvSpPr txBox="1">
                  <a:spLocks noChangeArrowheads="1"/>
                </p:cNvSpPr>
                <p:nvPr/>
              </p:nvSpPr>
              <p:spPr bwMode="auto">
                <a:xfrm>
                  <a:off x="3857261" y="1336849"/>
                  <a:ext cx="4054473" cy="380656"/>
                </a:xfrm>
                <a:prstGeom prst="rect">
                  <a:avLst/>
                </a:prstGeom>
                <a:noFill/>
                <a:ln w="9525">
                  <a:noFill/>
                  <a:miter lim="800000"/>
                  <a:headEnd/>
                  <a:tailEnd/>
                </a:ln>
              </p:spPr>
              <p:txBody>
                <a:bodyPr wrap="none" lIns="36000" tIns="36000" rIns="36000" bIns="36000">
                  <a:spAutoFit/>
                </a:bodyPr>
                <a:lstStyle/>
                <a:p>
                  <a:pPr algn="l"/>
                  <a:r>
                    <a:rPr lang="zh-Hans" altLang="en-US" sz="2000" dirty="0">
                      <a:solidFill>
                        <a:schemeClr val="bg2">
                          <a:lumMod val="10000"/>
                        </a:schemeClr>
                      </a:solidFill>
                      <a:latin typeface="Times New Roman" charset="0"/>
                      <a:ea typeface="Times New Roman" charset="0"/>
                      <a:cs typeface="Times New Roman" charset="0"/>
                    </a:rPr>
                    <a:t>叠加</a:t>
                  </a:r>
                  <a:r>
                    <a:rPr lang="en-US" altLang="zh-Hans" sz="2000" dirty="0">
                      <a:solidFill>
                        <a:schemeClr val="bg2">
                          <a:lumMod val="10000"/>
                        </a:schemeClr>
                      </a:solidFill>
                      <a:latin typeface="Times New Roman" charset="0"/>
                      <a:ea typeface="Times New Roman" charset="0"/>
                      <a:cs typeface="Times New Roman" charset="0"/>
                    </a:rPr>
                    <a:t>(1)</a:t>
                  </a:r>
                  <a:r>
                    <a:rPr lang="zh-Hans" altLang="en-US" sz="2000" dirty="0">
                      <a:solidFill>
                        <a:schemeClr val="bg2">
                          <a:lumMod val="10000"/>
                        </a:schemeClr>
                      </a:solidFill>
                      <a:latin typeface="Times New Roman" charset="0"/>
                      <a:ea typeface="Times New Roman" charset="0"/>
                      <a:cs typeface="Times New Roman" charset="0"/>
                    </a:rPr>
                    <a:t>和</a:t>
                  </a:r>
                  <a:r>
                    <a:rPr lang="en-US" altLang="zh-Hans" sz="2000" dirty="0">
                      <a:solidFill>
                        <a:schemeClr val="bg2">
                          <a:lumMod val="10000"/>
                        </a:schemeClr>
                      </a:solidFill>
                      <a:latin typeface="Times New Roman" charset="0"/>
                      <a:ea typeface="Times New Roman" charset="0"/>
                      <a:cs typeface="Times New Roman" charset="0"/>
                    </a:rPr>
                    <a:t>(2),</a:t>
                  </a:r>
                  <a:r>
                    <a:rPr lang="zh-Hans" altLang="en-US" sz="2000" dirty="0">
                      <a:solidFill>
                        <a:schemeClr val="bg2">
                          <a:lumMod val="10000"/>
                        </a:schemeClr>
                      </a:solidFill>
                      <a:latin typeface="Times New Roman" charset="0"/>
                      <a:ea typeface="Times New Roman" charset="0"/>
                      <a:cs typeface="Times New Roman" charset="0"/>
                    </a:rPr>
                    <a:t> 可得</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a:t>
                  </a:r>
                  <a14:m>
                    <m:oMath xmlns:m="http://schemas.openxmlformats.org/officeDocument/2006/math">
                      <m:r>
                        <a:rPr lang="en-US" altLang="zh-Hans" sz="2000" b="1" i="0" smtClean="0">
                          <a:solidFill>
                            <a:schemeClr val="bg2">
                              <a:lumMod val="10000"/>
                            </a:schemeClr>
                          </a:solidFill>
                          <a:latin typeface="Cambria Math" panose="02040503050406030204" pitchFamily="18" charset="0"/>
                          <a:ea typeface="Times New Roman" charset="0"/>
                          <a:cs typeface="Times New Roman" charset="0"/>
                        </a:rPr>
                        <m:t>𝟐</m:t>
                      </m:r>
                      <m:r>
                        <a:rPr lang="en-US" altLang="zh-Hans" sz="2000" i="1">
                          <a:solidFill>
                            <a:schemeClr val="bg2">
                              <a:lumMod val="10000"/>
                            </a:schemeClr>
                          </a:solidFill>
                          <a:latin typeface="Cambria Math" panose="02040503050406030204" pitchFamily="18" charset="0"/>
                          <a:ea typeface="Times New Roman" charset="0"/>
                          <a:cs typeface="Times New Roman" charset="0"/>
                        </a:rPr>
                        <m:t>𝑮</m:t>
                      </m:r>
                      <m:r>
                        <a:rPr lang="en-US" altLang="zh-Hans" sz="2000" i="1">
                          <a:solidFill>
                            <a:schemeClr val="bg2">
                              <a:lumMod val="10000"/>
                            </a:schemeClr>
                          </a:solidFill>
                          <a:latin typeface="Cambria Math" panose="02040503050406030204" pitchFamily="18" charset="0"/>
                          <a:ea typeface="Times New Roman" charset="0"/>
                          <a:cs typeface="Times New Roman" charset="0"/>
                        </a:rPr>
                        <m:t>≥</m:t>
                      </m:r>
                      <m:sSub>
                        <m:sSubPr>
                          <m:ctrlPr>
                            <a:rPr lang="en-US" altLang="zh-Hans" sz="2000" i="1">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i="1">
                              <a:solidFill>
                                <a:schemeClr val="bg2">
                                  <a:lumMod val="10000"/>
                                </a:schemeClr>
                              </a:solidFill>
                              <a:latin typeface="Cambria Math" panose="02040503050406030204" pitchFamily="18" charset="0"/>
                              <a:ea typeface="Times New Roman" charset="0"/>
                              <a:cs typeface="Times New Roman" charset="0"/>
                            </a:rPr>
                            <m:t>𝑽</m:t>
                          </m:r>
                        </m:e>
                        <m:sub>
                          <m:r>
                            <a:rPr lang="en-US" altLang="zh-Hans" sz="2000" i="1">
                              <a:solidFill>
                                <a:schemeClr val="bg2">
                                  <a:lumMod val="10000"/>
                                </a:schemeClr>
                              </a:solidFill>
                              <a:latin typeface="Cambria Math" panose="02040503050406030204" pitchFamily="18" charset="0"/>
                              <a:ea typeface="Times New Roman" charset="0"/>
                              <a:cs typeface="Times New Roman" charset="0"/>
                            </a:rPr>
                            <m:t>𝒌</m:t>
                          </m:r>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m:t>
                          </m:r>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𝟏</m:t>
                          </m:r>
                        </m:sub>
                      </m:sSub>
                    </m:oMath>
                  </a14:m>
                  <a:r>
                    <a:rPr lang="en-US" altLang="zh-Hans" sz="2000" dirty="0">
                      <a:solidFill>
                        <a:schemeClr val="bg2">
                          <a:lumMod val="10000"/>
                        </a:schemeClr>
                      </a:solidFill>
                      <a:latin typeface="Times New Roman" charset="0"/>
                      <a:ea typeface="Times New Roman" charset="0"/>
                      <a:cs typeface="Times New Roman" charset="0"/>
                    </a:rPr>
                    <a:t> </a:t>
                  </a:r>
                  <a:r>
                    <a:rPr lang="zh-Hans" altLang="en-US" sz="2000" dirty="0">
                      <a:solidFill>
                        <a:schemeClr val="bg2">
                          <a:lumMod val="10000"/>
                        </a:schemeClr>
                      </a:solidFill>
                      <a:latin typeface="Times New Roman" charset="0"/>
                      <a:ea typeface="Times New Roman" charset="0"/>
                      <a:cs typeface="Times New Roman" charset="0"/>
                    </a:rPr>
                    <a:t>    </a:t>
                  </a:r>
                  <a:r>
                    <a:rPr lang="en-US" altLang="zh-Hans" sz="2000" dirty="0">
                      <a:solidFill>
                        <a:schemeClr val="bg2">
                          <a:lumMod val="10000"/>
                        </a:schemeClr>
                      </a:solidFill>
                      <a:latin typeface="Times New Roman" charset="0"/>
                      <a:ea typeface="Times New Roman" charset="0"/>
                      <a:cs typeface="Times New Roman" charset="0"/>
                    </a:rPr>
                    <a:t>(3)</a:t>
                  </a:r>
                </a:p>
              </p:txBody>
            </p:sp>
          </mc:Choice>
          <mc:Fallback xmlns="">
            <p:sp>
              <p:nvSpPr>
                <p:cNvPr id="41" name="TextBox 37">
                  <a:extLst>
                    <a:ext uri="{FF2B5EF4-FFF2-40B4-BE49-F238E27FC236}">
                      <a16:creationId xmlns:a16="http://schemas.microsoft.com/office/drawing/2014/main" id="{172F1B08-C5B9-6942-96C0-0D029EBE8007}"/>
                    </a:ext>
                  </a:extLst>
                </p:cNvPr>
                <p:cNvSpPr txBox="1">
                  <a:spLocks noRot="1" noChangeAspect="1" noMove="1" noResize="1" noEditPoints="1" noAdjustHandles="1" noChangeArrowheads="1" noChangeShapeType="1" noTextEdit="1"/>
                </p:cNvSpPr>
                <p:nvPr/>
              </p:nvSpPr>
              <p:spPr bwMode="auto">
                <a:xfrm>
                  <a:off x="3857261" y="1336849"/>
                  <a:ext cx="4054473" cy="380656"/>
                </a:xfrm>
                <a:prstGeom prst="rect">
                  <a:avLst/>
                </a:prstGeom>
                <a:blipFill>
                  <a:blip r:embed="rId6"/>
                  <a:stretch>
                    <a:fillRect l="-3008" t="-14516" r="-1654" b="-32258"/>
                  </a:stretch>
                </a:blipFill>
                <a:ln w="9525">
                  <a:noFill/>
                  <a:miter lim="800000"/>
                  <a:headEnd/>
                  <a:tailEnd/>
                </a:ln>
              </p:spPr>
              <p:txBody>
                <a:bodyPr/>
                <a:lstStyle/>
                <a:p>
                  <a:r>
                    <a:rPr lang="zh-CN" altLang="en-US">
                      <a:noFill/>
                    </a:rPr>
                    <a:t> </a:t>
                  </a:r>
                </a:p>
              </p:txBody>
            </p:sp>
          </mc:Fallback>
        </mc:AlternateContent>
        <p:pic>
          <p:nvPicPr>
            <p:cNvPr id="42" name="Picture 21" descr="coquette_035">
              <a:extLst>
                <a:ext uri="{FF2B5EF4-FFF2-40B4-BE49-F238E27FC236}">
                  <a16:creationId xmlns:a16="http://schemas.microsoft.com/office/drawing/2014/main" id="{E32612EA-9CDC-094B-83EE-7B5C4EADA6E1}"/>
                </a:ext>
              </a:extLst>
            </p:cNvPr>
            <p:cNvPicPr>
              <a:picLocks noChangeAspect="1" noChangeArrowheads="1"/>
            </p:cNvPicPr>
            <p:nvPr/>
          </p:nvPicPr>
          <p:blipFill>
            <a:blip r:embed="rId4" cstate="print"/>
            <a:srcRect/>
            <a:stretch>
              <a:fillRect/>
            </a:stretch>
          </p:blipFill>
          <p:spPr bwMode="auto">
            <a:xfrm>
              <a:off x="3286116" y="1357298"/>
              <a:ext cx="566777" cy="324000"/>
            </a:xfrm>
            <a:prstGeom prst="rect">
              <a:avLst/>
            </a:prstGeom>
            <a:noFill/>
            <a:ln w="9525">
              <a:noFill/>
              <a:miter lim="800000"/>
              <a:headEnd/>
              <a:tailEnd/>
            </a:ln>
          </p:spPr>
        </p:pic>
      </p:grpSp>
      <p:grpSp>
        <p:nvGrpSpPr>
          <p:cNvPr id="43" name="组合 62">
            <a:extLst>
              <a:ext uri="{FF2B5EF4-FFF2-40B4-BE49-F238E27FC236}">
                <a16:creationId xmlns:a16="http://schemas.microsoft.com/office/drawing/2014/main" id="{DE450FEE-2608-A445-84EB-042A4D13CA67}"/>
              </a:ext>
            </a:extLst>
          </p:cNvPr>
          <p:cNvGrpSpPr>
            <a:grpSpLocks/>
          </p:cNvGrpSpPr>
          <p:nvPr/>
        </p:nvGrpSpPr>
        <p:grpSpPr bwMode="auto">
          <a:xfrm>
            <a:off x="1169460" y="5209008"/>
            <a:ext cx="7447122" cy="688256"/>
            <a:chOff x="3286116" y="1336849"/>
            <a:chExt cx="7445439" cy="688574"/>
          </a:xfrm>
        </p:grpSpPr>
        <mc:AlternateContent xmlns:mc="http://schemas.openxmlformats.org/markup-compatibility/2006" xmlns:a14="http://schemas.microsoft.com/office/drawing/2010/main">
          <mc:Choice Requires="a14">
            <p:sp>
              <p:nvSpPr>
                <p:cNvPr id="44" name="TextBox 37">
                  <a:extLst>
                    <a:ext uri="{FF2B5EF4-FFF2-40B4-BE49-F238E27FC236}">
                      <a16:creationId xmlns:a16="http://schemas.microsoft.com/office/drawing/2014/main" id="{1DE62CAB-CBF9-0B45-97D0-502BDEA33914}"/>
                    </a:ext>
                  </a:extLst>
                </p:cNvPr>
                <p:cNvSpPr txBox="1">
                  <a:spLocks noChangeArrowheads="1"/>
                </p:cNvSpPr>
                <p:nvPr/>
              </p:nvSpPr>
              <p:spPr bwMode="auto">
                <a:xfrm>
                  <a:off x="3857261" y="1336849"/>
                  <a:ext cx="6874294" cy="688574"/>
                </a:xfrm>
                <a:prstGeom prst="rect">
                  <a:avLst/>
                </a:prstGeom>
                <a:noFill/>
                <a:ln w="9525">
                  <a:noFill/>
                  <a:miter lim="800000"/>
                  <a:headEnd/>
                  <a:tailEnd/>
                </a:ln>
              </p:spPr>
              <p:txBody>
                <a:bodyPr wrap="none" lIns="36000" tIns="36000" rIns="36000" bIns="36000">
                  <a:spAutoFit/>
                </a:bodyPr>
                <a:lstStyle/>
                <a:p>
                  <a:pPr algn="l"/>
                  <a:r>
                    <a:rPr lang="zh-Hans" altLang="en-US" sz="2000" dirty="0">
                      <a:solidFill>
                        <a:schemeClr val="bg2">
                          <a:lumMod val="10000"/>
                        </a:schemeClr>
                      </a:solidFill>
                      <a:latin typeface="Times New Roman" charset="0"/>
                      <a:ea typeface="Times New Roman" charset="0"/>
                      <a:cs typeface="Times New Roman" charset="0"/>
                    </a:rPr>
                    <a:t>由于分数贪心解可能只装入第</a:t>
                  </a:r>
                  <a:r>
                    <a:rPr lang="en-US" altLang="zh-Hans" sz="2000" i="1" dirty="0">
                      <a:solidFill>
                        <a:schemeClr val="bg2">
                          <a:lumMod val="10000"/>
                        </a:schemeClr>
                      </a:solidFill>
                      <a:latin typeface="Times New Roman" charset="0"/>
                      <a:ea typeface="Times New Roman" charset="0"/>
                      <a:cs typeface="Times New Roman" charset="0"/>
                    </a:rPr>
                    <a:t>k</a:t>
                  </a:r>
                  <a:r>
                    <a:rPr lang="en-US" altLang="zh-Hans" sz="2000" dirty="0">
                      <a:solidFill>
                        <a:schemeClr val="bg2">
                          <a:lumMod val="10000"/>
                        </a:schemeClr>
                      </a:solidFill>
                      <a:latin typeface="Times New Roman" charset="0"/>
                      <a:ea typeface="Times New Roman" charset="0"/>
                      <a:cs typeface="Times New Roman" charset="0"/>
                    </a:rPr>
                    <a:t>+1</a:t>
                  </a:r>
                  <a:r>
                    <a:rPr lang="zh-Hans" altLang="en-US" sz="2000" dirty="0">
                      <a:solidFill>
                        <a:schemeClr val="bg2">
                          <a:lumMod val="10000"/>
                        </a:schemeClr>
                      </a:solidFill>
                      <a:latin typeface="Times New Roman" charset="0"/>
                      <a:ea typeface="Times New Roman" charset="0"/>
                      <a:cs typeface="Times New Roman" charset="0"/>
                    </a:rPr>
                    <a:t>个物品的一部分</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且是上界</a:t>
                  </a:r>
                  <a:r>
                    <a:rPr lang="en-US" altLang="zh-Hans" sz="2000" dirty="0">
                      <a:solidFill>
                        <a:schemeClr val="bg2">
                          <a:lumMod val="10000"/>
                        </a:schemeClr>
                      </a:solidFill>
                      <a:latin typeface="Times New Roman" charset="0"/>
                      <a:ea typeface="Times New Roman" charset="0"/>
                      <a:cs typeface="Times New Roman" charset="0"/>
                    </a:rPr>
                    <a:t>,</a:t>
                  </a:r>
                </a:p>
                <a:p>
                  <a:pPr algn="l"/>
                  <a:r>
                    <a:rPr lang="zh-Hans" altLang="en-US" sz="2000" dirty="0">
                      <a:solidFill>
                        <a:schemeClr val="bg2">
                          <a:lumMod val="10000"/>
                        </a:schemeClr>
                      </a:solidFill>
                      <a:latin typeface="Times New Roman" charset="0"/>
                      <a:ea typeface="Times New Roman" charset="0"/>
                      <a:cs typeface="Times New Roman" charset="0"/>
                    </a:rPr>
                    <a:t>故有</a:t>
                  </a:r>
                  <a:r>
                    <a:rPr lang="en-US" altLang="zh-Hans" sz="2000" dirty="0">
                      <a:solidFill>
                        <a:schemeClr val="bg2">
                          <a:lumMod val="10000"/>
                        </a:schemeClr>
                      </a:solidFill>
                      <a:latin typeface="Times New Roman" charset="0"/>
                      <a:ea typeface="Times New Roman" charset="0"/>
                      <a:cs typeface="Times New Roman" charset="0"/>
                    </a:rPr>
                    <a:t>:</a:t>
                  </a:r>
                  <a:r>
                    <a:rPr lang="zh-Hans" altLang="en-US" sz="2000" dirty="0">
                      <a:solidFill>
                        <a:schemeClr val="bg2">
                          <a:lumMod val="10000"/>
                        </a:schemeClr>
                      </a:solidFill>
                      <a:latin typeface="Times New Roman" charset="0"/>
                      <a:ea typeface="Times New Roman" charset="0"/>
                      <a:cs typeface="Times New Roman" charset="0"/>
                    </a:rPr>
                    <a:t> </a:t>
                  </a:r>
                  <a14:m>
                    <m:oMath xmlns:m="http://schemas.openxmlformats.org/officeDocument/2006/math">
                      <m:r>
                        <a:rPr lang="en-US" altLang="zh-Hans" sz="2000">
                          <a:solidFill>
                            <a:schemeClr val="bg2">
                              <a:lumMod val="10000"/>
                            </a:schemeClr>
                          </a:solidFill>
                          <a:latin typeface="Cambria Math" panose="02040503050406030204" pitchFamily="18" charset="0"/>
                          <a:ea typeface="Times New Roman" charset="0"/>
                          <a:cs typeface="Times New Roman" charset="0"/>
                        </a:rPr>
                        <m:t>𝟐</m:t>
                      </m:r>
                      <m:r>
                        <a:rPr lang="en-US" altLang="zh-Hans" sz="2000" i="1">
                          <a:solidFill>
                            <a:schemeClr val="bg2">
                              <a:lumMod val="10000"/>
                            </a:schemeClr>
                          </a:solidFill>
                          <a:latin typeface="Cambria Math" panose="02040503050406030204" pitchFamily="18" charset="0"/>
                          <a:ea typeface="Times New Roman" charset="0"/>
                          <a:cs typeface="Times New Roman" charset="0"/>
                        </a:rPr>
                        <m:t>𝑮</m:t>
                      </m:r>
                      <m:r>
                        <a:rPr lang="en-US" altLang="zh-Hans" sz="2000" i="1">
                          <a:solidFill>
                            <a:schemeClr val="bg2">
                              <a:lumMod val="10000"/>
                            </a:schemeClr>
                          </a:solidFill>
                          <a:latin typeface="Cambria Math" panose="02040503050406030204" pitchFamily="18" charset="0"/>
                          <a:ea typeface="Times New Roman" charset="0"/>
                          <a:cs typeface="Times New Roman" charset="0"/>
                        </a:rPr>
                        <m:t>≥</m:t>
                      </m:r>
                      <m:sSub>
                        <m:sSubPr>
                          <m:ctrlPr>
                            <a:rPr lang="en-US" altLang="zh-Hans" sz="2000" i="1">
                              <a:solidFill>
                                <a:schemeClr val="bg2">
                                  <a:lumMod val="10000"/>
                                </a:schemeClr>
                              </a:solidFill>
                              <a:latin typeface="Cambria Math" panose="02040503050406030204" pitchFamily="18" charset="0"/>
                              <a:ea typeface="Times New Roman" charset="0"/>
                              <a:cs typeface="Times New Roman" charset="0"/>
                            </a:rPr>
                          </m:ctrlPr>
                        </m:sSubPr>
                        <m:e>
                          <m:r>
                            <a:rPr lang="en-US" altLang="zh-Hans" sz="2000" i="1">
                              <a:solidFill>
                                <a:schemeClr val="bg2">
                                  <a:lumMod val="10000"/>
                                </a:schemeClr>
                              </a:solidFill>
                              <a:latin typeface="Cambria Math" panose="02040503050406030204" pitchFamily="18" charset="0"/>
                              <a:ea typeface="Times New Roman" charset="0"/>
                              <a:cs typeface="Times New Roman" charset="0"/>
                            </a:rPr>
                            <m:t>𝑽</m:t>
                          </m:r>
                        </m:e>
                        <m:sub>
                          <m:r>
                            <a:rPr lang="en-US" altLang="zh-Hans" sz="2000" i="1">
                              <a:solidFill>
                                <a:schemeClr val="bg2">
                                  <a:lumMod val="10000"/>
                                </a:schemeClr>
                              </a:solidFill>
                              <a:latin typeface="Cambria Math" panose="02040503050406030204" pitchFamily="18" charset="0"/>
                              <a:ea typeface="Times New Roman" charset="0"/>
                              <a:cs typeface="Times New Roman" charset="0"/>
                            </a:rPr>
                            <m:t>𝒌</m:t>
                          </m:r>
                          <m:r>
                            <a:rPr lang="en-US" altLang="zh-Hans" sz="2000" i="1">
                              <a:solidFill>
                                <a:schemeClr val="bg2">
                                  <a:lumMod val="10000"/>
                                </a:schemeClr>
                              </a:solidFill>
                              <a:latin typeface="Cambria Math" panose="02040503050406030204" pitchFamily="18" charset="0"/>
                              <a:ea typeface="Times New Roman" charset="0"/>
                              <a:cs typeface="Times New Roman" charset="0"/>
                            </a:rPr>
                            <m:t>+</m:t>
                          </m:r>
                          <m:r>
                            <a:rPr lang="en-US" altLang="zh-Hans" sz="2000" i="1">
                              <a:solidFill>
                                <a:schemeClr val="bg2">
                                  <a:lumMod val="10000"/>
                                </a:schemeClr>
                              </a:solidFill>
                              <a:latin typeface="Cambria Math" panose="02040503050406030204" pitchFamily="18" charset="0"/>
                              <a:ea typeface="Times New Roman" charset="0"/>
                              <a:cs typeface="Times New Roman" charset="0"/>
                            </a:rPr>
                            <m:t>𝟏</m:t>
                          </m:r>
                        </m:sub>
                      </m:sSub>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m:t>
                      </m:r>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𝑭</m:t>
                      </m:r>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m:t>
                      </m:r>
                      <m:r>
                        <a:rPr lang="en-US" altLang="zh-Hans" sz="2000" b="1" i="1" smtClean="0">
                          <a:solidFill>
                            <a:schemeClr val="bg2">
                              <a:lumMod val="10000"/>
                            </a:schemeClr>
                          </a:solidFill>
                          <a:latin typeface="Cambria Math" panose="02040503050406030204" pitchFamily="18" charset="0"/>
                          <a:ea typeface="Times New Roman" charset="0"/>
                          <a:cs typeface="Times New Roman" charset="0"/>
                        </a:rPr>
                        <m:t>𝑶𝑷𝑻</m:t>
                      </m:r>
                    </m:oMath>
                  </a14:m>
                  <a:endParaRPr lang="en-US" altLang="zh-Hans" sz="2000" dirty="0">
                    <a:solidFill>
                      <a:schemeClr val="bg2">
                        <a:lumMod val="10000"/>
                      </a:schemeClr>
                    </a:solidFill>
                    <a:latin typeface="Times New Roman" charset="0"/>
                    <a:ea typeface="Times New Roman" charset="0"/>
                    <a:cs typeface="Times New Roman" charset="0"/>
                  </a:endParaRPr>
                </a:p>
              </p:txBody>
            </p:sp>
          </mc:Choice>
          <mc:Fallback xmlns="">
            <p:sp>
              <p:nvSpPr>
                <p:cNvPr id="44" name="TextBox 37">
                  <a:extLst>
                    <a:ext uri="{FF2B5EF4-FFF2-40B4-BE49-F238E27FC236}">
                      <a16:creationId xmlns:a16="http://schemas.microsoft.com/office/drawing/2014/main" id="{1DE62CAB-CBF9-0B45-97D0-502BDEA33914}"/>
                    </a:ext>
                  </a:extLst>
                </p:cNvPr>
                <p:cNvSpPr txBox="1">
                  <a:spLocks noRot="1" noChangeAspect="1" noMove="1" noResize="1" noEditPoints="1" noAdjustHandles="1" noChangeArrowheads="1" noChangeShapeType="1" noTextEdit="1"/>
                </p:cNvSpPr>
                <p:nvPr/>
              </p:nvSpPr>
              <p:spPr bwMode="auto">
                <a:xfrm>
                  <a:off x="3857261" y="1336849"/>
                  <a:ext cx="6874294" cy="688574"/>
                </a:xfrm>
                <a:prstGeom prst="rect">
                  <a:avLst/>
                </a:prstGeom>
                <a:blipFill>
                  <a:blip r:embed="rId7"/>
                  <a:stretch>
                    <a:fillRect l="-1775" t="-7965" b="-17699"/>
                  </a:stretch>
                </a:blipFill>
                <a:ln w="9525">
                  <a:noFill/>
                  <a:miter lim="800000"/>
                  <a:headEnd/>
                  <a:tailEnd/>
                </a:ln>
              </p:spPr>
              <p:txBody>
                <a:bodyPr/>
                <a:lstStyle/>
                <a:p>
                  <a:r>
                    <a:rPr lang="zh-CN" altLang="en-US">
                      <a:noFill/>
                    </a:rPr>
                    <a:t> </a:t>
                  </a:r>
                </a:p>
              </p:txBody>
            </p:sp>
          </mc:Fallback>
        </mc:AlternateContent>
        <p:pic>
          <p:nvPicPr>
            <p:cNvPr id="45" name="Picture 21" descr="coquette_035">
              <a:extLst>
                <a:ext uri="{FF2B5EF4-FFF2-40B4-BE49-F238E27FC236}">
                  <a16:creationId xmlns:a16="http://schemas.microsoft.com/office/drawing/2014/main" id="{7E821C64-C23E-3A4C-9997-628B322ABF43}"/>
                </a:ext>
              </a:extLst>
            </p:cNvPr>
            <p:cNvPicPr>
              <a:picLocks noChangeAspect="1" noChangeArrowheads="1"/>
            </p:cNvPicPr>
            <p:nvPr/>
          </p:nvPicPr>
          <p:blipFill>
            <a:blip r:embed="rId4" cstate="print"/>
            <a:srcRect/>
            <a:stretch>
              <a:fillRect/>
            </a:stretch>
          </p:blipFill>
          <p:spPr bwMode="auto">
            <a:xfrm>
              <a:off x="3286116" y="1357298"/>
              <a:ext cx="566777" cy="324000"/>
            </a:xfrm>
            <a:prstGeom prst="rect">
              <a:avLst/>
            </a:prstGeom>
            <a:noFill/>
            <a:ln w="9525">
              <a:noFill/>
              <a:miter lim="800000"/>
              <a:headEnd/>
              <a:tailEnd/>
            </a:ln>
          </p:spPr>
        </p:pic>
      </p:grpSp>
      <p:grpSp>
        <p:nvGrpSpPr>
          <p:cNvPr id="46" name="组合 42">
            <a:extLst>
              <a:ext uri="{FF2B5EF4-FFF2-40B4-BE49-F238E27FC236}">
                <a16:creationId xmlns:a16="http://schemas.microsoft.com/office/drawing/2014/main" id="{E6413B4C-0B1B-F245-87B8-A4289CDABC03}"/>
              </a:ext>
            </a:extLst>
          </p:cNvPr>
          <p:cNvGrpSpPr>
            <a:grpSpLocks/>
          </p:cNvGrpSpPr>
          <p:nvPr/>
        </p:nvGrpSpPr>
        <p:grpSpPr bwMode="auto">
          <a:xfrm>
            <a:off x="755575" y="6021288"/>
            <a:ext cx="852958" cy="380480"/>
            <a:chOff x="428596" y="2825969"/>
            <a:chExt cx="852561" cy="381055"/>
          </a:xfrm>
        </p:grpSpPr>
        <p:sp>
          <p:nvSpPr>
            <p:cNvPr id="47" name="TextBox 18">
              <a:extLst>
                <a:ext uri="{FF2B5EF4-FFF2-40B4-BE49-F238E27FC236}">
                  <a16:creationId xmlns:a16="http://schemas.microsoft.com/office/drawing/2014/main" id="{75BE184B-2649-C94B-A624-F2B27959ADB6}"/>
                </a:ext>
              </a:extLst>
            </p:cNvPr>
            <p:cNvSpPr txBox="1">
              <a:spLocks noChangeArrowheads="1"/>
            </p:cNvSpPr>
            <p:nvPr/>
          </p:nvSpPr>
          <p:spPr bwMode="auto">
            <a:xfrm>
              <a:off x="628471" y="2825969"/>
              <a:ext cx="652686" cy="381055"/>
            </a:xfrm>
            <a:prstGeom prst="rect">
              <a:avLst/>
            </a:prstGeom>
            <a:noFill/>
            <a:ln w="9525">
              <a:noFill/>
              <a:miter lim="800000"/>
              <a:headEnd/>
              <a:tailEnd/>
            </a:ln>
          </p:spPr>
          <p:txBody>
            <a:bodyPr wrap="none" lIns="36000" tIns="36000" rIns="36000" bIns="36000">
              <a:spAutoFit/>
            </a:bodyPr>
            <a:lstStyle/>
            <a:p>
              <a:pPr algn="l"/>
              <a:r>
                <a:rPr lang="zh-Hans" altLang="en-US" sz="2000" dirty="0">
                  <a:solidFill>
                    <a:schemeClr val="bg2">
                      <a:lumMod val="10000"/>
                    </a:schemeClr>
                  </a:solidFill>
                  <a:latin typeface="Times New Roman" charset="0"/>
                  <a:ea typeface="Times New Roman" charset="0"/>
                  <a:cs typeface="Times New Roman" charset="0"/>
                </a:rPr>
                <a:t>得证</a:t>
              </a:r>
              <a:r>
                <a:rPr lang="en-US" altLang="zh-Hans" sz="2000" dirty="0">
                  <a:solidFill>
                    <a:schemeClr val="bg2">
                      <a:lumMod val="10000"/>
                    </a:schemeClr>
                  </a:solidFill>
                  <a:latin typeface="Times New Roman" charset="0"/>
                  <a:ea typeface="Times New Roman" charset="0"/>
                  <a:cs typeface="Times New Roman" charset="0"/>
                </a:rPr>
                <a:t>.</a:t>
              </a:r>
            </a:p>
          </p:txBody>
        </p:sp>
        <p:grpSp>
          <p:nvGrpSpPr>
            <p:cNvPr id="48" name="Group 20">
              <a:extLst>
                <a:ext uri="{FF2B5EF4-FFF2-40B4-BE49-F238E27FC236}">
                  <a16:creationId xmlns:a16="http://schemas.microsoft.com/office/drawing/2014/main" id="{AC79B4F0-FDD0-6B4E-B2E2-8DB4BD00BB2B}"/>
                </a:ext>
              </a:extLst>
            </p:cNvPr>
            <p:cNvGrpSpPr>
              <a:grpSpLocks/>
            </p:cNvGrpSpPr>
            <p:nvPr/>
          </p:nvGrpSpPr>
          <p:grpSpPr bwMode="auto">
            <a:xfrm>
              <a:off x="428596" y="2928934"/>
              <a:ext cx="128588" cy="128588"/>
              <a:chOff x="2995" y="1525"/>
              <a:chExt cx="112" cy="112"/>
            </a:xfrm>
          </p:grpSpPr>
          <p:sp>
            <p:nvSpPr>
              <p:cNvPr id="49" name="AutoShape 21">
                <a:extLst>
                  <a:ext uri="{FF2B5EF4-FFF2-40B4-BE49-F238E27FC236}">
                    <a16:creationId xmlns:a16="http://schemas.microsoft.com/office/drawing/2014/main" id="{B77D721A-F20A-8D46-848D-77F052DC9D78}"/>
                  </a:ext>
                </a:extLst>
              </p:cNvPr>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sp>
            <p:nvSpPr>
              <p:cNvPr id="50" name="AutoShape 22">
                <a:extLst>
                  <a:ext uri="{FF2B5EF4-FFF2-40B4-BE49-F238E27FC236}">
                    <a16:creationId xmlns:a16="http://schemas.microsoft.com/office/drawing/2014/main" id="{1A635CD4-4A23-2C42-85CD-484FA8D70437}"/>
                  </a:ext>
                </a:extLst>
              </p:cNvPr>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bg2">
                      <a:lumMod val="10000"/>
                    </a:schemeClr>
                  </a:solidFill>
                  <a:latin typeface="Times New Roman" pitchFamily="18" charset="0"/>
                  <a:cs typeface="Times New Roman" pitchFamily="18" charset="0"/>
                </a:endParaRPr>
              </a:p>
            </p:txBody>
          </p:sp>
        </p:grpSp>
      </p:grpSp>
    </p:spTree>
    <p:extLst>
      <p:ext uri="{BB962C8B-B14F-4D97-AF65-F5344CB8AC3E}">
        <p14:creationId xmlns:p14="http://schemas.microsoft.com/office/powerpoint/2010/main" val="2405831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left)">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left)">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wipe(left)">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wipe(left)">
                                      <p:cBhvr>
                                        <p:cTn id="4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9C27EA-4D4E-43D1-9513-F97A68CF17E0}"/>
              </a:ext>
            </a:extLst>
          </p:cNvPr>
          <p:cNvSpPr>
            <a:spLocks noGrp="1"/>
          </p:cNvSpPr>
          <p:nvPr>
            <p:ph type="title"/>
          </p:nvPr>
        </p:nvSpPr>
        <p:spPr/>
        <p:txBody>
          <a:bodyPr/>
          <a:lstStyle/>
          <a:p>
            <a:r>
              <a:rPr lang="zh-CN" altLang="en-US" dirty="0"/>
              <a:t>回到论文</a:t>
            </a:r>
          </a:p>
        </p:txBody>
      </p:sp>
      <p:pic>
        <p:nvPicPr>
          <p:cNvPr id="7" name="图片 6">
            <a:extLst>
              <a:ext uri="{FF2B5EF4-FFF2-40B4-BE49-F238E27FC236}">
                <a16:creationId xmlns:a16="http://schemas.microsoft.com/office/drawing/2014/main" id="{C7808000-A0D6-4BF9-A40B-6AB7006AD3CD}"/>
              </a:ext>
            </a:extLst>
          </p:cNvPr>
          <p:cNvPicPr>
            <a:picLocks noChangeAspect="1"/>
          </p:cNvPicPr>
          <p:nvPr/>
        </p:nvPicPr>
        <p:blipFill>
          <a:blip r:embed="rId2"/>
          <a:stretch>
            <a:fillRect/>
          </a:stretch>
        </p:blipFill>
        <p:spPr>
          <a:xfrm>
            <a:off x="4602292" y="1790517"/>
            <a:ext cx="4114553" cy="563563"/>
          </a:xfrm>
          <a:prstGeom prst="rect">
            <a:avLst/>
          </a:prstGeom>
        </p:spPr>
      </p:pic>
      <p:pic>
        <p:nvPicPr>
          <p:cNvPr id="9" name="图片 8">
            <a:extLst>
              <a:ext uri="{FF2B5EF4-FFF2-40B4-BE49-F238E27FC236}">
                <a16:creationId xmlns:a16="http://schemas.microsoft.com/office/drawing/2014/main" id="{1FE45717-6E95-431A-B42E-597DC7E28D72}"/>
              </a:ext>
            </a:extLst>
          </p:cNvPr>
          <p:cNvPicPr>
            <a:picLocks noChangeAspect="1"/>
          </p:cNvPicPr>
          <p:nvPr/>
        </p:nvPicPr>
        <p:blipFill rotWithShape="1">
          <a:blip r:embed="rId3"/>
          <a:srcRect r="5371"/>
          <a:stretch/>
        </p:blipFill>
        <p:spPr>
          <a:xfrm>
            <a:off x="427157" y="913100"/>
            <a:ext cx="4114553" cy="5437904"/>
          </a:xfrm>
          <a:prstGeom prst="rect">
            <a:avLst/>
          </a:prstGeom>
        </p:spPr>
      </p:pic>
      <p:pic>
        <p:nvPicPr>
          <p:cNvPr id="11" name="图片 10">
            <a:extLst>
              <a:ext uri="{FF2B5EF4-FFF2-40B4-BE49-F238E27FC236}">
                <a16:creationId xmlns:a16="http://schemas.microsoft.com/office/drawing/2014/main" id="{3023CDA8-E4AF-4471-A1D9-554A786FEECE}"/>
              </a:ext>
            </a:extLst>
          </p:cNvPr>
          <p:cNvPicPr>
            <a:picLocks noChangeAspect="1"/>
          </p:cNvPicPr>
          <p:nvPr/>
        </p:nvPicPr>
        <p:blipFill>
          <a:blip r:embed="rId4"/>
          <a:stretch>
            <a:fillRect/>
          </a:stretch>
        </p:blipFill>
        <p:spPr>
          <a:xfrm>
            <a:off x="4602292" y="3632052"/>
            <a:ext cx="4114554" cy="1259219"/>
          </a:xfrm>
          <a:prstGeom prst="rect">
            <a:avLst/>
          </a:prstGeom>
        </p:spPr>
      </p:pic>
      <p:pic>
        <p:nvPicPr>
          <p:cNvPr id="6" name="图片 5">
            <a:extLst>
              <a:ext uri="{FF2B5EF4-FFF2-40B4-BE49-F238E27FC236}">
                <a16:creationId xmlns:a16="http://schemas.microsoft.com/office/drawing/2014/main" id="{7D342CAD-CAB0-4916-97A6-5D3D1AFFD26D}"/>
              </a:ext>
            </a:extLst>
          </p:cNvPr>
          <p:cNvPicPr>
            <a:picLocks noChangeAspect="1"/>
          </p:cNvPicPr>
          <p:nvPr/>
        </p:nvPicPr>
        <p:blipFill>
          <a:blip r:embed="rId5"/>
          <a:stretch>
            <a:fillRect/>
          </a:stretch>
        </p:blipFill>
        <p:spPr>
          <a:xfrm>
            <a:off x="2913487" y="5528973"/>
            <a:ext cx="5924854" cy="457223"/>
          </a:xfrm>
          <a:prstGeom prst="rect">
            <a:avLst/>
          </a:prstGeom>
        </p:spPr>
      </p:pic>
    </p:spTree>
    <p:extLst>
      <p:ext uri="{BB962C8B-B14F-4D97-AF65-F5344CB8AC3E}">
        <p14:creationId xmlns:p14="http://schemas.microsoft.com/office/powerpoint/2010/main" val="367627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olidFill>
                  <a:schemeClr val="tx1">
                    <a:lumMod val="50000"/>
                  </a:schemeClr>
                </a:solidFill>
              </a:rPr>
              <a:t>近似方案</a:t>
            </a:r>
          </a:p>
        </p:txBody>
      </p:sp>
      <p:grpSp>
        <p:nvGrpSpPr>
          <p:cNvPr id="3" name="组合 2">
            <a:extLst>
              <a:ext uri="{FF2B5EF4-FFF2-40B4-BE49-F238E27FC236}">
                <a16:creationId xmlns:a16="http://schemas.microsoft.com/office/drawing/2014/main" id="{2CB92225-1BC8-426C-94EE-D7432FBC35F6}"/>
              </a:ext>
            </a:extLst>
          </p:cNvPr>
          <p:cNvGrpSpPr/>
          <p:nvPr/>
        </p:nvGrpSpPr>
        <p:grpSpPr>
          <a:xfrm>
            <a:off x="354320" y="908720"/>
            <a:ext cx="8403448" cy="1359058"/>
            <a:chOff x="354320" y="908720"/>
            <a:chExt cx="8403448" cy="1359058"/>
          </a:xfrm>
        </p:grpSpPr>
        <p:grpSp>
          <p:nvGrpSpPr>
            <p:cNvPr id="6" name="组合 16"/>
            <p:cNvGrpSpPr>
              <a:grpSpLocks/>
            </p:cNvGrpSpPr>
            <p:nvPr/>
          </p:nvGrpSpPr>
          <p:grpSpPr bwMode="auto">
            <a:xfrm>
              <a:off x="354320" y="908720"/>
              <a:ext cx="8403448" cy="504056"/>
              <a:chOff x="5082972" y="1785322"/>
              <a:chExt cx="8401871" cy="504294"/>
            </a:xfrm>
          </p:grpSpPr>
          <p:pic>
            <p:nvPicPr>
              <p:cNvPr id="7" name="Picture 28" descr="02_icon"/>
              <p:cNvPicPr>
                <a:picLocks noChangeAspect="1" noChangeArrowheads="1"/>
              </p:cNvPicPr>
              <p:nvPr/>
            </p:nvPicPr>
            <p:blipFill>
              <a:blip r:embed="rId2" cstate="print"/>
              <a:srcRect/>
              <a:stretch>
                <a:fillRect/>
              </a:stretch>
            </p:blipFill>
            <p:spPr bwMode="auto">
              <a:xfrm>
                <a:off x="5082972" y="1890719"/>
                <a:ext cx="322441" cy="398897"/>
              </a:xfrm>
              <a:prstGeom prst="rect">
                <a:avLst/>
              </a:prstGeom>
              <a:noFill/>
              <a:ln w="9525">
                <a:noFill/>
                <a:miter lim="800000"/>
                <a:headEnd/>
                <a:tailEnd/>
              </a:ln>
            </p:spPr>
          </p:pic>
          <p:sp>
            <p:nvSpPr>
              <p:cNvPr id="8" name="Text Box 33"/>
              <p:cNvSpPr txBox="1">
                <a:spLocks noChangeArrowheads="1"/>
              </p:cNvSpPr>
              <p:nvPr/>
            </p:nvSpPr>
            <p:spPr bwMode="black">
              <a:xfrm>
                <a:off x="5381966" y="1785322"/>
                <a:ext cx="8102877" cy="461883"/>
              </a:xfrm>
              <a:prstGeom prst="rect">
                <a:avLst/>
              </a:prstGeom>
              <a:noFill/>
              <a:ln w="9525">
                <a:noFill/>
                <a:miter lim="800000"/>
                <a:headEnd/>
                <a:tailEnd/>
              </a:ln>
            </p:spPr>
            <p:txBody>
              <a:bodyPr wrap="none">
                <a:spAutoFit/>
              </a:bodyPr>
              <a:lstStyle/>
              <a:p>
                <a:pPr algn="l">
                  <a:spcBef>
                    <a:spcPct val="50000"/>
                  </a:spcBef>
                </a:pPr>
                <a:r>
                  <a:rPr lang="zh-CN" altLang="en-US" sz="2400" dirty="0">
                    <a:solidFill>
                      <a:schemeClr val="tx1">
                        <a:lumMod val="50000"/>
                      </a:schemeClr>
                    </a:solidFill>
                    <a:latin typeface="Times New Roman" pitchFamily="18" charset="0"/>
                    <a:cs typeface="Times New Roman" pitchFamily="18" charset="0"/>
                  </a:rPr>
                  <a:t>近似方案</a:t>
                </a:r>
                <a:r>
                  <a:rPr lang="en-US" altLang="zh-CN" sz="2400" dirty="0">
                    <a:solidFill>
                      <a:schemeClr val="tx1">
                        <a:lumMod val="50000"/>
                      </a:schemeClr>
                    </a:solidFill>
                    <a:latin typeface="Times New Roman" pitchFamily="18" charset="0"/>
                    <a:cs typeface="Times New Roman" pitchFamily="18" charset="0"/>
                  </a:rPr>
                  <a:t>(Approximation</a:t>
                </a:r>
                <a:r>
                  <a:rPr lang="zh-CN" altLang="en-US" sz="2400" dirty="0">
                    <a:solidFill>
                      <a:schemeClr val="tx1">
                        <a:lumMod val="50000"/>
                      </a:schemeClr>
                    </a:solidFill>
                    <a:latin typeface="Times New Roman" pitchFamily="18" charset="0"/>
                    <a:cs typeface="Times New Roman" pitchFamily="18" charset="0"/>
                  </a:rPr>
                  <a:t> </a:t>
                </a:r>
                <a:r>
                  <a:rPr lang="en-US" altLang="zh-CN" sz="2400" dirty="0">
                    <a:solidFill>
                      <a:schemeClr val="tx1">
                        <a:lumMod val="50000"/>
                      </a:schemeClr>
                    </a:solidFill>
                    <a:latin typeface="Times New Roman" pitchFamily="18" charset="0"/>
                    <a:cs typeface="Times New Roman" pitchFamily="18" charset="0"/>
                  </a:rPr>
                  <a:t>Scheme)</a:t>
                </a:r>
                <a:r>
                  <a:rPr lang="zh-CN" altLang="en-US" sz="2400" dirty="0">
                    <a:solidFill>
                      <a:schemeClr val="tx1">
                        <a:lumMod val="50000"/>
                      </a:schemeClr>
                    </a:solidFill>
                    <a:latin typeface="Times New Roman" pitchFamily="18" charset="0"/>
                    <a:cs typeface="Times New Roman" pitchFamily="18" charset="0"/>
                  </a:rPr>
                  <a:t>是一种特殊的近似算法。</a:t>
                </a:r>
                <a:endParaRPr lang="en-US" altLang="zh-CN" sz="2400" dirty="0">
                  <a:solidFill>
                    <a:schemeClr val="tx1">
                      <a:lumMod val="50000"/>
                    </a:schemeClr>
                  </a:solidFill>
                  <a:latin typeface="Times New Roman" pitchFamily="18" charset="0"/>
                  <a:cs typeface="Times New Roman" pitchFamily="18" charset="0"/>
                </a:endParaRPr>
              </a:p>
            </p:txBody>
          </p:sp>
        </p:grpSp>
        <p:grpSp>
          <p:nvGrpSpPr>
            <p:cNvPr id="9" name="组合 42"/>
            <p:cNvGrpSpPr>
              <a:grpSpLocks/>
            </p:cNvGrpSpPr>
            <p:nvPr/>
          </p:nvGrpSpPr>
          <p:grpSpPr bwMode="auto">
            <a:xfrm>
              <a:off x="683568" y="1459797"/>
              <a:ext cx="7300044" cy="380480"/>
              <a:chOff x="428596" y="2825969"/>
              <a:chExt cx="7296653" cy="381055"/>
            </a:xfrm>
          </p:grpSpPr>
          <mc:AlternateContent xmlns:mc="http://schemas.openxmlformats.org/markup-compatibility/2006" xmlns:a14="http://schemas.microsoft.com/office/drawing/2010/main">
            <mc:Choice Requires="a14">
              <p:sp>
                <p:nvSpPr>
                  <p:cNvPr id="10" name="TextBox 18"/>
                  <p:cNvSpPr txBox="1">
                    <a:spLocks noChangeArrowheads="1"/>
                  </p:cNvSpPr>
                  <p:nvPr/>
                </p:nvSpPr>
                <p:spPr bwMode="auto">
                  <a:xfrm>
                    <a:off x="628471" y="2825969"/>
                    <a:ext cx="7096778"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tx1">
                            <a:lumMod val="50000"/>
                          </a:schemeClr>
                        </a:solidFill>
                      </a:rPr>
                      <a:t>除了问题实例之外，还有一个允许调用者设定的参数：</a:t>
                    </a:r>
                    <a14:m>
                      <m:oMath xmlns:m="http://schemas.openxmlformats.org/officeDocument/2006/math">
                        <m:r>
                          <a:rPr lang="en-US" altLang="zh-CN" sz="2000" b="1" i="1" smtClean="0">
                            <a:solidFill>
                              <a:schemeClr val="tx1">
                                <a:lumMod val="50000"/>
                              </a:schemeClr>
                            </a:solidFill>
                            <a:latin typeface="Cambria Math" charset="0"/>
                          </a:rPr>
                          <m:t>𝝐</m:t>
                        </m:r>
                        <m:r>
                          <a:rPr lang="en-US" altLang="zh-CN" sz="2000" b="1" i="1" smtClean="0">
                            <a:solidFill>
                              <a:schemeClr val="tx1">
                                <a:lumMod val="50000"/>
                              </a:schemeClr>
                            </a:solidFill>
                            <a:latin typeface="Cambria Math" charset="0"/>
                          </a:rPr>
                          <m:t>&gt;</m:t>
                        </m:r>
                        <m:r>
                          <a:rPr lang="en-US" altLang="zh-CN" sz="2000" b="1" i="1" smtClean="0">
                            <a:solidFill>
                              <a:schemeClr val="tx1">
                                <a:lumMod val="50000"/>
                              </a:schemeClr>
                            </a:solidFill>
                            <a:latin typeface="Cambria Math" charset="0"/>
                          </a:rPr>
                          <m:t>𝟎</m:t>
                        </m:r>
                      </m:oMath>
                    </a14:m>
                    <a:r>
                      <a:rPr lang="zh-CN" altLang="en-US" sz="2000" dirty="0">
                        <a:solidFill>
                          <a:schemeClr val="tx1">
                            <a:lumMod val="50000"/>
                          </a:schemeClr>
                        </a:solidFill>
                      </a:rPr>
                      <a:t>；</a:t>
                    </a:r>
                    <a:endParaRPr lang="zh-CN" altLang="zh-CN" sz="2000" dirty="0">
                      <a:solidFill>
                        <a:schemeClr val="tx1">
                          <a:lumMod val="50000"/>
                        </a:schemeClr>
                      </a:solidFill>
                    </a:endParaRPr>
                  </a:p>
                </p:txBody>
              </p:sp>
            </mc:Choice>
            <mc:Fallback xmlns="">
              <p:sp>
                <p:nvSpPr>
                  <p:cNvPr id="10" name="TextBox 18"/>
                  <p:cNvSpPr txBox="1">
                    <a:spLocks noRot="1" noChangeAspect="1" noMove="1" noResize="1" noEditPoints="1" noAdjustHandles="1" noChangeArrowheads="1" noChangeShapeType="1" noTextEdit="1"/>
                  </p:cNvSpPr>
                  <p:nvPr/>
                </p:nvSpPr>
                <p:spPr bwMode="auto">
                  <a:xfrm>
                    <a:off x="628471" y="2825969"/>
                    <a:ext cx="7096778" cy="381055"/>
                  </a:xfrm>
                  <a:prstGeom prst="rect">
                    <a:avLst/>
                  </a:prstGeom>
                  <a:blipFill>
                    <a:blip r:embed="rId3"/>
                    <a:stretch>
                      <a:fillRect l="-1717" t="-11111" r="-944" b="-30159"/>
                    </a:stretch>
                  </a:blipFill>
                  <a:ln w="9525">
                    <a:noFill/>
                    <a:miter lim="800000"/>
                    <a:headEnd/>
                    <a:tailEnd/>
                  </a:ln>
                </p:spPr>
                <p:txBody>
                  <a:bodyPr/>
                  <a:lstStyle/>
                  <a:p>
                    <a:r>
                      <a:rPr lang="zh-CN" altLang="en-US">
                        <a:noFill/>
                      </a:rPr>
                      <a:t> </a:t>
                    </a:r>
                  </a:p>
                </p:txBody>
              </p:sp>
            </mc:Fallback>
          </mc:AlternateContent>
          <p:grpSp>
            <p:nvGrpSpPr>
              <p:cNvPr id="11" name="Group 20"/>
              <p:cNvGrpSpPr>
                <a:grpSpLocks/>
              </p:cNvGrpSpPr>
              <p:nvPr/>
            </p:nvGrpSpPr>
            <p:grpSpPr bwMode="auto">
              <a:xfrm>
                <a:off x="428596" y="2928934"/>
                <a:ext cx="128588" cy="128588"/>
                <a:chOff x="2995" y="1525"/>
                <a:chExt cx="112" cy="112"/>
              </a:xfrm>
            </p:grpSpPr>
            <p:sp>
              <p:nvSpPr>
                <p:cNvPr id="12"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sp>
              <p:nvSpPr>
                <p:cNvPr id="13"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grpSp>
        </p:grpSp>
        <p:grpSp>
          <p:nvGrpSpPr>
            <p:cNvPr id="14" name="组合 42"/>
            <p:cNvGrpSpPr>
              <a:grpSpLocks/>
            </p:cNvGrpSpPr>
            <p:nvPr/>
          </p:nvGrpSpPr>
          <p:grpSpPr bwMode="auto">
            <a:xfrm>
              <a:off x="683568" y="1887298"/>
              <a:ext cx="5989172" cy="380480"/>
              <a:chOff x="428596" y="2825969"/>
              <a:chExt cx="5986387" cy="381055"/>
            </a:xfrm>
          </p:grpSpPr>
          <mc:AlternateContent xmlns:mc="http://schemas.openxmlformats.org/markup-compatibility/2006" xmlns:a14="http://schemas.microsoft.com/office/drawing/2010/main">
            <mc:Choice Requires="a14">
              <p:sp>
                <p:nvSpPr>
                  <p:cNvPr id="15" name="TextBox 18"/>
                  <p:cNvSpPr txBox="1">
                    <a:spLocks noChangeArrowheads="1"/>
                  </p:cNvSpPr>
                  <p:nvPr/>
                </p:nvSpPr>
                <p:spPr bwMode="auto">
                  <a:xfrm>
                    <a:off x="628471" y="2825969"/>
                    <a:ext cx="5786512"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tx1">
                            <a:lumMod val="50000"/>
                          </a:schemeClr>
                        </a:solidFill>
                      </a:rPr>
                      <a:t>该算法保证其近似比为</a:t>
                    </a:r>
                    <a14:m>
                      <m:oMath xmlns:m="http://schemas.openxmlformats.org/officeDocument/2006/math">
                        <m:r>
                          <a:rPr lang="en-US" altLang="zh-CN" sz="2000" b="1" i="1" smtClean="0">
                            <a:solidFill>
                              <a:schemeClr val="tx1">
                                <a:lumMod val="50000"/>
                              </a:schemeClr>
                            </a:solidFill>
                            <a:latin typeface="Cambria Math" charset="0"/>
                          </a:rPr>
                          <m:t>𝟏</m:t>
                        </m:r>
                        <m:r>
                          <a:rPr lang="en-US" altLang="zh-CN" sz="2000" b="1" i="1" smtClean="0">
                            <a:solidFill>
                              <a:schemeClr val="tx1">
                                <a:lumMod val="50000"/>
                              </a:schemeClr>
                            </a:solidFill>
                            <a:latin typeface="Cambria Math" charset="0"/>
                          </a:rPr>
                          <m:t>+</m:t>
                        </m:r>
                        <m:r>
                          <a:rPr lang="en-US" altLang="zh-CN" sz="2000" b="1" i="1" smtClean="0">
                            <a:solidFill>
                              <a:schemeClr val="tx1">
                                <a:lumMod val="50000"/>
                              </a:schemeClr>
                            </a:solidFill>
                            <a:latin typeface="Cambria Math" charset="0"/>
                          </a:rPr>
                          <m:t>𝝐</m:t>
                        </m:r>
                      </m:oMath>
                    </a14:m>
                    <a:r>
                      <a:rPr lang="zh-CN" altLang="en-US" sz="2000" dirty="0">
                        <a:solidFill>
                          <a:schemeClr val="tx1">
                            <a:lumMod val="50000"/>
                          </a:schemeClr>
                        </a:solidFill>
                      </a:rPr>
                      <a:t>。</a:t>
                    </a:r>
                    <a:r>
                      <a:rPr lang="en-US" altLang="zh-CN" sz="2000" dirty="0">
                        <a:solidFill>
                          <a:schemeClr val="tx1">
                            <a:lumMod val="50000"/>
                          </a:schemeClr>
                        </a:solidFill>
                      </a:rPr>
                      <a:t>【</a:t>
                    </a:r>
                    <a:r>
                      <a:rPr lang="zh-CN" altLang="en-US" sz="2000" dirty="0">
                        <a:solidFill>
                          <a:schemeClr val="tx1">
                            <a:lumMod val="50000"/>
                          </a:schemeClr>
                        </a:solidFill>
                      </a:rPr>
                      <a:t>任意接近最佳值</a:t>
                    </a:r>
                    <a:r>
                      <a:rPr lang="en-US" altLang="zh-CN" sz="2000" dirty="0">
                        <a:solidFill>
                          <a:schemeClr val="tx1">
                            <a:lumMod val="50000"/>
                          </a:schemeClr>
                        </a:solidFill>
                      </a:rPr>
                      <a:t>】</a:t>
                    </a:r>
                    <a:endParaRPr lang="zh-CN" altLang="zh-CN" sz="2000" dirty="0">
                      <a:solidFill>
                        <a:schemeClr val="tx1">
                          <a:lumMod val="50000"/>
                        </a:schemeClr>
                      </a:solidFill>
                    </a:endParaRPr>
                  </a:p>
                </p:txBody>
              </p:sp>
            </mc:Choice>
            <mc:Fallback xmlns="">
              <p:sp>
                <p:nvSpPr>
                  <p:cNvPr id="15" name="TextBox 18"/>
                  <p:cNvSpPr txBox="1">
                    <a:spLocks noRot="1" noChangeAspect="1" noMove="1" noResize="1" noEditPoints="1" noAdjustHandles="1" noChangeArrowheads="1" noChangeShapeType="1" noTextEdit="1"/>
                  </p:cNvSpPr>
                  <p:nvPr/>
                </p:nvSpPr>
                <p:spPr bwMode="auto">
                  <a:xfrm>
                    <a:off x="628471" y="2825969"/>
                    <a:ext cx="5786512" cy="381055"/>
                  </a:xfrm>
                  <a:prstGeom prst="rect">
                    <a:avLst/>
                  </a:prstGeom>
                  <a:blipFill>
                    <a:blip r:embed="rId4"/>
                    <a:stretch>
                      <a:fillRect l="-2105" t="-11290" r="-1263" b="-30645"/>
                    </a:stretch>
                  </a:blipFill>
                  <a:ln w="9525">
                    <a:noFill/>
                    <a:miter lim="800000"/>
                    <a:headEnd/>
                    <a:tailEnd/>
                  </a:ln>
                </p:spPr>
                <p:txBody>
                  <a:bodyPr/>
                  <a:lstStyle/>
                  <a:p>
                    <a:r>
                      <a:rPr lang="zh-CN" altLang="en-US">
                        <a:noFill/>
                      </a:rPr>
                      <a:t> </a:t>
                    </a:r>
                  </a:p>
                </p:txBody>
              </p:sp>
            </mc:Fallback>
          </mc:AlternateContent>
          <p:grpSp>
            <p:nvGrpSpPr>
              <p:cNvPr id="16" name="Group 20"/>
              <p:cNvGrpSpPr>
                <a:grpSpLocks/>
              </p:cNvGrpSpPr>
              <p:nvPr/>
            </p:nvGrpSpPr>
            <p:grpSpPr bwMode="auto">
              <a:xfrm>
                <a:off x="428596" y="2928934"/>
                <a:ext cx="128588" cy="128588"/>
                <a:chOff x="2995" y="1525"/>
                <a:chExt cx="112" cy="112"/>
              </a:xfrm>
            </p:grpSpPr>
            <p:sp>
              <p:nvSpPr>
                <p:cNvPr id="17"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sp>
              <p:nvSpPr>
                <p:cNvPr id="18"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grpSp>
        </p:grpSp>
      </p:grpSp>
      <p:grpSp>
        <p:nvGrpSpPr>
          <p:cNvPr id="46" name="组合 45">
            <a:extLst>
              <a:ext uri="{FF2B5EF4-FFF2-40B4-BE49-F238E27FC236}">
                <a16:creationId xmlns:a16="http://schemas.microsoft.com/office/drawing/2014/main" id="{D2F131EF-1688-46DD-B8D8-A26BFC39E681}"/>
              </a:ext>
            </a:extLst>
          </p:cNvPr>
          <p:cNvGrpSpPr/>
          <p:nvPr/>
        </p:nvGrpSpPr>
        <p:grpSpPr>
          <a:xfrm>
            <a:off x="345020" y="2314799"/>
            <a:ext cx="8243117" cy="1359058"/>
            <a:chOff x="345020" y="2314799"/>
            <a:chExt cx="8243117" cy="1359058"/>
          </a:xfrm>
        </p:grpSpPr>
        <p:grpSp>
          <p:nvGrpSpPr>
            <p:cNvPr id="19" name="组合 16"/>
            <p:cNvGrpSpPr>
              <a:grpSpLocks/>
            </p:cNvGrpSpPr>
            <p:nvPr/>
          </p:nvGrpSpPr>
          <p:grpSpPr bwMode="auto">
            <a:xfrm>
              <a:off x="345020" y="2314799"/>
              <a:ext cx="2330376" cy="504056"/>
              <a:chOff x="5082972" y="1785322"/>
              <a:chExt cx="2329937" cy="504294"/>
            </a:xfrm>
          </p:grpSpPr>
          <p:pic>
            <p:nvPicPr>
              <p:cNvPr id="20" name="Picture 28" descr="02_icon"/>
              <p:cNvPicPr>
                <a:picLocks noChangeAspect="1" noChangeArrowheads="1"/>
              </p:cNvPicPr>
              <p:nvPr/>
            </p:nvPicPr>
            <p:blipFill>
              <a:blip r:embed="rId2" cstate="print"/>
              <a:srcRect/>
              <a:stretch>
                <a:fillRect/>
              </a:stretch>
            </p:blipFill>
            <p:spPr bwMode="auto">
              <a:xfrm>
                <a:off x="5082972" y="1890719"/>
                <a:ext cx="322441" cy="398897"/>
              </a:xfrm>
              <a:prstGeom prst="rect">
                <a:avLst/>
              </a:prstGeom>
              <a:noFill/>
              <a:ln w="9525">
                <a:noFill/>
                <a:miter lim="800000"/>
                <a:headEnd/>
                <a:tailEnd/>
              </a:ln>
            </p:spPr>
          </p:pic>
          <p:sp>
            <p:nvSpPr>
              <p:cNvPr id="21" name="Text Box 33"/>
              <p:cNvSpPr txBox="1">
                <a:spLocks noChangeArrowheads="1"/>
              </p:cNvSpPr>
              <p:nvPr/>
            </p:nvSpPr>
            <p:spPr bwMode="black">
              <a:xfrm>
                <a:off x="5381966" y="1785322"/>
                <a:ext cx="2030943" cy="461883"/>
              </a:xfrm>
              <a:prstGeom prst="rect">
                <a:avLst/>
              </a:prstGeom>
              <a:noFill/>
              <a:ln w="9525">
                <a:noFill/>
                <a:miter lim="800000"/>
                <a:headEnd/>
                <a:tailEnd/>
              </a:ln>
            </p:spPr>
            <p:txBody>
              <a:bodyPr wrap="none">
                <a:spAutoFit/>
              </a:bodyPr>
              <a:lstStyle/>
              <a:p>
                <a:pPr algn="l">
                  <a:spcBef>
                    <a:spcPct val="50000"/>
                  </a:spcBef>
                </a:pPr>
                <a:r>
                  <a:rPr lang="zh-CN" altLang="en-US" sz="2400" dirty="0">
                    <a:solidFill>
                      <a:schemeClr val="tx1">
                        <a:lumMod val="50000"/>
                      </a:schemeClr>
                    </a:solidFill>
                    <a:latin typeface="Times New Roman" pitchFamily="18" charset="0"/>
                    <a:cs typeface="Times New Roman" pitchFamily="18" charset="0"/>
                  </a:rPr>
                  <a:t>两个坏消息：</a:t>
                </a:r>
                <a:endParaRPr lang="en-US" altLang="zh-CN" sz="2400" dirty="0">
                  <a:solidFill>
                    <a:schemeClr val="tx1">
                      <a:lumMod val="50000"/>
                    </a:schemeClr>
                  </a:solidFill>
                  <a:latin typeface="Times New Roman" pitchFamily="18" charset="0"/>
                  <a:cs typeface="Times New Roman" pitchFamily="18" charset="0"/>
                </a:endParaRPr>
              </a:p>
            </p:txBody>
          </p:sp>
        </p:grpSp>
        <p:grpSp>
          <p:nvGrpSpPr>
            <p:cNvPr id="22" name="组合 42"/>
            <p:cNvGrpSpPr>
              <a:grpSpLocks/>
            </p:cNvGrpSpPr>
            <p:nvPr/>
          </p:nvGrpSpPr>
          <p:grpSpPr bwMode="auto">
            <a:xfrm>
              <a:off x="683568" y="2865876"/>
              <a:ext cx="4685739" cy="380480"/>
              <a:chOff x="428596" y="2825969"/>
              <a:chExt cx="4683565" cy="381055"/>
            </a:xfrm>
          </p:grpSpPr>
          <p:sp>
            <p:nvSpPr>
              <p:cNvPr id="23" name="TextBox 18"/>
              <p:cNvSpPr txBox="1">
                <a:spLocks noChangeArrowheads="1"/>
              </p:cNvSpPr>
              <p:nvPr/>
            </p:nvSpPr>
            <p:spPr bwMode="auto">
              <a:xfrm>
                <a:off x="628471" y="2825969"/>
                <a:ext cx="4483690"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tx1">
                        <a:lumMod val="50000"/>
                      </a:schemeClr>
                    </a:solidFill>
                  </a:rPr>
                  <a:t>很少有</a:t>
                </a:r>
                <a:r>
                  <a:rPr lang="en-US" altLang="zh-CN" sz="2000" dirty="0">
                    <a:solidFill>
                      <a:schemeClr val="tx1">
                        <a:lumMod val="50000"/>
                      </a:schemeClr>
                    </a:solidFill>
                  </a:rPr>
                  <a:t>NP-Hard</a:t>
                </a:r>
                <a:r>
                  <a:rPr lang="zh-CN" altLang="en-US" sz="2000" dirty="0">
                    <a:solidFill>
                      <a:schemeClr val="tx1">
                        <a:lumMod val="50000"/>
                      </a:schemeClr>
                    </a:solidFill>
                  </a:rPr>
                  <a:t>问题能有这样的运气。</a:t>
                </a:r>
                <a:endParaRPr lang="zh-CN" altLang="zh-CN" sz="2000" dirty="0">
                  <a:solidFill>
                    <a:schemeClr val="tx1">
                      <a:lumMod val="50000"/>
                    </a:schemeClr>
                  </a:solidFill>
                </a:endParaRPr>
              </a:p>
            </p:txBody>
          </p:sp>
          <p:grpSp>
            <p:nvGrpSpPr>
              <p:cNvPr id="24" name="Group 20"/>
              <p:cNvGrpSpPr>
                <a:grpSpLocks/>
              </p:cNvGrpSpPr>
              <p:nvPr/>
            </p:nvGrpSpPr>
            <p:grpSpPr bwMode="auto">
              <a:xfrm>
                <a:off x="428596" y="2928934"/>
                <a:ext cx="128588" cy="128588"/>
                <a:chOff x="2995" y="1525"/>
                <a:chExt cx="112" cy="112"/>
              </a:xfrm>
            </p:grpSpPr>
            <p:sp>
              <p:nvSpPr>
                <p:cNvPr id="25"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sp>
              <p:nvSpPr>
                <p:cNvPr id="26"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grpSp>
        </p:grpSp>
        <p:grpSp>
          <p:nvGrpSpPr>
            <p:cNvPr id="27" name="组合 42"/>
            <p:cNvGrpSpPr>
              <a:grpSpLocks/>
            </p:cNvGrpSpPr>
            <p:nvPr/>
          </p:nvGrpSpPr>
          <p:grpSpPr bwMode="auto">
            <a:xfrm>
              <a:off x="683568" y="3293377"/>
              <a:ext cx="7904569" cy="380480"/>
              <a:chOff x="428596" y="2825969"/>
              <a:chExt cx="7900897" cy="381055"/>
            </a:xfrm>
          </p:grpSpPr>
          <mc:AlternateContent xmlns:mc="http://schemas.openxmlformats.org/markup-compatibility/2006" xmlns:a14="http://schemas.microsoft.com/office/drawing/2010/main">
            <mc:Choice Requires="a14">
              <p:sp>
                <p:nvSpPr>
                  <p:cNvPr id="28" name="TextBox 18"/>
                  <p:cNvSpPr txBox="1">
                    <a:spLocks noChangeArrowheads="1"/>
                  </p:cNvSpPr>
                  <p:nvPr/>
                </p:nvSpPr>
                <p:spPr bwMode="auto">
                  <a:xfrm>
                    <a:off x="628471" y="2825969"/>
                    <a:ext cx="7701022"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tx1">
                            <a:lumMod val="50000"/>
                          </a:schemeClr>
                        </a:solidFill>
                      </a:rPr>
                      <a:t>这是有代价的：运行时间与</a:t>
                    </a:r>
                    <a14:m>
                      <m:oMath xmlns:m="http://schemas.openxmlformats.org/officeDocument/2006/math">
                        <m:r>
                          <a:rPr lang="en-US" altLang="zh-CN" sz="2000" b="1" i="1" smtClean="0">
                            <a:solidFill>
                              <a:schemeClr val="tx1">
                                <a:lumMod val="50000"/>
                              </a:schemeClr>
                            </a:solidFill>
                            <a:latin typeface="Cambria Math" charset="0"/>
                          </a:rPr>
                          <m:t>𝟏</m:t>
                        </m:r>
                        <m:r>
                          <a:rPr lang="en-US" altLang="zh-CN" sz="2000" b="1" i="1" smtClean="0">
                            <a:solidFill>
                              <a:schemeClr val="tx1">
                                <a:lumMod val="50000"/>
                              </a:schemeClr>
                            </a:solidFill>
                            <a:latin typeface="Cambria Math" charset="0"/>
                          </a:rPr>
                          <m:t>/</m:t>
                        </m:r>
                        <m:r>
                          <a:rPr lang="en-US" altLang="zh-CN" sz="2000" b="1" i="1" smtClean="0">
                            <a:solidFill>
                              <a:schemeClr val="tx1">
                                <a:lumMod val="50000"/>
                              </a:schemeClr>
                            </a:solidFill>
                            <a:latin typeface="Cambria Math" charset="0"/>
                          </a:rPr>
                          <m:t>𝝐</m:t>
                        </m:r>
                      </m:oMath>
                    </a14:m>
                    <a:r>
                      <a:rPr lang="zh-CN" altLang="en-US" sz="2000" dirty="0">
                        <a:solidFill>
                          <a:schemeClr val="tx1">
                            <a:lumMod val="50000"/>
                          </a:schemeClr>
                        </a:solidFill>
                      </a:rPr>
                      <a:t>成正比。</a:t>
                    </a:r>
                    <a:r>
                      <a:rPr lang="en-US" altLang="zh-CN" sz="2000" dirty="0">
                        <a:solidFill>
                          <a:schemeClr val="tx1">
                            <a:lumMod val="50000"/>
                          </a:schemeClr>
                        </a:solidFill>
                      </a:rPr>
                      <a:t>【</a:t>
                    </a:r>
                    <a:r>
                      <a:rPr lang="zh-CN" altLang="en-US" sz="2000" dirty="0">
                        <a:solidFill>
                          <a:schemeClr val="tx1">
                            <a:lumMod val="50000"/>
                          </a:schemeClr>
                        </a:solidFill>
                      </a:rPr>
                      <a:t>性能与时间的折衷可控</a:t>
                    </a:r>
                    <a:r>
                      <a:rPr lang="en-US" altLang="zh-CN" sz="2000" dirty="0">
                        <a:solidFill>
                          <a:schemeClr val="tx1">
                            <a:lumMod val="50000"/>
                          </a:schemeClr>
                        </a:solidFill>
                      </a:rPr>
                      <a:t>】</a:t>
                    </a:r>
                    <a:endParaRPr lang="zh-CN" altLang="zh-CN" sz="2000" dirty="0">
                      <a:solidFill>
                        <a:schemeClr val="tx1">
                          <a:lumMod val="50000"/>
                        </a:schemeClr>
                      </a:solidFill>
                    </a:endParaRPr>
                  </a:p>
                </p:txBody>
              </p:sp>
            </mc:Choice>
            <mc:Fallback xmlns="">
              <p:sp>
                <p:nvSpPr>
                  <p:cNvPr id="28" name="TextBox 18"/>
                  <p:cNvSpPr txBox="1">
                    <a:spLocks noRot="1" noChangeAspect="1" noMove="1" noResize="1" noEditPoints="1" noAdjustHandles="1" noChangeArrowheads="1" noChangeShapeType="1" noTextEdit="1"/>
                  </p:cNvSpPr>
                  <p:nvPr/>
                </p:nvSpPr>
                <p:spPr bwMode="auto">
                  <a:xfrm>
                    <a:off x="628471" y="2825969"/>
                    <a:ext cx="7701022" cy="381055"/>
                  </a:xfrm>
                  <a:prstGeom prst="rect">
                    <a:avLst/>
                  </a:prstGeom>
                  <a:blipFill>
                    <a:blip r:embed="rId5"/>
                    <a:stretch>
                      <a:fillRect l="-1582" t="-11111" r="-237" b="-30159"/>
                    </a:stretch>
                  </a:blipFill>
                  <a:ln w="9525">
                    <a:noFill/>
                    <a:miter lim="800000"/>
                    <a:headEnd/>
                    <a:tailEnd/>
                  </a:ln>
                </p:spPr>
                <p:txBody>
                  <a:bodyPr/>
                  <a:lstStyle/>
                  <a:p>
                    <a:r>
                      <a:rPr lang="zh-CN" altLang="en-US">
                        <a:noFill/>
                      </a:rPr>
                      <a:t> </a:t>
                    </a:r>
                  </a:p>
                </p:txBody>
              </p:sp>
            </mc:Fallback>
          </mc:AlternateContent>
          <p:grpSp>
            <p:nvGrpSpPr>
              <p:cNvPr id="29" name="Group 20"/>
              <p:cNvGrpSpPr>
                <a:grpSpLocks/>
              </p:cNvGrpSpPr>
              <p:nvPr/>
            </p:nvGrpSpPr>
            <p:grpSpPr bwMode="auto">
              <a:xfrm>
                <a:off x="428596" y="2928934"/>
                <a:ext cx="128588" cy="128588"/>
                <a:chOff x="2995" y="1525"/>
                <a:chExt cx="112" cy="112"/>
              </a:xfrm>
            </p:grpSpPr>
            <p:sp>
              <p:nvSpPr>
                <p:cNvPr id="30"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sp>
              <p:nvSpPr>
                <p:cNvPr id="31"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grpSp>
        </p:grpSp>
      </p:grpSp>
      <p:grpSp>
        <p:nvGrpSpPr>
          <p:cNvPr id="47" name="组合 46">
            <a:extLst>
              <a:ext uri="{FF2B5EF4-FFF2-40B4-BE49-F238E27FC236}">
                <a16:creationId xmlns:a16="http://schemas.microsoft.com/office/drawing/2014/main" id="{CE7779EA-5A6D-41BD-87B3-5E79295C97E7}"/>
              </a:ext>
            </a:extLst>
          </p:cNvPr>
          <p:cNvGrpSpPr/>
          <p:nvPr/>
        </p:nvGrpSpPr>
        <p:grpSpPr>
          <a:xfrm>
            <a:off x="683568" y="3720878"/>
            <a:ext cx="8216950" cy="2181382"/>
            <a:chOff x="683568" y="3720878"/>
            <a:chExt cx="8216950" cy="2181382"/>
          </a:xfrm>
        </p:grpSpPr>
        <p:grpSp>
          <p:nvGrpSpPr>
            <p:cNvPr id="32" name="组合 42"/>
            <p:cNvGrpSpPr>
              <a:grpSpLocks/>
            </p:cNvGrpSpPr>
            <p:nvPr/>
          </p:nvGrpSpPr>
          <p:grpSpPr bwMode="auto">
            <a:xfrm>
              <a:off x="683568" y="3720878"/>
              <a:ext cx="5568993" cy="380480"/>
              <a:chOff x="428596" y="2825969"/>
              <a:chExt cx="5566408" cy="381055"/>
            </a:xfrm>
          </p:grpSpPr>
          <mc:AlternateContent xmlns:mc="http://schemas.openxmlformats.org/markup-compatibility/2006" xmlns:a14="http://schemas.microsoft.com/office/drawing/2010/main">
            <mc:Choice Requires="a14">
              <p:sp>
                <p:nvSpPr>
                  <p:cNvPr id="33" name="TextBox 18"/>
                  <p:cNvSpPr txBox="1">
                    <a:spLocks noChangeArrowheads="1"/>
                  </p:cNvSpPr>
                  <p:nvPr/>
                </p:nvSpPr>
                <p:spPr bwMode="auto">
                  <a:xfrm>
                    <a:off x="628471" y="2825969"/>
                    <a:ext cx="5366533" cy="381055"/>
                  </a:xfrm>
                  <a:prstGeom prst="rect">
                    <a:avLst/>
                  </a:prstGeom>
                  <a:noFill/>
                  <a:ln w="9525">
                    <a:noFill/>
                    <a:miter lim="800000"/>
                    <a:headEnd/>
                    <a:tailEnd/>
                  </a:ln>
                </p:spPr>
                <p:txBody>
                  <a:bodyPr wrap="none" lIns="36000" tIns="36000" rIns="36000" bIns="36000">
                    <a:spAutoFit/>
                  </a:bodyPr>
                  <a:lstStyle/>
                  <a:p>
                    <a:pPr algn="l"/>
                    <a:r>
                      <a:rPr lang="zh-CN" altLang="en-US" sz="2000" dirty="0">
                        <a:solidFill>
                          <a:schemeClr val="tx1">
                            <a:lumMod val="50000"/>
                          </a:schemeClr>
                        </a:solidFill>
                      </a:rPr>
                      <a:t>算法运行时间关于输入规模</a:t>
                    </a:r>
                    <a14:m>
                      <m:oMath xmlns:m="http://schemas.openxmlformats.org/officeDocument/2006/math">
                        <m:r>
                          <a:rPr lang="en-US" altLang="zh-CN" sz="2000" b="1" i="1" dirty="0" smtClean="0">
                            <a:solidFill>
                              <a:schemeClr val="tx1">
                                <a:lumMod val="50000"/>
                              </a:schemeClr>
                            </a:solidFill>
                            <a:latin typeface="Cambria Math" charset="0"/>
                          </a:rPr>
                          <m:t>𝒏</m:t>
                        </m:r>
                      </m:oMath>
                    </a14:m>
                    <a:r>
                      <a:rPr lang="zh-CN" altLang="en-US" sz="2000" dirty="0">
                        <a:solidFill>
                          <a:schemeClr val="tx1">
                            <a:lumMod val="50000"/>
                          </a:schemeClr>
                        </a:solidFill>
                      </a:rPr>
                      <a:t>，仍是多项式的。</a:t>
                    </a:r>
                    <a:endParaRPr lang="zh-CN" altLang="zh-CN" sz="2000" dirty="0">
                      <a:solidFill>
                        <a:schemeClr val="tx1">
                          <a:lumMod val="50000"/>
                        </a:schemeClr>
                      </a:solidFill>
                    </a:endParaRPr>
                  </a:p>
                </p:txBody>
              </p:sp>
            </mc:Choice>
            <mc:Fallback xmlns="">
              <p:sp>
                <p:nvSpPr>
                  <p:cNvPr id="33" name="TextBox 18"/>
                  <p:cNvSpPr txBox="1">
                    <a:spLocks noRot="1" noChangeAspect="1" noMove="1" noResize="1" noEditPoints="1" noAdjustHandles="1" noChangeArrowheads="1" noChangeShapeType="1" noTextEdit="1"/>
                  </p:cNvSpPr>
                  <p:nvPr/>
                </p:nvSpPr>
                <p:spPr bwMode="auto">
                  <a:xfrm>
                    <a:off x="628471" y="2825969"/>
                    <a:ext cx="5366533" cy="381055"/>
                  </a:xfrm>
                  <a:prstGeom prst="rect">
                    <a:avLst/>
                  </a:prstGeom>
                  <a:blipFill>
                    <a:blip r:embed="rId6"/>
                    <a:stretch>
                      <a:fillRect l="-2270" t="-11111" r="-1476" b="-30159"/>
                    </a:stretch>
                  </a:blipFill>
                  <a:ln w="9525">
                    <a:noFill/>
                    <a:miter lim="800000"/>
                    <a:headEnd/>
                    <a:tailEnd/>
                  </a:ln>
                </p:spPr>
                <p:txBody>
                  <a:bodyPr/>
                  <a:lstStyle/>
                  <a:p>
                    <a:r>
                      <a:rPr lang="zh-CN" altLang="en-US">
                        <a:noFill/>
                      </a:rPr>
                      <a:t> </a:t>
                    </a:r>
                  </a:p>
                </p:txBody>
              </p:sp>
            </mc:Fallback>
          </mc:AlternateContent>
          <p:grpSp>
            <p:nvGrpSpPr>
              <p:cNvPr id="34" name="Group 20"/>
              <p:cNvGrpSpPr>
                <a:grpSpLocks/>
              </p:cNvGrpSpPr>
              <p:nvPr/>
            </p:nvGrpSpPr>
            <p:grpSpPr bwMode="auto">
              <a:xfrm>
                <a:off x="428596" y="2928934"/>
                <a:ext cx="128588" cy="128588"/>
                <a:chOff x="2995" y="1525"/>
                <a:chExt cx="112" cy="112"/>
              </a:xfrm>
            </p:grpSpPr>
            <p:sp>
              <p:nvSpPr>
                <p:cNvPr id="35" name="AutoShape 21"/>
                <p:cNvSpPr>
                  <a:spLocks noChangeArrowheads="1"/>
                </p:cNvSpPr>
                <p:nvPr/>
              </p:nvSpPr>
              <p:spPr bwMode="gray">
                <a:xfrm>
                  <a:off x="2995" y="1525"/>
                  <a:ext cx="112" cy="112"/>
                </a:xfrm>
                <a:prstGeom prst="roundRect">
                  <a:avLst>
                    <a:gd name="adj" fmla="val 16667"/>
                  </a:avLst>
                </a:prstGeom>
                <a:noFill/>
                <a:ln w="9525">
                  <a:solidFill>
                    <a:schemeClr val="tx2"/>
                  </a:solidFill>
                  <a:round/>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sp>
              <p:nvSpPr>
                <p:cNvPr id="36" name="AutoShape 22"/>
                <p:cNvSpPr>
                  <a:spLocks noChangeArrowheads="1"/>
                </p:cNvSpPr>
                <p:nvPr/>
              </p:nvSpPr>
              <p:spPr bwMode="gray">
                <a:xfrm>
                  <a:off x="3029" y="1540"/>
                  <a:ext cx="60" cy="81"/>
                </a:xfrm>
                <a:prstGeom prst="homePlate">
                  <a:avLst>
                    <a:gd name="adj" fmla="val 100000"/>
                  </a:avLst>
                </a:prstGeom>
                <a:solidFill>
                  <a:schemeClr val="tx2"/>
                </a:solidFill>
                <a:ln w="9525">
                  <a:solidFill>
                    <a:schemeClr val="tx2"/>
                  </a:solidFill>
                  <a:miter lim="800000"/>
                  <a:headEnd/>
                  <a:tailEnd/>
                </a:ln>
              </p:spPr>
              <p:txBody>
                <a:bodyPr wrap="none" anchor="ctr"/>
                <a:lstStyle/>
                <a:p>
                  <a:pPr algn="ctr"/>
                  <a:endParaRPr lang="zh-CN" altLang="en-US" sz="2400">
                    <a:solidFill>
                      <a:schemeClr val="tx1">
                        <a:lumMod val="50000"/>
                      </a:schemeClr>
                    </a:solidFill>
                    <a:latin typeface="Times New Roman" pitchFamily="18" charset="0"/>
                    <a:cs typeface="Times New Roman" pitchFamily="18" charset="0"/>
                  </a:endParaRPr>
                </a:p>
              </p:txBody>
            </p:sp>
          </p:grpSp>
        </p:grpSp>
        <p:grpSp>
          <p:nvGrpSpPr>
            <p:cNvPr id="37" name="组合 62"/>
            <p:cNvGrpSpPr>
              <a:grpSpLocks/>
            </p:cNvGrpSpPr>
            <p:nvPr/>
          </p:nvGrpSpPr>
          <p:grpSpPr bwMode="auto">
            <a:xfrm>
              <a:off x="971605" y="4148379"/>
              <a:ext cx="5524479" cy="890812"/>
              <a:chOff x="3286116" y="1213216"/>
              <a:chExt cx="5523245" cy="891224"/>
            </a:xfrm>
          </p:grpSpPr>
          <mc:AlternateContent xmlns:mc="http://schemas.openxmlformats.org/markup-compatibility/2006" xmlns:a14="http://schemas.microsoft.com/office/drawing/2010/main">
            <mc:Choice Requires="a14">
              <p:sp>
                <p:nvSpPr>
                  <p:cNvPr id="38" name="TextBox 37"/>
                  <p:cNvSpPr txBox="1">
                    <a:spLocks noChangeArrowheads="1"/>
                  </p:cNvSpPr>
                  <p:nvPr/>
                </p:nvSpPr>
                <p:spPr bwMode="auto">
                  <a:xfrm>
                    <a:off x="3857261" y="1213216"/>
                    <a:ext cx="4952100" cy="891224"/>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000" dirty="0">
                        <a:solidFill>
                          <a:schemeClr val="tx1">
                            <a:lumMod val="50000"/>
                          </a:schemeClr>
                        </a:solidFill>
                        <a:latin typeface="Times New Roman" pitchFamily="18" charset="0"/>
                        <a:cs typeface="Times New Roman" pitchFamily="18" charset="0"/>
                      </a:rPr>
                      <a:t>若只保证这一点，称为</a:t>
                    </a:r>
                    <a:r>
                      <a:rPr lang="en-US" altLang="zh-CN" sz="2000" dirty="0">
                        <a:solidFill>
                          <a:schemeClr val="tx1">
                            <a:lumMod val="50000"/>
                          </a:schemeClr>
                        </a:solidFill>
                        <a:latin typeface="Times New Roman" pitchFamily="18" charset="0"/>
                        <a:cs typeface="Times New Roman" pitchFamily="18" charset="0"/>
                      </a:rPr>
                      <a:t>PTAS</a:t>
                    </a:r>
                    <a:r>
                      <a:rPr lang="zh-CN" altLang="en-US" sz="2000" dirty="0">
                        <a:solidFill>
                          <a:schemeClr val="tx1">
                            <a:lumMod val="50000"/>
                          </a:schemeClr>
                        </a:solidFill>
                        <a:latin typeface="Times New Roman" pitchFamily="18" charset="0"/>
                        <a:cs typeface="Times New Roman" pitchFamily="18" charset="0"/>
                      </a:rPr>
                      <a:t>。例如：</a:t>
                    </a:r>
                    <a14:m>
                      <m:oMath xmlns:m="http://schemas.openxmlformats.org/officeDocument/2006/math">
                        <m:r>
                          <a:rPr lang="en-US" altLang="zh-CN" sz="2000" b="1" i="0" smtClean="0">
                            <a:solidFill>
                              <a:schemeClr val="tx1">
                                <a:lumMod val="50000"/>
                              </a:schemeClr>
                            </a:solidFill>
                            <a:latin typeface="Cambria Math" charset="0"/>
                            <a:cs typeface="Times New Roman" pitchFamily="18" charset="0"/>
                          </a:rPr>
                          <m:t>𝐎</m:t>
                        </m:r>
                        <m:d>
                          <m:dPr>
                            <m:ctrlPr>
                              <a:rPr lang="en-US" altLang="zh-CN" sz="2000" b="1" i="1" smtClean="0">
                                <a:solidFill>
                                  <a:schemeClr val="tx1">
                                    <a:lumMod val="50000"/>
                                  </a:schemeClr>
                                </a:solidFill>
                                <a:latin typeface="Cambria Math" panose="02040503050406030204" pitchFamily="18" charset="0"/>
                                <a:cs typeface="Times New Roman" pitchFamily="18" charset="0"/>
                              </a:rPr>
                            </m:ctrlPr>
                          </m:dPr>
                          <m:e>
                            <m:sSup>
                              <m:sSupPr>
                                <m:ctrlPr>
                                  <a:rPr lang="en-US" altLang="zh-CN" sz="2000" b="1" i="1" smtClean="0">
                                    <a:solidFill>
                                      <a:schemeClr val="tx1">
                                        <a:lumMod val="50000"/>
                                      </a:schemeClr>
                                    </a:solidFill>
                                    <a:latin typeface="Cambria Math" panose="02040503050406030204" pitchFamily="18" charset="0"/>
                                    <a:cs typeface="Times New Roman" pitchFamily="18" charset="0"/>
                                  </a:rPr>
                                </m:ctrlPr>
                              </m:sSupPr>
                              <m:e>
                                <m:r>
                                  <a:rPr lang="en-US" altLang="zh-CN" sz="2000" b="1" i="1" smtClean="0">
                                    <a:solidFill>
                                      <a:schemeClr val="tx1">
                                        <a:lumMod val="50000"/>
                                      </a:schemeClr>
                                    </a:solidFill>
                                    <a:latin typeface="Cambria Math" charset="0"/>
                                    <a:cs typeface="Times New Roman" pitchFamily="18" charset="0"/>
                                  </a:rPr>
                                  <m:t>𝒏</m:t>
                                </m:r>
                              </m:e>
                              <m:sup>
                                <m:f>
                                  <m:fPr>
                                    <m:ctrlPr>
                                      <a:rPr lang="en-US" altLang="zh-CN" sz="2000" b="1" i="1" smtClean="0">
                                        <a:solidFill>
                                          <a:schemeClr val="tx1">
                                            <a:lumMod val="50000"/>
                                          </a:schemeClr>
                                        </a:solidFill>
                                        <a:latin typeface="Cambria Math" panose="02040503050406030204" pitchFamily="18" charset="0"/>
                                        <a:cs typeface="Times New Roman" pitchFamily="18" charset="0"/>
                                      </a:rPr>
                                    </m:ctrlPr>
                                  </m:fPr>
                                  <m:num>
                                    <m:r>
                                      <a:rPr lang="en-US" altLang="zh-CN" sz="2000" b="1" i="1" smtClean="0">
                                        <a:solidFill>
                                          <a:schemeClr val="tx1">
                                            <a:lumMod val="50000"/>
                                          </a:schemeClr>
                                        </a:solidFill>
                                        <a:latin typeface="Cambria Math" charset="0"/>
                                        <a:cs typeface="Times New Roman" pitchFamily="18" charset="0"/>
                                      </a:rPr>
                                      <m:t>𝟐</m:t>
                                    </m:r>
                                  </m:num>
                                  <m:den>
                                    <m:r>
                                      <a:rPr lang="en-US" altLang="zh-CN" sz="2000" b="1" i="1" smtClean="0">
                                        <a:solidFill>
                                          <a:schemeClr val="tx1">
                                            <a:lumMod val="50000"/>
                                          </a:schemeClr>
                                        </a:solidFill>
                                        <a:latin typeface="Cambria Math" charset="0"/>
                                        <a:cs typeface="Times New Roman" pitchFamily="18" charset="0"/>
                                      </a:rPr>
                                      <m:t>𝝐</m:t>
                                    </m:r>
                                  </m:den>
                                </m:f>
                              </m:sup>
                            </m:sSup>
                          </m:e>
                        </m:d>
                      </m:oMath>
                    </a14:m>
                    <a:endParaRPr lang="en-US" altLang="zh-CN" sz="2000" dirty="0">
                      <a:solidFill>
                        <a:schemeClr val="tx1">
                          <a:lumMod val="50000"/>
                        </a:schemeClr>
                      </a:solidFill>
                      <a:latin typeface="Times New Roman" pitchFamily="18" charset="0"/>
                      <a:cs typeface="Times New Roman" pitchFamily="18" charset="0"/>
                    </a:endParaRPr>
                  </a:p>
                  <a:p>
                    <a:pPr algn="l">
                      <a:spcBef>
                        <a:spcPts val="600"/>
                      </a:spcBef>
                    </a:pPr>
                    <a:r>
                      <a:rPr lang="en-US" altLang="zh-CN" sz="2000" dirty="0">
                        <a:solidFill>
                          <a:schemeClr val="tx1">
                            <a:lumMod val="50000"/>
                          </a:schemeClr>
                        </a:solidFill>
                        <a:latin typeface="Times New Roman" pitchFamily="18" charset="0"/>
                        <a:cs typeface="Times New Roman" pitchFamily="18" charset="0"/>
                      </a:rPr>
                      <a:t>【Polynomial Time Approximation Scheme】</a:t>
                    </a:r>
                  </a:p>
                </p:txBody>
              </p:sp>
            </mc:Choice>
            <mc:Fallback xmlns="">
              <p:sp>
                <p:nvSpPr>
                  <p:cNvPr id="38" name="TextBox 37"/>
                  <p:cNvSpPr txBox="1">
                    <a:spLocks noRot="1" noChangeAspect="1" noMove="1" noResize="1" noEditPoints="1" noAdjustHandles="1" noChangeArrowheads="1" noChangeShapeType="1" noTextEdit="1"/>
                  </p:cNvSpPr>
                  <p:nvPr/>
                </p:nvSpPr>
                <p:spPr bwMode="auto">
                  <a:xfrm>
                    <a:off x="3857261" y="1213216"/>
                    <a:ext cx="4952100" cy="891224"/>
                  </a:xfrm>
                  <a:prstGeom prst="rect">
                    <a:avLst/>
                  </a:prstGeom>
                  <a:blipFill>
                    <a:blip r:embed="rId7"/>
                    <a:stretch>
                      <a:fillRect l="-2337" b="-13014"/>
                    </a:stretch>
                  </a:blipFill>
                  <a:ln w="9525">
                    <a:noFill/>
                    <a:miter lim="800000"/>
                    <a:headEnd/>
                    <a:tailEnd/>
                  </a:ln>
                </p:spPr>
                <p:txBody>
                  <a:bodyPr/>
                  <a:lstStyle/>
                  <a:p>
                    <a:r>
                      <a:rPr lang="zh-CN" altLang="en-US">
                        <a:noFill/>
                      </a:rPr>
                      <a:t> </a:t>
                    </a:r>
                  </a:p>
                </p:txBody>
              </p:sp>
            </mc:Fallback>
          </mc:AlternateContent>
          <p:pic>
            <p:nvPicPr>
              <p:cNvPr id="39" name="Picture 21" descr="coquette_035"/>
              <p:cNvPicPr>
                <a:picLocks noChangeAspect="1" noChangeArrowheads="1"/>
              </p:cNvPicPr>
              <p:nvPr/>
            </p:nvPicPr>
            <p:blipFill>
              <a:blip r:embed="rId8" cstate="print"/>
              <a:srcRect/>
              <a:stretch>
                <a:fillRect/>
              </a:stretch>
            </p:blipFill>
            <p:spPr bwMode="auto">
              <a:xfrm>
                <a:off x="3286116" y="1357298"/>
                <a:ext cx="566777" cy="324000"/>
              </a:xfrm>
              <a:prstGeom prst="rect">
                <a:avLst/>
              </a:prstGeom>
              <a:noFill/>
              <a:ln w="9525">
                <a:noFill/>
                <a:miter lim="800000"/>
                <a:headEnd/>
                <a:tailEnd/>
              </a:ln>
            </p:spPr>
          </p:pic>
        </p:grpSp>
        <p:grpSp>
          <p:nvGrpSpPr>
            <p:cNvPr id="40" name="组合 62"/>
            <p:cNvGrpSpPr>
              <a:grpSpLocks/>
            </p:cNvGrpSpPr>
            <p:nvPr/>
          </p:nvGrpSpPr>
          <p:grpSpPr bwMode="auto">
            <a:xfrm>
              <a:off x="971600" y="5097433"/>
              <a:ext cx="7928918" cy="804827"/>
              <a:chOff x="3286116" y="1323211"/>
              <a:chExt cx="7927148" cy="805199"/>
            </a:xfrm>
          </p:grpSpPr>
          <mc:AlternateContent xmlns:mc="http://schemas.openxmlformats.org/markup-compatibility/2006" xmlns:a14="http://schemas.microsoft.com/office/drawing/2010/main">
            <mc:Choice Requires="a14">
              <p:sp>
                <p:nvSpPr>
                  <p:cNvPr id="41" name="TextBox 37"/>
                  <p:cNvSpPr txBox="1">
                    <a:spLocks noChangeArrowheads="1"/>
                  </p:cNvSpPr>
                  <p:nvPr/>
                </p:nvSpPr>
                <p:spPr bwMode="auto">
                  <a:xfrm>
                    <a:off x="3857261" y="1323211"/>
                    <a:ext cx="7356003" cy="805199"/>
                  </a:xfrm>
                  <a:prstGeom prst="rect">
                    <a:avLst/>
                  </a:prstGeom>
                  <a:noFill/>
                  <a:ln w="9525">
                    <a:noFill/>
                    <a:miter lim="800000"/>
                    <a:headEnd/>
                    <a:tailEnd/>
                  </a:ln>
                </p:spPr>
                <p:txBody>
                  <a:bodyPr wrap="none" lIns="36000" tIns="36000" rIns="36000" bIns="36000">
                    <a:spAutoFit/>
                  </a:bodyPr>
                  <a:lstStyle/>
                  <a:p>
                    <a:pPr algn="l">
                      <a:spcBef>
                        <a:spcPts val="600"/>
                      </a:spcBef>
                    </a:pPr>
                    <a:r>
                      <a:rPr lang="zh-CN" altLang="en-US" sz="2000" dirty="0">
                        <a:solidFill>
                          <a:schemeClr val="tx1">
                            <a:lumMod val="50000"/>
                          </a:schemeClr>
                        </a:solidFill>
                        <a:latin typeface="Times New Roman" pitchFamily="18" charset="0"/>
                        <a:cs typeface="Times New Roman" pitchFamily="18" charset="0"/>
                      </a:rPr>
                      <a:t>若也能保证关于</a:t>
                    </a:r>
                    <a14:m>
                      <m:oMath xmlns:m="http://schemas.openxmlformats.org/officeDocument/2006/math">
                        <m:r>
                          <a:rPr lang="en-US" altLang="zh-CN" sz="2000" i="1">
                            <a:solidFill>
                              <a:schemeClr val="tx1">
                                <a:lumMod val="50000"/>
                              </a:schemeClr>
                            </a:solidFill>
                            <a:latin typeface="Cambria Math" charset="0"/>
                          </a:rPr>
                          <m:t>𝟏</m:t>
                        </m:r>
                        <m:r>
                          <a:rPr lang="en-US" altLang="zh-CN" sz="2000" i="1">
                            <a:solidFill>
                              <a:schemeClr val="tx1">
                                <a:lumMod val="50000"/>
                              </a:schemeClr>
                            </a:solidFill>
                            <a:latin typeface="Cambria Math" charset="0"/>
                          </a:rPr>
                          <m:t>/</m:t>
                        </m:r>
                        <m:r>
                          <a:rPr lang="en-US" altLang="zh-CN" sz="2000" i="1">
                            <a:solidFill>
                              <a:schemeClr val="tx1">
                                <a:lumMod val="50000"/>
                              </a:schemeClr>
                            </a:solidFill>
                            <a:latin typeface="Cambria Math" charset="0"/>
                          </a:rPr>
                          <m:t>𝝐</m:t>
                        </m:r>
                      </m:oMath>
                    </a14:m>
                    <a:r>
                      <a:rPr lang="zh-CN" altLang="en-US" sz="2000" dirty="0">
                        <a:solidFill>
                          <a:schemeClr val="tx1">
                            <a:lumMod val="50000"/>
                          </a:schemeClr>
                        </a:solidFill>
                        <a:latin typeface="Times New Roman" pitchFamily="18" charset="0"/>
                        <a:cs typeface="Times New Roman" pitchFamily="18" charset="0"/>
                      </a:rPr>
                      <a:t>也是多项式的，称为</a:t>
                    </a:r>
                    <a:r>
                      <a:rPr lang="en-US" altLang="zh-CN" sz="2000" dirty="0">
                        <a:solidFill>
                          <a:schemeClr val="tx1">
                            <a:lumMod val="50000"/>
                          </a:schemeClr>
                        </a:solidFill>
                        <a:latin typeface="Times New Roman" pitchFamily="18" charset="0"/>
                        <a:cs typeface="Times New Roman" pitchFamily="18" charset="0"/>
                      </a:rPr>
                      <a:t>FPTAS</a:t>
                    </a:r>
                    <a:r>
                      <a:rPr lang="zh-CN" altLang="en-US" sz="2000" dirty="0">
                        <a:solidFill>
                          <a:schemeClr val="tx1">
                            <a:lumMod val="50000"/>
                          </a:schemeClr>
                        </a:solidFill>
                        <a:latin typeface="Times New Roman" pitchFamily="18" charset="0"/>
                        <a:cs typeface="Times New Roman" pitchFamily="18" charset="0"/>
                      </a:rPr>
                      <a:t>。例如：</a:t>
                    </a:r>
                    <a14:m>
                      <m:oMath xmlns:m="http://schemas.openxmlformats.org/officeDocument/2006/math">
                        <m:r>
                          <a:rPr lang="en-US" altLang="zh-CN" sz="2000" b="1" i="0" smtClean="0">
                            <a:solidFill>
                              <a:schemeClr val="tx1">
                                <a:lumMod val="50000"/>
                              </a:schemeClr>
                            </a:solidFill>
                            <a:latin typeface="Cambria Math" charset="0"/>
                            <a:cs typeface="Times New Roman" pitchFamily="18" charset="0"/>
                          </a:rPr>
                          <m:t>𝐎</m:t>
                        </m:r>
                        <m:d>
                          <m:dPr>
                            <m:ctrlPr>
                              <a:rPr lang="en-US" altLang="zh-CN" sz="2000" b="1" i="1" smtClean="0">
                                <a:solidFill>
                                  <a:schemeClr val="tx1">
                                    <a:lumMod val="50000"/>
                                  </a:schemeClr>
                                </a:solidFill>
                                <a:latin typeface="Cambria Math" panose="02040503050406030204" pitchFamily="18" charset="0"/>
                                <a:cs typeface="Times New Roman" pitchFamily="18" charset="0"/>
                              </a:rPr>
                            </m:ctrlPr>
                          </m:dPr>
                          <m:e>
                            <m:r>
                              <a:rPr lang="en-US" altLang="zh-CN" sz="2000" b="1" i="1" smtClean="0">
                                <a:solidFill>
                                  <a:schemeClr val="tx1">
                                    <a:lumMod val="50000"/>
                                  </a:schemeClr>
                                </a:solidFill>
                                <a:latin typeface="Cambria Math" charset="0"/>
                                <a:cs typeface="Times New Roman" pitchFamily="18" charset="0"/>
                              </a:rPr>
                              <m:t>𝒏</m:t>
                            </m:r>
                            <m:r>
                              <a:rPr lang="en-US" altLang="zh-CN" sz="2000" b="1" i="1" smtClean="0">
                                <a:solidFill>
                                  <a:schemeClr val="tx1">
                                    <a:lumMod val="50000"/>
                                  </a:schemeClr>
                                </a:solidFill>
                                <a:latin typeface="Cambria Math" charset="0"/>
                                <a:cs typeface="Times New Roman" pitchFamily="18" charset="0"/>
                              </a:rPr>
                              <m:t>/</m:t>
                            </m:r>
                            <m:sSup>
                              <m:sSupPr>
                                <m:ctrlPr>
                                  <a:rPr lang="en-US" altLang="zh-CN" sz="2000" b="1" i="1" smtClean="0">
                                    <a:solidFill>
                                      <a:schemeClr val="tx1">
                                        <a:lumMod val="50000"/>
                                      </a:schemeClr>
                                    </a:solidFill>
                                    <a:latin typeface="Cambria Math" panose="02040503050406030204" pitchFamily="18" charset="0"/>
                                    <a:cs typeface="Times New Roman" pitchFamily="18" charset="0"/>
                                  </a:rPr>
                                </m:ctrlPr>
                              </m:sSupPr>
                              <m:e>
                                <m:r>
                                  <a:rPr lang="en-US" altLang="zh-CN" sz="2000" b="1" i="1" smtClean="0">
                                    <a:solidFill>
                                      <a:schemeClr val="tx1">
                                        <a:lumMod val="50000"/>
                                      </a:schemeClr>
                                    </a:solidFill>
                                    <a:latin typeface="Cambria Math" charset="0"/>
                                    <a:cs typeface="Times New Roman" pitchFamily="18" charset="0"/>
                                  </a:rPr>
                                  <m:t>𝝐</m:t>
                                </m:r>
                              </m:e>
                              <m:sup>
                                <m:r>
                                  <a:rPr lang="en-US" altLang="zh-CN" sz="2000" b="1" i="1" smtClean="0">
                                    <a:solidFill>
                                      <a:schemeClr val="tx1">
                                        <a:lumMod val="50000"/>
                                      </a:schemeClr>
                                    </a:solidFill>
                                    <a:latin typeface="Cambria Math" charset="0"/>
                                    <a:cs typeface="Times New Roman" pitchFamily="18" charset="0"/>
                                  </a:rPr>
                                  <m:t>𝟐</m:t>
                                </m:r>
                              </m:sup>
                            </m:sSup>
                          </m:e>
                        </m:d>
                      </m:oMath>
                    </a14:m>
                    <a:endParaRPr lang="en-US" altLang="zh-CN" sz="2000" dirty="0">
                      <a:solidFill>
                        <a:schemeClr val="tx1">
                          <a:lumMod val="50000"/>
                        </a:schemeClr>
                      </a:solidFill>
                      <a:latin typeface="Times New Roman" pitchFamily="18" charset="0"/>
                      <a:cs typeface="Times New Roman" pitchFamily="18" charset="0"/>
                    </a:endParaRPr>
                  </a:p>
                  <a:p>
                    <a:pPr algn="l">
                      <a:spcBef>
                        <a:spcPts val="600"/>
                      </a:spcBef>
                    </a:pPr>
                    <a:r>
                      <a:rPr lang="en-US" altLang="zh-CN" sz="2000" dirty="0">
                        <a:solidFill>
                          <a:schemeClr val="tx1">
                            <a:lumMod val="50000"/>
                          </a:schemeClr>
                        </a:solidFill>
                        <a:latin typeface="Times New Roman" pitchFamily="18" charset="0"/>
                        <a:cs typeface="Times New Roman" pitchFamily="18" charset="0"/>
                      </a:rPr>
                      <a:t>【Fully Polynomial Time Approximation Scheme】</a:t>
                    </a:r>
                  </a:p>
                </p:txBody>
              </p:sp>
            </mc:Choice>
            <mc:Fallback xmlns="">
              <p:sp>
                <p:nvSpPr>
                  <p:cNvPr id="41" name="TextBox 37"/>
                  <p:cNvSpPr txBox="1">
                    <a:spLocks noRot="1" noChangeAspect="1" noMove="1" noResize="1" noEditPoints="1" noAdjustHandles="1" noChangeArrowheads="1" noChangeShapeType="1" noTextEdit="1"/>
                  </p:cNvSpPr>
                  <p:nvPr/>
                </p:nvSpPr>
                <p:spPr bwMode="auto">
                  <a:xfrm>
                    <a:off x="3857261" y="1323211"/>
                    <a:ext cx="7356003" cy="805199"/>
                  </a:xfrm>
                  <a:prstGeom prst="rect">
                    <a:avLst/>
                  </a:prstGeom>
                  <a:blipFill>
                    <a:blip r:embed="rId9"/>
                    <a:stretch>
                      <a:fillRect l="-1574" t="-5303" b="-15152"/>
                    </a:stretch>
                  </a:blipFill>
                  <a:ln w="9525">
                    <a:noFill/>
                    <a:miter lim="800000"/>
                    <a:headEnd/>
                    <a:tailEnd/>
                  </a:ln>
                </p:spPr>
                <p:txBody>
                  <a:bodyPr/>
                  <a:lstStyle/>
                  <a:p>
                    <a:r>
                      <a:rPr lang="zh-CN" altLang="en-US">
                        <a:noFill/>
                      </a:rPr>
                      <a:t> </a:t>
                    </a:r>
                  </a:p>
                </p:txBody>
              </p:sp>
            </mc:Fallback>
          </mc:AlternateContent>
          <p:pic>
            <p:nvPicPr>
              <p:cNvPr id="42" name="Picture 21" descr="coquette_035"/>
              <p:cNvPicPr>
                <a:picLocks noChangeAspect="1" noChangeArrowheads="1"/>
              </p:cNvPicPr>
              <p:nvPr/>
            </p:nvPicPr>
            <p:blipFill>
              <a:blip r:embed="rId8" cstate="print"/>
              <a:srcRect/>
              <a:stretch>
                <a:fillRect/>
              </a:stretch>
            </p:blipFill>
            <p:spPr bwMode="auto">
              <a:xfrm>
                <a:off x="3286116" y="1357298"/>
                <a:ext cx="566777" cy="324000"/>
              </a:xfrm>
              <a:prstGeom prst="rect">
                <a:avLst/>
              </a:prstGeom>
              <a:noFill/>
              <a:ln w="9525">
                <a:noFill/>
                <a:miter lim="800000"/>
                <a:headEnd/>
                <a:tailEnd/>
              </a:ln>
            </p:spPr>
          </p:pic>
        </p:grpSp>
      </p:grpSp>
    </p:spTree>
    <p:extLst>
      <p:ext uri="{BB962C8B-B14F-4D97-AF65-F5344CB8AC3E}">
        <p14:creationId xmlns:p14="http://schemas.microsoft.com/office/powerpoint/2010/main" val="37515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down)">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wipe(down)">
                                      <p:cBhvr>
                                        <p:cTn id="1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2B93DE-8E71-45AB-9723-75D70B2BBEF3}"/>
              </a:ext>
            </a:extLst>
          </p:cNvPr>
          <p:cNvSpPr>
            <a:spLocks noGrp="1"/>
          </p:cNvSpPr>
          <p:nvPr>
            <p:ph type="title"/>
          </p:nvPr>
        </p:nvSpPr>
        <p:spPr/>
        <p:txBody>
          <a:bodyPr/>
          <a:lstStyle/>
          <a:p>
            <a:r>
              <a:rPr lang="en-US" altLang="zh-CN" dirty="0"/>
              <a:t>FPTAS</a:t>
            </a:r>
            <a:endParaRPr lang="zh-CN" altLang="en-US" dirty="0"/>
          </a:p>
        </p:txBody>
      </p:sp>
      <p:pic>
        <p:nvPicPr>
          <p:cNvPr id="7" name="图片 6">
            <a:extLst>
              <a:ext uri="{FF2B5EF4-FFF2-40B4-BE49-F238E27FC236}">
                <a16:creationId xmlns:a16="http://schemas.microsoft.com/office/drawing/2014/main" id="{B7D4AF70-AE7F-4B10-B818-F4B903ACA4D6}"/>
              </a:ext>
            </a:extLst>
          </p:cNvPr>
          <p:cNvPicPr>
            <a:picLocks noChangeAspect="1"/>
          </p:cNvPicPr>
          <p:nvPr/>
        </p:nvPicPr>
        <p:blipFill>
          <a:blip r:embed="rId2"/>
          <a:stretch>
            <a:fillRect/>
          </a:stretch>
        </p:blipFill>
        <p:spPr>
          <a:xfrm>
            <a:off x="325161" y="1025187"/>
            <a:ext cx="5066358" cy="5355314"/>
          </a:xfrm>
          <a:prstGeom prst="rect">
            <a:avLst/>
          </a:prstGeom>
        </p:spPr>
      </p:pic>
      <p:pic>
        <p:nvPicPr>
          <p:cNvPr id="9" name="图片 8">
            <a:extLst>
              <a:ext uri="{FF2B5EF4-FFF2-40B4-BE49-F238E27FC236}">
                <a16:creationId xmlns:a16="http://schemas.microsoft.com/office/drawing/2014/main" id="{2233714C-A4C7-41F5-95AA-DC14C1747925}"/>
              </a:ext>
            </a:extLst>
          </p:cNvPr>
          <p:cNvPicPr>
            <a:picLocks noChangeAspect="1"/>
          </p:cNvPicPr>
          <p:nvPr/>
        </p:nvPicPr>
        <p:blipFill>
          <a:blip r:embed="rId3"/>
          <a:stretch>
            <a:fillRect/>
          </a:stretch>
        </p:blipFill>
        <p:spPr>
          <a:xfrm>
            <a:off x="4445439" y="961594"/>
            <a:ext cx="4373400" cy="1873689"/>
          </a:xfrm>
          <a:prstGeom prst="rect">
            <a:avLst/>
          </a:prstGeom>
        </p:spPr>
      </p:pic>
    </p:spTree>
    <p:extLst>
      <p:ext uri="{BB962C8B-B14F-4D97-AF65-F5344CB8AC3E}">
        <p14:creationId xmlns:p14="http://schemas.microsoft.com/office/powerpoint/2010/main" val="251840233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32TGp_report_light_v2">
  <a:themeElements>
    <a:clrScheme name="232TGp_report_light_v2 1">
      <a:dk1>
        <a:srgbClr val="003366"/>
      </a:dk1>
      <a:lt1>
        <a:srgbClr val="FFFFFF"/>
      </a:lt1>
      <a:dk2>
        <a:srgbClr val="51A0B9"/>
      </a:dk2>
      <a:lt2>
        <a:srgbClr val="DDDDDD"/>
      </a:lt2>
      <a:accent1>
        <a:srgbClr val="516DBD"/>
      </a:accent1>
      <a:accent2>
        <a:srgbClr val="77AE26"/>
      </a:accent2>
      <a:accent3>
        <a:srgbClr val="FFFFFF"/>
      </a:accent3>
      <a:accent4>
        <a:srgbClr val="002A56"/>
      </a:accent4>
      <a:accent5>
        <a:srgbClr val="B3BADB"/>
      </a:accent5>
      <a:accent6>
        <a:srgbClr val="6B9D21"/>
      </a:accent6>
      <a:hlink>
        <a:srgbClr val="4D798F"/>
      </a:hlink>
      <a:folHlink>
        <a:srgbClr val="6A93BC"/>
      </a:folHlink>
    </a:clrScheme>
    <a:fontScheme name="232TGp_report_light_v2">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00"/>
        </a:solidFill>
        <a:ln w="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2400" b="1" i="0" u="none" strike="noStrike" cap="none" normalizeH="0" baseline="0" smtClean="0">
            <a:ln>
              <a:noFill/>
            </a:ln>
            <a:solidFill>
              <a:srgbClr val="292929"/>
            </a:solidFill>
            <a:effectLst/>
            <a:latin typeface="Arial" charset="0"/>
            <a:ea typeface="宋体" charset="-122"/>
          </a:defRPr>
        </a:defPPr>
      </a:lstStyle>
    </a:spDef>
    <a:lnDef>
      <a:spPr bwMode="auto">
        <a:gradFill rotWithShape="1">
          <a:gsLst>
            <a:gs pos="0">
              <a:schemeClr val="hlink"/>
            </a:gs>
            <a:gs pos="100000">
              <a:schemeClr val="hlink">
                <a:gamma/>
                <a:tint val="31765"/>
                <a:invGamma/>
              </a:schemeClr>
            </a:gs>
          </a:gsLst>
          <a:lin ang="0" scaled="1"/>
        </a:gradFill>
        <a:ln w="31750" cap="flat" cmpd="sng" algn="ctr">
          <a:solidFill>
            <a:srgbClr val="333399"/>
          </a:solidFill>
          <a:prstDash val="solid"/>
          <a:round/>
          <a:headEnd type="none" w="med" len="med"/>
          <a:tailEnd type="stealth"/>
        </a:ln>
        <a:effectLst/>
      </a:spPr>
      <a:bodyPr/>
      <a:lstStyle/>
    </a:lnDef>
    <a:txDef>
      <a:spPr>
        <a:noFill/>
        <a:ln w="12700">
          <a:noFill/>
        </a:ln>
      </a:spPr>
      <a:bodyPr wrap="none" rtlCol="0">
        <a:spAutoFit/>
      </a:bodyPr>
      <a:lstStyle>
        <a:defPPr>
          <a:defRPr kumimoji="1" sz="1800" b="1" i="1" smtClean="0">
            <a:latin typeface="Cambria Math" charset="0"/>
          </a:defRPr>
        </a:defPPr>
      </a:lstStyle>
    </a:txDef>
  </a:objectDefaults>
  <a:extraClrSchemeLst>
    <a:extraClrScheme>
      <a:clrScheme name="232TGp_report_light_v2 1">
        <a:dk1>
          <a:srgbClr val="003366"/>
        </a:dk1>
        <a:lt1>
          <a:srgbClr val="FFFFFF"/>
        </a:lt1>
        <a:dk2>
          <a:srgbClr val="51A0B9"/>
        </a:dk2>
        <a:lt2>
          <a:srgbClr val="DDDDDD"/>
        </a:lt2>
        <a:accent1>
          <a:srgbClr val="516DBD"/>
        </a:accent1>
        <a:accent2>
          <a:srgbClr val="77AE26"/>
        </a:accent2>
        <a:accent3>
          <a:srgbClr val="FFFFFF"/>
        </a:accent3>
        <a:accent4>
          <a:srgbClr val="002A56"/>
        </a:accent4>
        <a:accent5>
          <a:srgbClr val="B3BADB"/>
        </a:accent5>
        <a:accent6>
          <a:srgbClr val="6B9D21"/>
        </a:accent6>
        <a:hlink>
          <a:srgbClr val="4D798F"/>
        </a:hlink>
        <a:folHlink>
          <a:srgbClr val="6A93BC"/>
        </a:folHlink>
      </a:clrScheme>
      <a:clrMap bg1="lt1" tx1="dk1" bg2="lt2" tx2="dk2" accent1="accent1" accent2="accent2" accent3="accent3" accent4="accent4" accent5="accent5" accent6="accent6" hlink="hlink" folHlink="folHlink"/>
    </a:extraClrScheme>
    <a:extraClrScheme>
      <a:clrScheme name="232TGp_report_light_v2 2">
        <a:dk1>
          <a:srgbClr val="30311D"/>
        </a:dk1>
        <a:lt1>
          <a:srgbClr val="FFFFFF"/>
        </a:lt1>
        <a:dk2>
          <a:srgbClr val="866D10"/>
        </a:dk2>
        <a:lt2>
          <a:srgbClr val="DDDDDD"/>
        </a:lt2>
        <a:accent1>
          <a:srgbClr val="345C22"/>
        </a:accent1>
        <a:accent2>
          <a:srgbClr val="93B75F"/>
        </a:accent2>
        <a:accent3>
          <a:srgbClr val="FFFFFF"/>
        </a:accent3>
        <a:accent4>
          <a:srgbClr val="272817"/>
        </a:accent4>
        <a:accent5>
          <a:srgbClr val="AEB5AB"/>
        </a:accent5>
        <a:accent6>
          <a:srgbClr val="85A655"/>
        </a:accent6>
        <a:hlink>
          <a:srgbClr val="557B97"/>
        </a:hlink>
        <a:folHlink>
          <a:srgbClr val="B5A077"/>
        </a:folHlink>
      </a:clrScheme>
      <a:clrMap bg1="lt1" tx1="dk1" bg2="lt2" tx2="dk2" accent1="accent1" accent2="accent2" accent3="accent3" accent4="accent4" accent5="accent5" accent6="accent6" hlink="hlink" folHlink="folHlink"/>
    </a:extraClrScheme>
    <a:extraClrScheme>
      <a:clrScheme name="232TGp_report_light_v2 3">
        <a:dk1>
          <a:srgbClr val="000066"/>
        </a:dk1>
        <a:lt1>
          <a:srgbClr val="FFFFFF"/>
        </a:lt1>
        <a:dk2>
          <a:srgbClr val="0D5597"/>
        </a:dk2>
        <a:lt2>
          <a:srgbClr val="DDDDDD"/>
        </a:lt2>
        <a:accent1>
          <a:srgbClr val="428E71"/>
        </a:accent1>
        <a:accent2>
          <a:srgbClr val="3F90BD"/>
        </a:accent2>
        <a:accent3>
          <a:srgbClr val="FFFFFF"/>
        </a:accent3>
        <a:accent4>
          <a:srgbClr val="000056"/>
        </a:accent4>
        <a:accent5>
          <a:srgbClr val="B0C6BB"/>
        </a:accent5>
        <a:accent6>
          <a:srgbClr val="3882AB"/>
        </a:accent6>
        <a:hlink>
          <a:srgbClr val="99A75F"/>
        </a:hlink>
        <a:folHlink>
          <a:srgbClr val="A1B28A"/>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549</TotalTime>
  <Words>1920</Words>
  <Application>Microsoft Office PowerPoint</Application>
  <PresentationFormat>全屏显示(4:3)</PresentationFormat>
  <Paragraphs>166</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-apple-system</vt:lpstr>
      <vt:lpstr>等线</vt:lpstr>
      <vt:lpstr>等线 Light</vt:lpstr>
      <vt:lpstr>Arial</vt:lpstr>
      <vt:lpstr>Arial</vt:lpstr>
      <vt:lpstr>Cambria Math</vt:lpstr>
      <vt:lpstr>Times New Roman</vt:lpstr>
      <vt:lpstr>Verdana</vt:lpstr>
      <vt:lpstr>Wingdings</vt:lpstr>
      <vt:lpstr>Office 主题​​</vt:lpstr>
      <vt:lpstr>232TGp_report_light_v2</vt:lpstr>
      <vt:lpstr>        NP问题</vt:lpstr>
      <vt:lpstr>可计算性问题</vt:lpstr>
      <vt:lpstr>PowerPoint 演示文稿</vt:lpstr>
      <vt:lpstr>PowerPoint 演示文稿</vt:lpstr>
      <vt:lpstr>PowerPoint 演示文稿</vt:lpstr>
      <vt:lpstr>PowerPoint 演示文稿</vt:lpstr>
      <vt:lpstr>PowerPoint 演示文稿</vt:lpstr>
      <vt:lpstr>PowerPoint 演示文稿</vt:lpstr>
      <vt:lpstr>提问：在实际研究中，如何说明我的问题足够难？换而言之，如何证明我的问题是NP-hard的？</vt:lpstr>
      <vt:lpstr>归约的含义</vt:lpstr>
      <vt:lpstr>归约的证明</vt:lpstr>
      <vt:lpstr>归约意味着什么？</vt:lpstr>
      <vt:lpstr>实际论文中的例子</vt:lpstr>
      <vt:lpstr>背包问题(Knapsack)</vt:lpstr>
      <vt:lpstr>实际论文中的例子</vt:lpstr>
      <vt:lpstr>怎么办？</vt:lpstr>
      <vt:lpstr>启发式算法</vt:lpstr>
      <vt:lpstr>近似算法：描述</vt:lpstr>
      <vt:lpstr>近似比</vt:lpstr>
      <vt:lpstr>如何求近似比？</vt:lpstr>
      <vt:lpstr>证明</vt:lpstr>
      <vt:lpstr>回到论文</vt:lpstr>
      <vt:lpstr>近似方案</vt:lpstr>
      <vt:lpstr>FPTAS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归约的含义</dc:title>
  <dc:creator>王 宇辉</dc:creator>
  <cp:lastModifiedBy>王 宇辉</cp:lastModifiedBy>
  <cp:revision>43</cp:revision>
  <dcterms:created xsi:type="dcterms:W3CDTF">2021-07-07T05:30:41Z</dcterms:created>
  <dcterms:modified xsi:type="dcterms:W3CDTF">2021-07-20T07:57:31Z</dcterms:modified>
</cp:coreProperties>
</file>